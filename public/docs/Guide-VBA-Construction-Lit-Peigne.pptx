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211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720000"/>
            <a:ext cx="10800000" cy="720000"/>
          </a:xfrm>
          <a:prstGeom prst="rect">
            <a:avLst/>
          </a:prstGeom>
          <a:noFill/>
        </p:spPr>
        <p:txBody>
          <a:bodyPr wrap="square">
            <a:spAutoFit/>
          </a:bodyPr>
          <a:lstStyle/>
          <a:p>
            <a:pPr algn="ctr">
              <a:defRPr sz="4000" b="1">
                <a:solidFill>
                  <a:srgbClr val="2B5EA7"/>
                </a:solidFill>
                <a:latin typeface="Inter"/>
              </a:defRPr>
            </a:pPr>
            <a:r>
              <a:t>VANZON</a:t>
            </a:r>
          </a:p>
        </p:txBody>
      </p:sp>
      <p:sp>
        <p:nvSpPr>
          <p:cNvPr id="3" name="TextBox 2"/>
          <p:cNvSpPr txBox="1"/>
          <p:nvPr/>
        </p:nvSpPr>
        <p:spPr>
          <a:xfrm>
            <a:off x="540000" y="1620000"/>
            <a:ext cx="10800000" cy="360000"/>
          </a:xfrm>
          <a:prstGeom prst="rect">
            <a:avLst/>
          </a:prstGeom>
          <a:noFill/>
        </p:spPr>
        <p:txBody>
          <a:bodyPr wrap="square">
            <a:spAutoFit/>
          </a:bodyPr>
          <a:lstStyle/>
          <a:p>
            <a:pPr algn="ctr">
              <a:defRPr sz="1200" b="0">
                <a:solidFill>
                  <a:srgbClr val="666666"/>
                </a:solidFill>
                <a:latin typeface="Inter"/>
              </a:defRPr>
            </a:pPr>
            <a:r>
              <a:t>E X P L O R E R</a:t>
            </a:r>
          </a:p>
        </p:txBody>
      </p:sp>
      <p:sp>
        <p:nvSpPr>
          <p:cNvPr id="4" name="Rectangle 3"/>
          <p:cNvSpPr/>
          <p:nvPr/>
        </p:nvSpPr>
        <p:spPr>
          <a:xfrm>
            <a:off x="4320000" y="2340000"/>
            <a:ext cx="3600000" cy="19050"/>
          </a:xfrm>
          <a:prstGeom prst="rect">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0000" y="2880000"/>
            <a:ext cx="10800000" cy="720000"/>
          </a:xfrm>
          <a:prstGeom prst="rect">
            <a:avLst/>
          </a:prstGeom>
          <a:noFill/>
        </p:spPr>
        <p:txBody>
          <a:bodyPr wrap="square">
            <a:spAutoFit/>
          </a:bodyPr>
          <a:lstStyle/>
          <a:p>
            <a:pPr algn="ctr">
              <a:defRPr sz="2800" b="1">
                <a:solidFill>
                  <a:srgbClr val="333333"/>
                </a:solidFill>
                <a:latin typeface="Inter"/>
              </a:defRPr>
            </a:pPr>
            <a:r>
              <a:t>Guide de montage</a:t>
            </a:r>
          </a:p>
        </p:txBody>
      </p:sp>
      <p:sp>
        <p:nvSpPr>
          <p:cNvPr id="6" name="TextBox 5"/>
          <p:cNvSpPr txBox="1"/>
          <p:nvPr/>
        </p:nvSpPr>
        <p:spPr>
          <a:xfrm>
            <a:off x="540000" y="3780000"/>
            <a:ext cx="10800000" cy="540000"/>
          </a:xfrm>
          <a:prstGeom prst="rect">
            <a:avLst/>
          </a:prstGeom>
          <a:noFill/>
        </p:spPr>
        <p:txBody>
          <a:bodyPr wrap="square">
            <a:spAutoFit/>
          </a:bodyPr>
          <a:lstStyle/>
          <a:p>
            <a:pPr algn="ctr">
              <a:defRPr sz="1800" b="0">
                <a:solidFill>
                  <a:srgbClr val="666666"/>
                </a:solidFill>
                <a:latin typeface="Inter"/>
              </a:defRPr>
            </a:pPr>
            <a:r>
              <a:t>Bloc Lit Peigne</a:t>
            </a:r>
          </a:p>
        </p:txBody>
      </p:sp>
      <p:sp>
        <p:nvSpPr>
          <p:cNvPr id="7" name="TextBox 6"/>
          <p:cNvSpPr txBox="1"/>
          <p:nvPr/>
        </p:nvSpPr>
        <p:spPr>
          <a:xfrm>
            <a:off x="1440000" y="4680000"/>
            <a:ext cx="1800000" cy="540000"/>
          </a:xfrm>
          <a:prstGeom prst="rect">
            <a:avLst/>
          </a:prstGeom>
          <a:noFill/>
        </p:spPr>
        <p:txBody>
          <a:bodyPr wrap="square">
            <a:spAutoFit/>
          </a:bodyPr>
          <a:lstStyle/>
          <a:p>
            <a:pPr algn="ctr">
              <a:defRPr sz="2400" b="0">
                <a:solidFill>
                  <a:srgbClr val="333333"/>
                </a:solidFill>
                <a:latin typeface="Inter"/>
              </a:defRPr>
            </a:pPr>
            <a:r>
              <a:t>📦</a:t>
            </a:r>
          </a:p>
        </p:txBody>
      </p:sp>
      <p:sp>
        <p:nvSpPr>
          <p:cNvPr id="8" name="TextBox 7"/>
          <p:cNvSpPr txBox="1"/>
          <p:nvPr/>
        </p:nvSpPr>
        <p:spPr>
          <a:xfrm>
            <a:off x="1440000" y="5328000"/>
            <a:ext cx="1800000" cy="360000"/>
          </a:xfrm>
          <a:prstGeom prst="rect">
            <a:avLst/>
          </a:prstGeom>
          <a:noFill/>
        </p:spPr>
        <p:txBody>
          <a:bodyPr wrap="square">
            <a:spAutoFit/>
          </a:bodyPr>
          <a:lstStyle/>
          <a:p>
            <a:pPr algn="ctr">
              <a:defRPr sz="900" b="0">
                <a:solidFill>
                  <a:srgbClr val="666666"/>
                </a:solidFill>
                <a:latin typeface="Inter"/>
              </a:defRPr>
            </a:pPr>
            <a:r>
              <a:t>5 blocs</a:t>
            </a:r>
          </a:p>
        </p:txBody>
      </p:sp>
      <p:sp>
        <p:nvSpPr>
          <p:cNvPr id="9" name="TextBox 8"/>
          <p:cNvSpPr txBox="1"/>
          <p:nvPr/>
        </p:nvSpPr>
        <p:spPr>
          <a:xfrm>
            <a:off x="3960000" y="4680000"/>
            <a:ext cx="1800000" cy="540000"/>
          </a:xfrm>
          <a:prstGeom prst="rect">
            <a:avLst/>
          </a:prstGeom>
          <a:noFill/>
        </p:spPr>
        <p:txBody>
          <a:bodyPr wrap="square">
            <a:spAutoFit/>
          </a:bodyPr>
          <a:lstStyle/>
          <a:p>
            <a:pPr algn="ctr">
              <a:defRPr sz="2400" b="0">
                <a:solidFill>
                  <a:srgbClr val="333333"/>
                </a:solidFill>
                <a:latin typeface="Inter"/>
              </a:defRPr>
            </a:pPr>
            <a:r>
              <a:t>📐</a:t>
            </a:r>
          </a:p>
        </p:txBody>
      </p:sp>
      <p:sp>
        <p:nvSpPr>
          <p:cNvPr id="10" name="TextBox 9"/>
          <p:cNvSpPr txBox="1"/>
          <p:nvPr/>
        </p:nvSpPr>
        <p:spPr>
          <a:xfrm>
            <a:off x="3960000" y="5328000"/>
            <a:ext cx="1800000" cy="360000"/>
          </a:xfrm>
          <a:prstGeom prst="rect">
            <a:avLst/>
          </a:prstGeom>
          <a:noFill/>
        </p:spPr>
        <p:txBody>
          <a:bodyPr wrap="square">
            <a:spAutoFit/>
          </a:bodyPr>
          <a:lstStyle/>
          <a:p>
            <a:pPr algn="ctr">
              <a:defRPr sz="900" b="0">
                <a:solidFill>
                  <a:srgbClr val="666666"/>
                </a:solidFill>
                <a:latin typeface="Inter"/>
              </a:defRPr>
            </a:pPr>
            <a:r>
              <a:t>~30 planches</a:t>
            </a:r>
          </a:p>
        </p:txBody>
      </p:sp>
      <p:sp>
        <p:nvSpPr>
          <p:cNvPr id="11" name="TextBox 10"/>
          <p:cNvSpPr txBox="1"/>
          <p:nvPr/>
        </p:nvSpPr>
        <p:spPr>
          <a:xfrm>
            <a:off x="6480000" y="4680000"/>
            <a:ext cx="1800000" cy="540000"/>
          </a:xfrm>
          <a:prstGeom prst="rect">
            <a:avLst/>
          </a:prstGeom>
          <a:noFill/>
        </p:spPr>
        <p:txBody>
          <a:bodyPr wrap="square">
            <a:spAutoFit/>
          </a:bodyPr>
          <a:lstStyle/>
          <a:p>
            <a:pPr algn="ctr">
              <a:defRPr sz="2400" b="0">
                <a:solidFill>
                  <a:srgbClr val="333333"/>
                </a:solidFill>
                <a:latin typeface="Inter"/>
              </a:defRPr>
            </a:pPr>
            <a:r>
              <a:t>🔩</a:t>
            </a:r>
          </a:p>
        </p:txBody>
      </p:sp>
      <p:sp>
        <p:nvSpPr>
          <p:cNvPr id="12" name="TextBox 11"/>
          <p:cNvSpPr txBox="1"/>
          <p:nvPr/>
        </p:nvSpPr>
        <p:spPr>
          <a:xfrm>
            <a:off x="6480000" y="5328000"/>
            <a:ext cx="1800000" cy="360000"/>
          </a:xfrm>
          <a:prstGeom prst="rect">
            <a:avLst/>
          </a:prstGeom>
          <a:noFill/>
        </p:spPr>
        <p:txBody>
          <a:bodyPr wrap="square">
            <a:spAutoFit/>
          </a:bodyPr>
          <a:lstStyle/>
          <a:p>
            <a:pPr algn="ctr">
              <a:defRPr sz="900" b="0">
                <a:solidFill>
                  <a:srgbClr val="666666"/>
                </a:solidFill>
                <a:latin typeface="Inter"/>
              </a:defRPr>
            </a:pPr>
            <a:r>
              <a:t>~24 carrelets</a:t>
            </a:r>
          </a:p>
        </p:txBody>
      </p:sp>
      <p:sp>
        <p:nvSpPr>
          <p:cNvPr id="13" name="TextBox 12"/>
          <p:cNvSpPr txBox="1"/>
          <p:nvPr/>
        </p:nvSpPr>
        <p:spPr>
          <a:xfrm>
            <a:off x="9000000" y="4680000"/>
            <a:ext cx="1800000" cy="540000"/>
          </a:xfrm>
          <a:prstGeom prst="rect">
            <a:avLst/>
          </a:prstGeom>
          <a:noFill/>
        </p:spPr>
        <p:txBody>
          <a:bodyPr wrap="square">
            <a:spAutoFit/>
          </a:bodyPr>
          <a:lstStyle/>
          <a:p>
            <a:pPr algn="ctr">
              <a:defRPr sz="2400" b="0">
                <a:solidFill>
                  <a:srgbClr val="333333"/>
                </a:solidFill>
                <a:latin typeface="Inter"/>
              </a:defRPr>
            </a:pPr>
            <a:r>
              <a:t>⏱️</a:t>
            </a:r>
          </a:p>
        </p:txBody>
      </p:sp>
      <p:sp>
        <p:nvSpPr>
          <p:cNvPr id="14" name="TextBox 13"/>
          <p:cNvSpPr txBox="1"/>
          <p:nvPr/>
        </p:nvSpPr>
        <p:spPr>
          <a:xfrm>
            <a:off x="9000000" y="5328000"/>
            <a:ext cx="1800000" cy="360000"/>
          </a:xfrm>
          <a:prstGeom prst="rect">
            <a:avLst/>
          </a:prstGeom>
          <a:noFill/>
        </p:spPr>
        <p:txBody>
          <a:bodyPr wrap="square">
            <a:spAutoFit/>
          </a:bodyPr>
          <a:lstStyle/>
          <a:p>
            <a:pPr algn="ctr">
              <a:defRPr sz="900" b="0">
                <a:solidFill>
                  <a:srgbClr val="666666"/>
                </a:solidFill>
                <a:latin typeface="Inter"/>
              </a:defRPr>
            </a:pPr>
            <a:r>
              <a:t>~6 heures</a:t>
            </a:r>
          </a:p>
        </p:txBody>
      </p:sp>
      <p:sp>
        <p:nvSpPr>
          <p:cNvPr id="15" name="TextBox 14"/>
          <p:cNvSpPr txBox="1"/>
          <p:nvPr/>
        </p:nvSpPr>
        <p:spPr>
          <a:xfrm>
            <a:off x="540000" y="6300000"/>
            <a:ext cx="10800000" cy="360000"/>
          </a:xfrm>
          <a:prstGeom prst="rect">
            <a:avLst/>
          </a:prstGeom>
          <a:noFill/>
        </p:spPr>
        <p:txBody>
          <a:bodyPr wrap="square">
            <a:spAutoFit/>
          </a:bodyPr>
          <a:lstStyle/>
          <a:p>
            <a:pPr algn="ctr">
              <a:defRPr sz="800" b="0">
                <a:solidFill>
                  <a:srgbClr val="AAAAAA"/>
                </a:solidFill>
                <a:latin typeface="Inter"/>
              </a:defRPr>
            </a:pPr>
            <a:r>
              <a:t>v1.0 — Juin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0000" y="360000"/>
            <a:ext cx="1800000" cy="432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60000"/>
            <a:ext cx="1800000" cy="432000"/>
          </a:xfrm>
          <a:prstGeom prst="rect">
            <a:avLst/>
          </a:prstGeom>
          <a:noFill/>
        </p:spPr>
        <p:txBody>
          <a:bodyPr wrap="square">
            <a:spAutoFit/>
          </a:bodyPr>
          <a:lstStyle/>
          <a:p>
            <a:pPr algn="ctr">
              <a:defRPr sz="1100" b="1">
                <a:solidFill>
                  <a:srgbClr val="FFFFFF"/>
                </a:solidFill>
                <a:latin typeface="Inter"/>
              </a:defRPr>
            </a:pPr>
            <a:r>
              <a:t>BLOC 1/5</a:t>
            </a:r>
          </a:p>
        </p:txBody>
      </p:sp>
      <p:sp>
        <p:nvSpPr>
          <p:cNvPr id="4" name="TextBox 3"/>
          <p:cNvSpPr txBox="1"/>
          <p:nvPr/>
        </p:nvSpPr>
        <p:spPr>
          <a:xfrm>
            <a:off x="540000" y="1080000"/>
            <a:ext cx="7200000" cy="900000"/>
          </a:xfrm>
          <a:prstGeom prst="rect">
            <a:avLst/>
          </a:prstGeom>
          <a:noFill/>
        </p:spPr>
        <p:txBody>
          <a:bodyPr wrap="square">
            <a:spAutoFit/>
          </a:bodyPr>
          <a:lstStyle/>
          <a:p>
            <a:pPr algn="l">
              <a:defRPr sz="3200" b="1">
                <a:solidFill>
                  <a:srgbClr val="2B5EA7"/>
                </a:solidFill>
                <a:latin typeface="Inter"/>
              </a:defRPr>
            </a:pPr>
            <a:r>
              <a:t>Base extérieure</a:t>
            </a:r>
          </a:p>
        </p:txBody>
      </p:sp>
      <p:sp>
        <p:nvSpPr>
          <p:cNvPr id="5" name="TextBox 4"/>
          <p:cNvSpPr txBox="1"/>
          <p:nvPr/>
        </p:nvSpPr>
        <p:spPr>
          <a:xfrm>
            <a:off x="540000" y="1980000"/>
            <a:ext cx="7200000" cy="540000"/>
          </a:xfrm>
          <a:prstGeom prst="rect">
            <a:avLst/>
          </a:prstGeom>
          <a:noFill/>
        </p:spPr>
        <p:txBody>
          <a:bodyPr wrap="square">
            <a:spAutoFit/>
          </a:bodyPr>
          <a:lstStyle/>
          <a:p>
            <a:pPr algn="l">
              <a:defRPr sz="1400" b="0">
                <a:solidFill>
                  <a:srgbClr val="666666"/>
                </a:solidFill>
                <a:latin typeface="Inter"/>
              </a:defRPr>
            </a:pPr>
            <a:r>
              <a:t>Caisson principal — 5 planches CP peuplier formant la structure du lit</a:t>
            </a:r>
          </a:p>
        </p:txBody>
      </p:sp>
      <p:sp>
        <p:nvSpPr>
          <p:cNvPr id="6" name="Rounded Rectangle 5"/>
          <p:cNvSpPr/>
          <p:nvPr/>
        </p:nvSpPr>
        <p:spPr>
          <a:xfrm>
            <a:off x="540000" y="3240000"/>
            <a:ext cx="2520000" cy="12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3384000"/>
            <a:ext cx="2520000" cy="360000"/>
          </a:xfrm>
          <a:prstGeom prst="rect">
            <a:avLst/>
          </a:prstGeom>
          <a:noFill/>
        </p:spPr>
        <p:txBody>
          <a:bodyPr wrap="square">
            <a:spAutoFit/>
          </a:bodyPr>
          <a:lstStyle/>
          <a:p>
            <a:pPr algn="ctr">
              <a:defRPr sz="900" b="0">
                <a:solidFill>
                  <a:srgbClr val="666666"/>
                </a:solidFill>
                <a:latin typeface="Inter"/>
              </a:defRPr>
            </a:pPr>
            <a:r>
              <a:t>Encombrement</a:t>
            </a:r>
          </a:p>
        </p:txBody>
      </p:sp>
      <p:sp>
        <p:nvSpPr>
          <p:cNvPr id="8" name="TextBox 7"/>
          <p:cNvSpPr txBox="1"/>
          <p:nvPr/>
        </p:nvSpPr>
        <p:spPr>
          <a:xfrm>
            <a:off x="540000" y="3743999"/>
            <a:ext cx="2520000" cy="540000"/>
          </a:xfrm>
          <a:prstGeom prst="rect">
            <a:avLst/>
          </a:prstGeom>
          <a:noFill/>
        </p:spPr>
        <p:txBody>
          <a:bodyPr wrap="square">
            <a:spAutoFit/>
          </a:bodyPr>
          <a:lstStyle/>
          <a:p>
            <a:pPr algn="ctr">
              <a:defRPr sz="1600" b="1">
                <a:solidFill>
                  <a:srgbClr val="333333"/>
                </a:solidFill>
                <a:latin typeface="Inter"/>
              </a:defRPr>
            </a:pPr>
            <a:r>
              <a:t>187 × 77,5 × 38 cm</a:t>
            </a:r>
          </a:p>
        </p:txBody>
      </p:sp>
      <p:sp>
        <p:nvSpPr>
          <p:cNvPr id="9" name="Rounded Rectangle 8"/>
          <p:cNvSpPr/>
          <p:nvPr/>
        </p:nvSpPr>
        <p:spPr>
          <a:xfrm>
            <a:off x="3240000" y="3240000"/>
            <a:ext cx="2520000" cy="12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0000" y="3384000"/>
            <a:ext cx="2520000" cy="360000"/>
          </a:xfrm>
          <a:prstGeom prst="rect">
            <a:avLst/>
          </a:prstGeom>
          <a:noFill/>
        </p:spPr>
        <p:txBody>
          <a:bodyPr wrap="square">
            <a:spAutoFit/>
          </a:bodyPr>
          <a:lstStyle/>
          <a:p>
            <a:pPr algn="ctr">
              <a:defRPr sz="900" b="0">
                <a:solidFill>
                  <a:srgbClr val="666666"/>
                </a:solidFill>
                <a:latin typeface="Inter"/>
              </a:defRPr>
            </a:pPr>
            <a:r>
              <a:t>Matière</a:t>
            </a:r>
          </a:p>
        </p:txBody>
      </p:sp>
      <p:sp>
        <p:nvSpPr>
          <p:cNvPr id="11" name="TextBox 10"/>
          <p:cNvSpPr txBox="1"/>
          <p:nvPr/>
        </p:nvSpPr>
        <p:spPr>
          <a:xfrm>
            <a:off x="3240000" y="3743999"/>
            <a:ext cx="2520000" cy="540000"/>
          </a:xfrm>
          <a:prstGeom prst="rect">
            <a:avLst/>
          </a:prstGeom>
          <a:noFill/>
        </p:spPr>
        <p:txBody>
          <a:bodyPr wrap="square">
            <a:spAutoFit/>
          </a:bodyPr>
          <a:lstStyle/>
          <a:p>
            <a:pPr algn="ctr">
              <a:defRPr sz="1600" b="1">
                <a:solidFill>
                  <a:srgbClr val="333333"/>
                </a:solidFill>
                <a:latin typeface="Inter"/>
              </a:defRPr>
            </a:pPr>
            <a:r>
              <a:t>CP peuplier 15 mm</a:t>
            </a:r>
          </a:p>
        </p:txBody>
      </p:sp>
      <p:sp>
        <p:nvSpPr>
          <p:cNvPr id="12" name="Rounded Rectangle 11"/>
          <p:cNvSpPr/>
          <p:nvPr/>
        </p:nvSpPr>
        <p:spPr>
          <a:xfrm>
            <a:off x="5940000" y="3240000"/>
            <a:ext cx="2520000" cy="12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0000" y="3384000"/>
            <a:ext cx="2520000" cy="360000"/>
          </a:xfrm>
          <a:prstGeom prst="rect">
            <a:avLst/>
          </a:prstGeom>
          <a:noFill/>
        </p:spPr>
        <p:txBody>
          <a:bodyPr wrap="square">
            <a:spAutoFit/>
          </a:bodyPr>
          <a:lstStyle/>
          <a:p>
            <a:pPr algn="ctr">
              <a:defRPr sz="900" b="0">
                <a:solidFill>
                  <a:srgbClr val="666666"/>
                </a:solidFill>
                <a:latin typeface="Inter"/>
              </a:defRPr>
            </a:pPr>
            <a:r>
              <a:t>Panneaux à découper</a:t>
            </a:r>
          </a:p>
        </p:txBody>
      </p:sp>
      <p:sp>
        <p:nvSpPr>
          <p:cNvPr id="14" name="TextBox 13"/>
          <p:cNvSpPr txBox="1"/>
          <p:nvPr/>
        </p:nvSpPr>
        <p:spPr>
          <a:xfrm>
            <a:off x="5940000" y="3743999"/>
            <a:ext cx="2520000" cy="540000"/>
          </a:xfrm>
          <a:prstGeom prst="rect">
            <a:avLst/>
          </a:prstGeom>
          <a:noFill/>
        </p:spPr>
        <p:txBody>
          <a:bodyPr wrap="square">
            <a:spAutoFit/>
          </a:bodyPr>
          <a:lstStyle/>
          <a:p>
            <a:pPr algn="ctr">
              <a:defRPr sz="1600" b="1">
                <a:solidFill>
                  <a:srgbClr val="333333"/>
                </a:solidFill>
                <a:latin typeface="Inter"/>
              </a:defRPr>
            </a:pPr>
            <a:r>
              <a:t>5</a:t>
            </a:r>
          </a:p>
        </p:txBody>
      </p:sp>
      <p:sp>
        <p:nvSpPr>
          <p:cNvPr id="15" name="Rounded Rectangle 14"/>
          <p:cNvSpPr/>
          <p:nvPr/>
        </p:nvSpPr>
        <p:spPr>
          <a:xfrm>
            <a:off x="8640000" y="3240000"/>
            <a:ext cx="2520000" cy="12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0000" y="3384000"/>
            <a:ext cx="2520000" cy="360000"/>
          </a:xfrm>
          <a:prstGeom prst="rect">
            <a:avLst/>
          </a:prstGeom>
          <a:noFill/>
        </p:spPr>
        <p:txBody>
          <a:bodyPr wrap="square">
            <a:spAutoFit/>
          </a:bodyPr>
          <a:lstStyle/>
          <a:p>
            <a:pPr algn="ctr">
              <a:defRPr sz="900" b="0">
                <a:solidFill>
                  <a:srgbClr val="666666"/>
                </a:solidFill>
                <a:latin typeface="Inter"/>
              </a:defRPr>
            </a:pPr>
            <a:r>
              <a:t>Carrelets 15 × 15 mm</a:t>
            </a:r>
          </a:p>
        </p:txBody>
      </p:sp>
      <p:sp>
        <p:nvSpPr>
          <p:cNvPr id="17" name="TextBox 16"/>
          <p:cNvSpPr txBox="1"/>
          <p:nvPr/>
        </p:nvSpPr>
        <p:spPr>
          <a:xfrm>
            <a:off x="8640000" y="3743999"/>
            <a:ext cx="2520000" cy="540000"/>
          </a:xfrm>
          <a:prstGeom prst="rect">
            <a:avLst/>
          </a:prstGeom>
          <a:noFill/>
        </p:spPr>
        <p:txBody>
          <a:bodyPr wrap="square">
            <a:spAutoFit/>
          </a:bodyPr>
          <a:lstStyle/>
          <a:p>
            <a:pPr algn="ctr">
              <a:defRPr sz="1600" b="1">
                <a:solidFill>
                  <a:srgbClr val="333333"/>
                </a:solidFill>
                <a:latin typeface="Inter"/>
              </a:defRPr>
            </a:pPr>
            <a:r>
              <a:t>0</a:t>
            </a:r>
          </a:p>
        </p:txBody>
      </p:sp>
      <p:sp>
        <p:nvSpPr>
          <p:cNvPr id="18" name="TextBox 17"/>
          <p:cNvSpPr txBox="1"/>
          <p:nvPr/>
        </p:nvSpPr>
        <p:spPr>
          <a:xfrm>
            <a:off x="540000" y="6300000"/>
            <a:ext cx="10800000" cy="360000"/>
          </a:xfrm>
          <a:prstGeom prst="rect">
            <a:avLst/>
          </a:prstGeom>
          <a:noFill/>
        </p:spPr>
        <p:txBody>
          <a:bodyPr wrap="square">
            <a:spAutoFit/>
          </a:bodyPr>
          <a:lstStyle/>
          <a:p>
            <a:pPr algn="ctr">
              <a:defRPr sz="800" b="0">
                <a:solidFill>
                  <a:srgbClr val="AAAAAA"/>
                </a:solidFill>
                <a:latin typeface="Inter"/>
              </a:defRPr>
            </a:pPr>
            <a:r>
              <a:t>Guide VBA Construction — Bloc Lit Peigne — vanzonexplorer.com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288000"/>
            <a:ext cx="7200000" cy="540000"/>
          </a:xfrm>
          <a:prstGeom prst="rect">
            <a:avLst/>
          </a:prstGeom>
          <a:noFill/>
        </p:spPr>
        <p:txBody>
          <a:bodyPr wrap="square">
            <a:spAutoFit/>
          </a:bodyPr>
          <a:lstStyle/>
          <a:p>
            <a:pPr algn="l">
              <a:defRPr sz="2200" b="1">
                <a:solidFill>
                  <a:srgbClr val="2B5EA7"/>
                </a:solidFill>
                <a:latin typeface="Inter"/>
              </a:defRPr>
            </a:pPr>
            <a:r>
              <a:t>Liste de débit — Base extérieure</a:t>
            </a:r>
          </a:p>
        </p:txBody>
      </p:sp>
      <p:graphicFrame>
        <p:nvGraphicFramePr>
          <p:cNvPr id="3" name="Table 2"/>
          <p:cNvGraphicFramePr>
            <a:graphicFrameLocks noGrp="1"/>
          </p:cNvGraphicFramePr>
          <p:nvPr/>
        </p:nvGraphicFramePr>
        <p:xfrm>
          <a:off x="540000" y="900000"/>
          <a:ext cx="10800000" cy="1728000"/>
        </p:xfrm>
        <a:graphic>
          <a:graphicData uri="http://schemas.openxmlformats.org/drawingml/2006/table">
            <a:tbl>
              <a:tblPr firstRow="1" bandRow="1">
                <a:tableStyleId>{5C22544A-7EE6-4342-B048-85BDC9FD1C3A}</a:tableStyleId>
              </a:tblPr>
              <a:tblGrid>
                <a:gridCol w="1080000"/>
                <a:gridCol w="5040000"/>
                <a:gridCol w="2880000"/>
                <a:gridCol w="1800000"/>
              </a:tblGrid>
              <a:tr h="288000">
                <a:tc>
                  <a:txBody>
                    <a:bodyPr/>
                    <a:lstStyle/>
                    <a:p>
                      <a:pPr algn="ctr">
                        <a:defRPr sz="1000" b="1">
                          <a:solidFill>
                            <a:srgbClr val="FFFFFF"/>
                          </a:solidFill>
                          <a:latin typeface="Inter"/>
                        </a:defRPr>
                      </a:pPr>
                      <a:r>
                        <a:t>Rép.</a:t>
                      </a:r>
                    </a:p>
                  </a:txBody>
                  <a:tcPr>
                    <a:solidFill>
                      <a:srgbClr val="2B5EA7"/>
                    </a:solidFill>
                  </a:tcPr>
                </a:tc>
                <a:tc>
                  <a:txBody>
                    <a:bodyPr/>
                    <a:lstStyle/>
                    <a:p>
                      <a:pPr algn="ctr">
                        <a:defRPr sz="1000" b="1">
                          <a:solidFill>
                            <a:srgbClr val="FFFFFF"/>
                          </a:solidFill>
                          <a:latin typeface="Inter"/>
                        </a:defRPr>
                      </a:pPr>
                      <a:r>
                        <a:t>Panneau (CP 15 mm)</a:t>
                      </a:r>
                    </a:p>
                  </a:txBody>
                  <a:tcPr>
                    <a:solidFill>
                      <a:srgbClr val="2B5EA7"/>
                    </a:solidFill>
                  </a:tcPr>
                </a:tc>
                <a:tc>
                  <a:txBody>
                    <a:bodyPr/>
                    <a:lstStyle/>
                    <a:p>
                      <a:pPr algn="ctr">
                        <a:defRPr sz="1000" b="1">
                          <a:solidFill>
                            <a:srgbClr val="FFFFFF"/>
                          </a:solidFill>
                          <a:latin typeface="Inter"/>
                        </a:defRPr>
                      </a:pPr>
                      <a:r>
                        <a:t>Dimensions</a:t>
                      </a:r>
                    </a:p>
                  </a:txBody>
                  <a:tcPr>
                    <a:solidFill>
                      <a:srgbClr val="2B5EA7"/>
                    </a:solidFill>
                  </a:tcPr>
                </a:tc>
                <a:tc>
                  <a:txBody>
                    <a:bodyPr/>
                    <a:lstStyle/>
                    <a:p>
                      <a:pPr algn="ctr">
                        <a:defRPr sz="1000" b="1">
                          <a:solidFill>
                            <a:srgbClr val="FFFFFF"/>
                          </a:solidFill>
                          <a:latin typeface="Inter"/>
                        </a:defRPr>
                      </a:pPr>
                      <a:r>
                        <a:t>Qté</a:t>
                      </a:r>
                    </a:p>
                  </a:txBody>
                  <a:tcPr>
                    <a:solidFill>
                      <a:srgbClr val="2B5EA7"/>
                    </a:solidFill>
                  </a:tcPr>
                </a:tc>
              </a:tr>
              <a:tr h="288000">
                <a:tc>
                  <a:txBody>
                    <a:bodyPr/>
                    <a:lstStyle/>
                    <a:p>
                      <a:pPr algn="ctr">
                        <a:defRPr sz="900">
                          <a:solidFill>
                            <a:srgbClr val="333333"/>
                          </a:solidFill>
                          <a:latin typeface="Inter"/>
                        </a:defRPr>
                      </a:pPr>
                      <a:r>
                        <a:t>A1</a:t>
                      </a:r>
                    </a:p>
                  </a:txBody>
                  <a:tcPr>
                    <a:solidFill>
                      <a:srgbClr val="FFFFFF"/>
                    </a:solidFill>
                  </a:tcPr>
                </a:tc>
                <a:tc>
                  <a:txBody>
                    <a:bodyPr/>
                    <a:lstStyle/>
                    <a:p>
                      <a:pPr algn="ctr">
                        <a:defRPr sz="900">
                          <a:solidFill>
                            <a:srgbClr val="333333"/>
                          </a:solidFill>
                          <a:latin typeface="Inter"/>
                        </a:defRPr>
                      </a:pPr>
                      <a:r>
                        <a:t>Planche sol</a:t>
                      </a:r>
                    </a:p>
                  </a:txBody>
                  <a:tcPr>
                    <a:solidFill>
                      <a:srgbClr val="FFFFFF"/>
                    </a:solidFill>
                  </a:tcPr>
                </a:tc>
                <a:tc>
                  <a:txBody>
                    <a:bodyPr/>
                    <a:lstStyle/>
                    <a:p>
                      <a:pPr algn="ctr">
                        <a:defRPr sz="900">
                          <a:solidFill>
                            <a:srgbClr val="333333"/>
                          </a:solidFill>
                          <a:latin typeface="Inter"/>
                        </a:defRPr>
                      </a:pPr>
                      <a:r>
                        <a:t>187 × 74,5 cm</a:t>
                      </a:r>
                    </a:p>
                  </a:txBody>
                  <a:tcPr>
                    <a:solidFill>
                      <a:srgbClr val="FFFFFF"/>
                    </a:solidFill>
                  </a:tcPr>
                </a:tc>
                <a:tc>
                  <a:txBody>
                    <a:bodyPr/>
                    <a:lstStyle/>
                    <a:p>
                      <a:pPr algn="ctr">
                        <a:defRPr sz="900">
                          <a:solidFill>
                            <a:srgbClr val="333333"/>
                          </a:solidFill>
                          <a:latin typeface="Inter"/>
                        </a:defRPr>
                      </a:pPr>
                      <a:r>
                        <a:t>1</a:t>
                      </a:r>
                    </a:p>
                  </a:txBody>
                  <a:tcPr>
                    <a:solidFill>
                      <a:srgbClr val="FFFFFF"/>
                    </a:solidFill>
                  </a:tcPr>
                </a:tc>
              </a:tr>
              <a:tr h="288000">
                <a:tc>
                  <a:txBody>
                    <a:bodyPr/>
                    <a:lstStyle/>
                    <a:p>
                      <a:pPr algn="ctr">
                        <a:defRPr sz="900">
                          <a:solidFill>
                            <a:srgbClr val="333333"/>
                          </a:solidFill>
                          <a:latin typeface="Inter"/>
                        </a:defRPr>
                      </a:pPr>
                      <a:r>
                        <a:t>A2</a:t>
                      </a:r>
                    </a:p>
                  </a:txBody>
                  <a:tcPr>
                    <a:solidFill>
                      <a:srgbClr val="F5F5F5"/>
                    </a:solidFill>
                  </a:tcPr>
                </a:tc>
                <a:tc>
                  <a:txBody>
                    <a:bodyPr/>
                    <a:lstStyle/>
                    <a:p>
                      <a:pPr algn="ctr">
                        <a:defRPr sz="900">
                          <a:solidFill>
                            <a:srgbClr val="333333"/>
                          </a:solidFill>
                          <a:latin typeface="Inter"/>
                        </a:defRPr>
                      </a:pPr>
                      <a:r>
                        <a:t>Planche fond (longueur)</a:t>
                      </a:r>
                    </a:p>
                  </a:txBody>
                  <a:tcPr>
                    <a:solidFill>
                      <a:srgbClr val="F5F5F5"/>
                    </a:solidFill>
                  </a:tcPr>
                </a:tc>
                <a:tc>
                  <a:txBody>
                    <a:bodyPr/>
                    <a:lstStyle/>
                    <a:p>
                      <a:pPr algn="ctr">
                        <a:defRPr sz="900">
                          <a:solidFill>
                            <a:srgbClr val="333333"/>
                          </a:solidFill>
                          <a:latin typeface="Inter"/>
                        </a:defRPr>
                      </a:pPr>
                      <a:r>
                        <a:t>187 × 36,5 cm</a:t>
                      </a:r>
                    </a:p>
                  </a:txBody>
                  <a:tcPr>
                    <a:solidFill>
                      <a:srgbClr val="F5F5F5"/>
                    </a:solidFill>
                  </a:tcPr>
                </a:tc>
                <a:tc>
                  <a:txBody>
                    <a:bodyPr/>
                    <a:lstStyle/>
                    <a:p>
                      <a:pPr algn="ctr">
                        <a:defRPr sz="900">
                          <a:solidFill>
                            <a:srgbClr val="333333"/>
                          </a:solidFill>
                          <a:latin typeface="Inter"/>
                        </a:defRPr>
                      </a:pPr>
                      <a:r>
                        <a:t>1</a:t>
                      </a:r>
                    </a:p>
                  </a:txBody>
                  <a:tcPr>
                    <a:solidFill>
                      <a:srgbClr val="F5F5F5"/>
                    </a:solidFill>
                  </a:tcPr>
                </a:tc>
              </a:tr>
              <a:tr h="288000">
                <a:tc>
                  <a:txBody>
                    <a:bodyPr/>
                    <a:lstStyle/>
                    <a:p>
                      <a:pPr algn="ctr">
                        <a:defRPr sz="900">
                          <a:solidFill>
                            <a:srgbClr val="333333"/>
                          </a:solidFill>
                          <a:latin typeface="Inter"/>
                        </a:defRPr>
                      </a:pPr>
                      <a:r>
                        <a:t>A3</a:t>
                      </a:r>
                    </a:p>
                  </a:txBody>
                  <a:tcPr>
                    <a:solidFill>
                      <a:srgbClr val="FFFFFF"/>
                    </a:solidFill>
                  </a:tcPr>
                </a:tc>
                <a:tc>
                  <a:txBody>
                    <a:bodyPr/>
                    <a:lstStyle/>
                    <a:p>
                      <a:pPr algn="ctr">
                        <a:defRPr sz="900">
                          <a:solidFill>
                            <a:srgbClr val="333333"/>
                          </a:solidFill>
                          <a:latin typeface="Inter"/>
                        </a:defRPr>
                      </a:pPr>
                      <a:r>
                        <a:t>Planche face (longueur)</a:t>
                      </a:r>
                    </a:p>
                  </a:txBody>
                  <a:tcPr>
                    <a:solidFill>
                      <a:srgbClr val="FFFFFF"/>
                    </a:solidFill>
                  </a:tcPr>
                </a:tc>
                <a:tc>
                  <a:txBody>
                    <a:bodyPr/>
                    <a:lstStyle/>
                    <a:p>
                      <a:pPr algn="ctr">
                        <a:defRPr sz="900">
                          <a:solidFill>
                            <a:srgbClr val="333333"/>
                          </a:solidFill>
                          <a:latin typeface="Inter"/>
                        </a:defRPr>
                      </a:pPr>
                      <a:r>
                        <a:t>187 × 36,5 cm</a:t>
                      </a:r>
                    </a:p>
                  </a:txBody>
                  <a:tcPr>
                    <a:solidFill>
                      <a:srgbClr val="FFFFFF"/>
                    </a:solidFill>
                  </a:tcPr>
                </a:tc>
                <a:tc>
                  <a:txBody>
                    <a:bodyPr/>
                    <a:lstStyle/>
                    <a:p>
                      <a:pPr algn="ctr">
                        <a:defRPr sz="900">
                          <a:solidFill>
                            <a:srgbClr val="333333"/>
                          </a:solidFill>
                          <a:latin typeface="Inter"/>
                        </a:defRPr>
                      </a:pPr>
                      <a:r>
                        <a:t>1</a:t>
                      </a:r>
                    </a:p>
                  </a:txBody>
                  <a:tcPr>
                    <a:solidFill>
                      <a:srgbClr val="FFFFFF"/>
                    </a:solidFill>
                  </a:tcPr>
                </a:tc>
              </a:tr>
              <a:tr h="288000">
                <a:tc>
                  <a:txBody>
                    <a:bodyPr/>
                    <a:lstStyle/>
                    <a:p>
                      <a:pPr algn="ctr">
                        <a:defRPr sz="900">
                          <a:solidFill>
                            <a:srgbClr val="333333"/>
                          </a:solidFill>
                          <a:latin typeface="Inter"/>
                        </a:defRPr>
                      </a:pPr>
                      <a:r>
                        <a:t>A4</a:t>
                      </a:r>
                    </a:p>
                  </a:txBody>
                  <a:tcPr>
                    <a:solidFill>
                      <a:srgbClr val="F5F5F5"/>
                    </a:solidFill>
                  </a:tcPr>
                </a:tc>
                <a:tc>
                  <a:txBody>
                    <a:bodyPr/>
                    <a:lstStyle/>
                    <a:p>
                      <a:pPr algn="ctr">
                        <a:defRPr sz="900">
                          <a:solidFill>
                            <a:srgbClr val="333333"/>
                          </a:solidFill>
                          <a:latin typeface="Inter"/>
                        </a:defRPr>
                      </a:pPr>
                      <a:r>
                        <a:t>Planche droite (largeur)</a:t>
                      </a:r>
                    </a:p>
                  </a:txBody>
                  <a:tcPr>
                    <a:solidFill>
                      <a:srgbClr val="F5F5F5"/>
                    </a:solidFill>
                  </a:tcPr>
                </a:tc>
                <a:tc>
                  <a:txBody>
                    <a:bodyPr/>
                    <a:lstStyle/>
                    <a:p>
                      <a:pPr algn="ctr">
                        <a:defRPr sz="900">
                          <a:solidFill>
                            <a:srgbClr val="333333"/>
                          </a:solidFill>
                          <a:latin typeface="Inter"/>
                        </a:defRPr>
                      </a:pPr>
                      <a:r>
                        <a:t>77,5 × 38 cm</a:t>
                      </a:r>
                    </a:p>
                  </a:txBody>
                  <a:tcPr>
                    <a:solidFill>
                      <a:srgbClr val="F5F5F5"/>
                    </a:solidFill>
                  </a:tcPr>
                </a:tc>
                <a:tc>
                  <a:txBody>
                    <a:bodyPr/>
                    <a:lstStyle/>
                    <a:p>
                      <a:pPr algn="ctr">
                        <a:defRPr sz="900">
                          <a:solidFill>
                            <a:srgbClr val="333333"/>
                          </a:solidFill>
                          <a:latin typeface="Inter"/>
                        </a:defRPr>
                      </a:pPr>
                      <a:r>
                        <a:t>1</a:t>
                      </a:r>
                    </a:p>
                  </a:txBody>
                  <a:tcPr>
                    <a:solidFill>
                      <a:srgbClr val="F5F5F5"/>
                    </a:solidFill>
                  </a:tcPr>
                </a:tc>
              </a:tr>
              <a:tr h="288000">
                <a:tc>
                  <a:txBody>
                    <a:bodyPr/>
                    <a:lstStyle/>
                    <a:p>
                      <a:pPr algn="ctr">
                        <a:defRPr sz="900">
                          <a:solidFill>
                            <a:srgbClr val="333333"/>
                          </a:solidFill>
                          <a:latin typeface="Inter"/>
                        </a:defRPr>
                      </a:pPr>
                      <a:r>
                        <a:t>A5</a:t>
                      </a:r>
                    </a:p>
                  </a:txBody>
                  <a:tcPr>
                    <a:solidFill>
                      <a:srgbClr val="FFFFFF"/>
                    </a:solidFill>
                  </a:tcPr>
                </a:tc>
                <a:tc>
                  <a:txBody>
                    <a:bodyPr/>
                    <a:lstStyle/>
                    <a:p>
                      <a:pPr algn="ctr">
                        <a:defRPr sz="900">
                          <a:solidFill>
                            <a:srgbClr val="333333"/>
                          </a:solidFill>
                          <a:latin typeface="Inter"/>
                        </a:defRPr>
                      </a:pPr>
                      <a:r>
                        <a:t>Planche gauche (largeur)</a:t>
                      </a:r>
                    </a:p>
                  </a:txBody>
                  <a:tcPr>
                    <a:solidFill>
                      <a:srgbClr val="FFFFFF"/>
                    </a:solidFill>
                  </a:tcPr>
                </a:tc>
                <a:tc>
                  <a:txBody>
                    <a:bodyPr/>
                    <a:lstStyle/>
                    <a:p>
                      <a:pPr algn="ctr">
                        <a:defRPr sz="900">
                          <a:solidFill>
                            <a:srgbClr val="333333"/>
                          </a:solidFill>
                          <a:latin typeface="Inter"/>
                        </a:defRPr>
                      </a:pPr>
                      <a:r>
                        <a:t>77,5 × 38 cm</a:t>
                      </a:r>
                    </a:p>
                  </a:txBody>
                  <a:tcPr>
                    <a:solidFill>
                      <a:srgbClr val="FFFFFF"/>
                    </a:solidFill>
                  </a:tcPr>
                </a:tc>
                <a:tc>
                  <a:txBody>
                    <a:bodyPr/>
                    <a:lstStyle/>
                    <a:p>
                      <a:pPr algn="ctr">
                        <a:defRPr sz="900">
                          <a:solidFill>
                            <a:srgbClr val="333333"/>
                          </a:solidFill>
                          <a:latin typeface="Inter"/>
                        </a:defRPr>
                      </a:pPr>
                      <a:r>
                        <a:t>1</a:t>
                      </a:r>
                    </a:p>
                  </a:txBody>
                  <a:tcP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180000"/>
            <a:ext cx="9000000" cy="432000"/>
          </a:xfrm>
          <a:prstGeom prst="rect">
            <a:avLst/>
          </a:prstGeom>
          <a:noFill/>
        </p:spPr>
        <p:txBody>
          <a:bodyPr wrap="square">
            <a:spAutoFit/>
          </a:bodyPr>
          <a:lstStyle/>
          <a:p>
            <a:pPr algn="l">
              <a:defRPr sz="1800" b="1">
                <a:solidFill>
                  <a:srgbClr val="2B5EA7"/>
                </a:solidFill>
                <a:latin typeface="Inter"/>
              </a:defRPr>
            </a:pPr>
            <a:r>
              <a:t>Pièces à découper — Base extérieure</a:t>
            </a:r>
          </a:p>
        </p:txBody>
      </p:sp>
      <p:sp>
        <p:nvSpPr>
          <p:cNvPr id="3" name="Rounded Rectangle 2"/>
          <p:cNvSpPr/>
          <p:nvPr/>
        </p:nvSpPr>
        <p:spPr>
          <a:xfrm>
            <a:off x="7920000" y="108000"/>
            <a:ext cx="3780000" cy="21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920000" y="900000"/>
            <a:ext cx="3780000" cy="540000"/>
          </a:xfrm>
          <a:prstGeom prst="rect">
            <a:avLst/>
          </a:prstGeom>
          <a:noFill/>
        </p:spPr>
        <p:txBody>
          <a:bodyPr wrap="square">
            <a:spAutoFit/>
          </a:bodyPr>
          <a:lstStyle/>
          <a:p>
            <a:pPr algn="ctr">
              <a:defRPr sz="900" b="0">
                <a:solidFill>
                  <a:srgbClr val="666666"/>
                </a:solidFill>
                <a:latin typeface="Inter"/>
              </a:defRPr>
            </a:pPr>
            <a:r>
              <a:t>Coller ici le screenshot</a:t>
            </a:r>
            <a:br/>
            <a:r>
              <a:t>de la vue éclatée</a:t>
            </a:r>
          </a:p>
        </p:txBody>
      </p:sp>
      <p:sp>
        <p:nvSpPr>
          <p:cNvPr id="5" name="Rounded Rectangle 4"/>
          <p:cNvSpPr/>
          <p:nvPr/>
        </p:nvSpPr>
        <p:spPr>
          <a:xfrm>
            <a:off x="540000" y="792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8000" y="972000"/>
            <a:ext cx="648000" cy="540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000" y="1080000"/>
            <a:ext cx="648000" cy="360000"/>
          </a:xfrm>
          <a:prstGeom prst="rect">
            <a:avLst/>
          </a:prstGeom>
          <a:noFill/>
        </p:spPr>
        <p:txBody>
          <a:bodyPr wrap="square">
            <a:spAutoFit/>
          </a:bodyPr>
          <a:lstStyle/>
          <a:p>
            <a:pPr algn="ctr">
              <a:defRPr sz="1200" b="1">
                <a:solidFill>
                  <a:srgbClr val="FFFFFF"/>
                </a:solidFill>
                <a:latin typeface="Inter"/>
              </a:defRPr>
            </a:pPr>
            <a:r>
              <a:t>A1</a:t>
            </a:r>
          </a:p>
        </p:txBody>
      </p:sp>
      <p:sp>
        <p:nvSpPr>
          <p:cNvPr id="8" name="TextBox 7"/>
          <p:cNvSpPr txBox="1"/>
          <p:nvPr/>
        </p:nvSpPr>
        <p:spPr>
          <a:xfrm>
            <a:off x="1440000" y="900000"/>
            <a:ext cx="2520000" cy="360000"/>
          </a:xfrm>
          <a:prstGeom prst="rect">
            <a:avLst/>
          </a:prstGeom>
          <a:noFill/>
        </p:spPr>
        <p:txBody>
          <a:bodyPr wrap="square">
            <a:spAutoFit/>
          </a:bodyPr>
          <a:lstStyle/>
          <a:p>
            <a:pPr algn="l">
              <a:defRPr sz="1000" b="1">
                <a:solidFill>
                  <a:srgbClr val="333333"/>
                </a:solidFill>
                <a:latin typeface="Inter"/>
              </a:defRPr>
            </a:pPr>
            <a:r>
              <a:t>Planche sol</a:t>
            </a:r>
          </a:p>
        </p:txBody>
      </p:sp>
      <p:sp>
        <p:nvSpPr>
          <p:cNvPr id="9" name="TextBox 8"/>
          <p:cNvSpPr txBox="1"/>
          <p:nvPr/>
        </p:nvSpPr>
        <p:spPr>
          <a:xfrm>
            <a:off x="1440000" y="1224000"/>
            <a:ext cx="2520000" cy="360000"/>
          </a:xfrm>
          <a:prstGeom prst="rect">
            <a:avLst/>
          </a:prstGeom>
          <a:noFill/>
        </p:spPr>
        <p:txBody>
          <a:bodyPr wrap="square">
            <a:spAutoFit/>
          </a:bodyPr>
          <a:lstStyle/>
          <a:p>
            <a:pPr algn="l">
              <a:defRPr sz="800" b="0">
                <a:solidFill>
                  <a:srgbClr val="666666"/>
                </a:solidFill>
                <a:latin typeface="Inter"/>
              </a:defRPr>
            </a:pPr>
            <a:r>
              <a:t>187 × 74,5 cm  ·  Forme avec encoche passage de roue</a:t>
            </a:r>
          </a:p>
        </p:txBody>
      </p:sp>
      <p:sp>
        <p:nvSpPr>
          <p:cNvPr id="10" name="Rounded Rectangle 9"/>
          <p:cNvSpPr/>
          <p:nvPr/>
        </p:nvSpPr>
        <p:spPr>
          <a:xfrm>
            <a:off x="6120000" y="792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28000" y="972000"/>
            <a:ext cx="648000" cy="540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8000" y="1080000"/>
            <a:ext cx="648000" cy="360000"/>
          </a:xfrm>
          <a:prstGeom prst="rect">
            <a:avLst/>
          </a:prstGeom>
          <a:noFill/>
        </p:spPr>
        <p:txBody>
          <a:bodyPr wrap="square">
            <a:spAutoFit/>
          </a:bodyPr>
          <a:lstStyle/>
          <a:p>
            <a:pPr algn="ctr">
              <a:defRPr sz="1200" b="1">
                <a:solidFill>
                  <a:srgbClr val="FFFFFF"/>
                </a:solidFill>
                <a:latin typeface="Inter"/>
              </a:defRPr>
            </a:pPr>
            <a:r>
              <a:t>A2</a:t>
            </a:r>
          </a:p>
        </p:txBody>
      </p:sp>
      <p:sp>
        <p:nvSpPr>
          <p:cNvPr id="13" name="TextBox 12"/>
          <p:cNvSpPr txBox="1"/>
          <p:nvPr/>
        </p:nvSpPr>
        <p:spPr>
          <a:xfrm>
            <a:off x="7020000" y="900000"/>
            <a:ext cx="2520000" cy="360000"/>
          </a:xfrm>
          <a:prstGeom prst="rect">
            <a:avLst/>
          </a:prstGeom>
          <a:noFill/>
        </p:spPr>
        <p:txBody>
          <a:bodyPr wrap="square">
            <a:spAutoFit/>
          </a:bodyPr>
          <a:lstStyle/>
          <a:p>
            <a:pPr algn="l">
              <a:defRPr sz="1000" b="1">
                <a:solidFill>
                  <a:srgbClr val="333333"/>
                </a:solidFill>
                <a:latin typeface="Inter"/>
              </a:defRPr>
            </a:pPr>
            <a:r>
              <a:t>Planche fond (longueur)</a:t>
            </a:r>
          </a:p>
        </p:txBody>
      </p:sp>
      <p:sp>
        <p:nvSpPr>
          <p:cNvPr id="14" name="TextBox 13"/>
          <p:cNvSpPr txBox="1"/>
          <p:nvPr/>
        </p:nvSpPr>
        <p:spPr>
          <a:xfrm>
            <a:off x="7020000" y="1224000"/>
            <a:ext cx="2520000" cy="360000"/>
          </a:xfrm>
          <a:prstGeom prst="rect">
            <a:avLst/>
          </a:prstGeom>
          <a:noFill/>
        </p:spPr>
        <p:txBody>
          <a:bodyPr wrap="square">
            <a:spAutoFit/>
          </a:bodyPr>
          <a:lstStyle/>
          <a:p>
            <a:pPr algn="l">
              <a:defRPr sz="800" b="0">
                <a:solidFill>
                  <a:srgbClr val="666666"/>
                </a:solidFill>
                <a:latin typeface="Inter"/>
              </a:defRPr>
            </a:pPr>
            <a:r>
              <a:t>187 × 36,5 cm</a:t>
            </a:r>
          </a:p>
        </p:txBody>
      </p:sp>
      <p:sp>
        <p:nvSpPr>
          <p:cNvPr id="15" name="Rounded Rectangle 14"/>
          <p:cNvSpPr/>
          <p:nvPr/>
        </p:nvSpPr>
        <p:spPr>
          <a:xfrm>
            <a:off x="540000" y="1800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8000" y="1980000"/>
            <a:ext cx="648000" cy="540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8000" y="2088000"/>
            <a:ext cx="648000" cy="360000"/>
          </a:xfrm>
          <a:prstGeom prst="rect">
            <a:avLst/>
          </a:prstGeom>
          <a:noFill/>
        </p:spPr>
        <p:txBody>
          <a:bodyPr wrap="square">
            <a:spAutoFit/>
          </a:bodyPr>
          <a:lstStyle/>
          <a:p>
            <a:pPr algn="ctr">
              <a:defRPr sz="1200" b="1">
                <a:solidFill>
                  <a:srgbClr val="FFFFFF"/>
                </a:solidFill>
                <a:latin typeface="Inter"/>
              </a:defRPr>
            </a:pPr>
            <a:r>
              <a:t>A3</a:t>
            </a:r>
          </a:p>
        </p:txBody>
      </p:sp>
      <p:sp>
        <p:nvSpPr>
          <p:cNvPr id="18" name="TextBox 17"/>
          <p:cNvSpPr txBox="1"/>
          <p:nvPr/>
        </p:nvSpPr>
        <p:spPr>
          <a:xfrm>
            <a:off x="1440000" y="1908000"/>
            <a:ext cx="2520000" cy="360000"/>
          </a:xfrm>
          <a:prstGeom prst="rect">
            <a:avLst/>
          </a:prstGeom>
          <a:noFill/>
        </p:spPr>
        <p:txBody>
          <a:bodyPr wrap="square">
            <a:spAutoFit/>
          </a:bodyPr>
          <a:lstStyle/>
          <a:p>
            <a:pPr algn="l">
              <a:defRPr sz="1000" b="1">
                <a:solidFill>
                  <a:srgbClr val="333333"/>
                </a:solidFill>
                <a:latin typeface="Inter"/>
              </a:defRPr>
            </a:pPr>
            <a:r>
              <a:t>Planche face (longueur)</a:t>
            </a:r>
          </a:p>
        </p:txBody>
      </p:sp>
      <p:sp>
        <p:nvSpPr>
          <p:cNvPr id="19" name="TextBox 18"/>
          <p:cNvSpPr txBox="1"/>
          <p:nvPr/>
        </p:nvSpPr>
        <p:spPr>
          <a:xfrm>
            <a:off x="1440000" y="2232000"/>
            <a:ext cx="2520000" cy="360000"/>
          </a:xfrm>
          <a:prstGeom prst="rect">
            <a:avLst/>
          </a:prstGeom>
          <a:noFill/>
        </p:spPr>
        <p:txBody>
          <a:bodyPr wrap="square">
            <a:spAutoFit/>
          </a:bodyPr>
          <a:lstStyle/>
          <a:p>
            <a:pPr algn="l">
              <a:defRPr sz="800" b="0">
                <a:solidFill>
                  <a:srgbClr val="666666"/>
                </a:solidFill>
                <a:latin typeface="Inter"/>
              </a:defRPr>
            </a:pPr>
            <a:r>
              <a:t>187 × 36,5 cm</a:t>
            </a:r>
          </a:p>
        </p:txBody>
      </p:sp>
      <p:sp>
        <p:nvSpPr>
          <p:cNvPr id="20" name="Rounded Rectangle 19"/>
          <p:cNvSpPr/>
          <p:nvPr/>
        </p:nvSpPr>
        <p:spPr>
          <a:xfrm>
            <a:off x="6120000" y="1800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28000" y="1980000"/>
            <a:ext cx="648000" cy="540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28000" y="2088000"/>
            <a:ext cx="648000" cy="360000"/>
          </a:xfrm>
          <a:prstGeom prst="rect">
            <a:avLst/>
          </a:prstGeom>
          <a:noFill/>
        </p:spPr>
        <p:txBody>
          <a:bodyPr wrap="square">
            <a:spAutoFit/>
          </a:bodyPr>
          <a:lstStyle/>
          <a:p>
            <a:pPr algn="ctr">
              <a:defRPr sz="1200" b="1">
                <a:solidFill>
                  <a:srgbClr val="FFFFFF"/>
                </a:solidFill>
                <a:latin typeface="Inter"/>
              </a:defRPr>
            </a:pPr>
            <a:r>
              <a:t>A4</a:t>
            </a:r>
          </a:p>
        </p:txBody>
      </p:sp>
      <p:sp>
        <p:nvSpPr>
          <p:cNvPr id="23" name="TextBox 22"/>
          <p:cNvSpPr txBox="1"/>
          <p:nvPr/>
        </p:nvSpPr>
        <p:spPr>
          <a:xfrm>
            <a:off x="7020000" y="1908000"/>
            <a:ext cx="2520000" cy="360000"/>
          </a:xfrm>
          <a:prstGeom prst="rect">
            <a:avLst/>
          </a:prstGeom>
          <a:noFill/>
        </p:spPr>
        <p:txBody>
          <a:bodyPr wrap="square">
            <a:spAutoFit/>
          </a:bodyPr>
          <a:lstStyle/>
          <a:p>
            <a:pPr algn="l">
              <a:defRPr sz="1000" b="1">
                <a:solidFill>
                  <a:srgbClr val="333333"/>
                </a:solidFill>
                <a:latin typeface="Inter"/>
              </a:defRPr>
            </a:pPr>
            <a:r>
              <a:t>Planche droite (largeur)</a:t>
            </a:r>
          </a:p>
        </p:txBody>
      </p:sp>
      <p:sp>
        <p:nvSpPr>
          <p:cNvPr id="24" name="TextBox 23"/>
          <p:cNvSpPr txBox="1"/>
          <p:nvPr/>
        </p:nvSpPr>
        <p:spPr>
          <a:xfrm>
            <a:off x="7020000" y="2232000"/>
            <a:ext cx="2520000" cy="360000"/>
          </a:xfrm>
          <a:prstGeom prst="rect">
            <a:avLst/>
          </a:prstGeom>
          <a:noFill/>
        </p:spPr>
        <p:txBody>
          <a:bodyPr wrap="square">
            <a:spAutoFit/>
          </a:bodyPr>
          <a:lstStyle/>
          <a:p>
            <a:pPr algn="l">
              <a:defRPr sz="800" b="0">
                <a:solidFill>
                  <a:srgbClr val="666666"/>
                </a:solidFill>
                <a:latin typeface="Inter"/>
              </a:defRPr>
            </a:pPr>
            <a:r>
              <a:t>77,5 × 38 cm</a:t>
            </a:r>
          </a:p>
        </p:txBody>
      </p:sp>
      <p:sp>
        <p:nvSpPr>
          <p:cNvPr id="25" name="Rounded Rectangle 24"/>
          <p:cNvSpPr/>
          <p:nvPr/>
        </p:nvSpPr>
        <p:spPr>
          <a:xfrm>
            <a:off x="540000" y="2808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8000" y="2988000"/>
            <a:ext cx="648000" cy="540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8000" y="3096000"/>
            <a:ext cx="648000" cy="360000"/>
          </a:xfrm>
          <a:prstGeom prst="rect">
            <a:avLst/>
          </a:prstGeom>
          <a:noFill/>
        </p:spPr>
        <p:txBody>
          <a:bodyPr wrap="square">
            <a:spAutoFit/>
          </a:bodyPr>
          <a:lstStyle/>
          <a:p>
            <a:pPr algn="ctr">
              <a:defRPr sz="1200" b="1">
                <a:solidFill>
                  <a:srgbClr val="FFFFFF"/>
                </a:solidFill>
                <a:latin typeface="Inter"/>
              </a:defRPr>
            </a:pPr>
            <a:r>
              <a:t>A5</a:t>
            </a:r>
          </a:p>
        </p:txBody>
      </p:sp>
      <p:sp>
        <p:nvSpPr>
          <p:cNvPr id="28" name="TextBox 27"/>
          <p:cNvSpPr txBox="1"/>
          <p:nvPr/>
        </p:nvSpPr>
        <p:spPr>
          <a:xfrm>
            <a:off x="1440000" y="2916000"/>
            <a:ext cx="2520000" cy="360000"/>
          </a:xfrm>
          <a:prstGeom prst="rect">
            <a:avLst/>
          </a:prstGeom>
          <a:noFill/>
        </p:spPr>
        <p:txBody>
          <a:bodyPr wrap="square">
            <a:spAutoFit/>
          </a:bodyPr>
          <a:lstStyle/>
          <a:p>
            <a:pPr algn="l">
              <a:defRPr sz="1000" b="1">
                <a:solidFill>
                  <a:srgbClr val="333333"/>
                </a:solidFill>
                <a:latin typeface="Inter"/>
              </a:defRPr>
            </a:pPr>
            <a:r>
              <a:t>Planche gauche (largeur)</a:t>
            </a:r>
          </a:p>
        </p:txBody>
      </p:sp>
      <p:sp>
        <p:nvSpPr>
          <p:cNvPr id="29" name="TextBox 28"/>
          <p:cNvSpPr txBox="1"/>
          <p:nvPr/>
        </p:nvSpPr>
        <p:spPr>
          <a:xfrm>
            <a:off x="1440000" y="3240000"/>
            <a:ext cx="2520000" cy="360000"/>
          </a:xfrm>
          <a:prstGeom prst="rect">
            <a:avLst/>
          </a:prstGeom>
          <a:noFill/>
        </p:spPr>
        <p:txBody>
          <a:bodyPr wrap="square">
            <a:spAutoFit/>
          </a:bodyPr>
          <a:lstStyle/>
          <a:p>
            <a:pPr algn="l">
              <a:defRPr sz="800" b="0">
                <a:solidFill>
                  <a:srgbClr val="666666"/>
                </a:solidFill>
                <a:latin typeface="Inter"/>
              </a:defRPr>
            </a:pPr>
            <a:r>
              <a:t>77,5 × 38 cm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180000"/>
            <a:ext cx="9000000" cy="540000"/>
          </a:xfrm>
          <a:prstGeom prst="rect">
            <a:avLst/>
          </a:prstGeom>
          <a:noFill/>
        </p:spPr>
        <p:txBody>
          <a:bodyPr wrap="square">
            <a:spAutoFit/>
          </a:bodyPr>
          <a:lstStyle/>
          <a:p>
            <a:pPr algn="l">
              <a:defRPr sz="1800" b="1">
                <a:solidFill>
                  <a:srgbClr val="2B5EA7"/>
                </a:solidFill>
                <a:latin typeface="Inter"/>
              </a:defRPr>
            </a:pPr>
            <a:r>
              <a:t>Étapes de montage — Base extérieure</a:t>
            </a:r>
          </a:p>
        </p:txBody>
      </p:sp>
      <p:sp>
        <p:nvSpPr>
          <p:cNvPr id="3" name="Oval 2"/>
          <p:cNvSpPr/>
          <p:nvPr/>
        </p:nvSpPr>
        <p:spPr>
          <a:xfrm>
            <a:off x="540000" y="864000"/>
            <a:ext cx="432000" cy="432000"/>
          </a:xfrm>
          <a:prstGeom prst="ellipse">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latin typeface="Inter"/>
              </a:defRPr>
            </a:pPr>
            <a:r>
              <a:t>1</a:t>
            </a:r>
          </a:p>
        </p:txBody>
      </p:sp>
      <p:sp>
        <p:nvSpPr>
          <p:cNvPr id="4" name="TextBox 3"/>
          <p:cNvSpPr txBox="1"/>
          <p:nvPr/>
        </p:nvSpPr>
        <p:spPr>
          <a:xfrm>
            <a:off x="1152000" y="792000"/>
            <a:ext cx="10080000" cy="360000"/>
          </a:xfrm>
          <a:prstGeom prst="rect">
            <a:avLst/>
          </a:prstGeom>
          <a:noFill/>
        </p:spPr>
        <p:txBody>
          <a:bodyPr wrap="square">
            <a:spAutoFit/>
          </a:bodyPr>
          <a:lstStyle/>
          <a:p>
            <a:pPr algn="l">
              <a:defRPr sz="1300" b="1">
                <a:solidFill>
                  <a:srgbClr val="333333"/>
                </a:solidFill>
                <a:latin typeface="Inter"/>
              </a:defRPr>
            </a:pPr>
            <a:r>
              <a:t>Poser la planche sol [A1]</a:t>
            </a:r>
          </a:p>
        </p:txBody>
      </p:sp>
      <p:sp>
        <p:nvSpPr>
          <p:cNvPr id="5" name="TextBox 4"/>
          <p:cNvSpPr txBox="1"/>
          <p:nvPr/>
        </p:nvSpPr>
        <p:spPr>
          <a:xfrm>
            <a:off x="1152000" y="1224000"/>
            <a:ext cx="10080000" cy="792000"/>
          </a:xfrm>
          <a:prstGeom prst="rect">
            <a:avLst/>
          </a:prstGeom>
          <a:noFill/>
        </p:spPr>
        <p:txBody>
          <a:bodyPr wrap="square">
            <a:spAutoFit/>
          </a:bodyPr>
          <a:lstStyle/>
          <a:p>
            <a:pPr algn="l">
              <a:defRPr sz="1000" b="0">
                <a:solidFill>
                  <a:srgbClr val="666666"/>
                </a:solidFill>
                <a:latin typeface="Inter"/>
              </a:defRPr>
            </a:pPr>
            <a:r>
              <a:t>Place la planche sol à plat sur ton plan de travail. Attention : cette planche a une encoche pour le passage de roue — vérifie l'orientation avant de continuer.</a:t>
            </a:r>
          </a:p>
        </p:txBody>
      </p:sp>
      <p:sp>
        <p:nvSpPr>
          <p:cNvPr id="6" name="Rectangle 5"/>
          <p:cNvSpPr/>
          <p:nvPr/>
        </p:nvSpPr>
        <p:spPr>
          <a:xfrm>
            <a:off x="1152000" y="2088000"/>
            <a:ext cx="10080000" cy="635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0000" y="2232000"/>
            <a:ext cx="432000" cy="432000"/>
          </a:xfrm>
          <a:prstGeom prst="ellipse">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latin typeface="Inter"/>
              </a:defRPr>
            </a:pPr>
            <a:r>
              <a:t>2</a:t>
            </a:r>
          </a:p>
        </p:txBody>
      </p:sp>
      <p:sp>
        <p:nvSpPr>
          <p:cNvPr id="8" name="TextBox 7"/>
          <p:cNvSpPr txBox="1"/>
          <p:nvPr/>
        </p:nvSpPr>
        <p:spPr>
          <a:xfrm>
            <a:off x="1152000" y="2160000"/>
            <a:ext cx="10080000" cy="360000"/>
          </a:xfrm>
          <a:prstGeom prst="rect">
            <a:avLst/>
          </a:prstGeom>
          <a:noFill/>
        </p:spPr>
        <p:txBody>
          <a:bodyPr wrap="square">
            <a:spAutoFit/>
          </a:bodyPr>
          <a:lstStyle/>
          <a:p>
            <a:pPr algn="l">
              <a:defRPr sz="1300" b="1">
                <a:solidFill>
                  <a:srgbClr val="333333"/>
                </a:solidFill>
                <a:latin typeface="Inter"/>
              </a:defRPr>
            </a:pPr>
            <a:r>
              <a:t>Monter les côtés [A4] et [A5]</a:t>
            </a:r>
          </a:p>
        </p:txBody>
      </p:sp>
      <p:sp>
        <p:nvSpPr>
          <p:cNvPr id="9" name="TextBox 8"/>
          <p:cNvSpPr txBox="1"/>
          <p:nvPr/>
        </p:nvSpPr>
        <p:spPr>
          <a:xfrm>
            <a:off x="1152000" y="2592000"/>
            <a:ext cx="10080000" cy="792000"/>
          </a:xfrm>
          <a:prstGeom prst="rect">
            <a:avLst/>
          </a:prstGeom>
          <a:noFill/>
        </p:spPr>
        <p:txBody>
          <a:bodyPr wrap="square">
            <a:spAutoFit/>
          </a:bodyPr>
          <a:lstStyle/>
          <a:p>
            <a:pPr algn="l">
              <a:defRPr sz="1000" b="0">
                <a:solidFill>
                  <a:srgbClr val="666666"/>
                </a:solidFill>
                <a:latin typeface="Inter"/>
              </a:defRPr>
            </a:pPr>
            <a:r>
              <a:t>Visse les planches droite et gauche verticalement sur les bords latéraux de la planche sol. Pré-perce à 3 mm, puis 4 vis CP 4×40 mm par côté depuis le dessous.</a:t>
            </a:r>
          </a:p>
        </p:txBody>
      </p:sp>
      <p:sp>
        <p:nvSpPr>
          <p:cNvPr id="10" name="Rectangle 9"/>
          <p:cNvSpPr/>
          <p:nvPr/>
        </p:nvSpPr>
        <p:spPr>
          <a:xfrm>
            <a:off x="1152000" y="3456000"/>
            <a:ext cx="10080000" cy="635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0000" y="3600000"/>
            <a:ext cx="432000" cy="432000"/>
          </a:xfrm>
          <a:prstGeom prst="ellipse">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latin typeface="Inter"/>
              </a:defRPr>
            </a:pPr>
            <a:r>
              <a:t>3</a:t>
            </a:r>
          </a:p>
        </p:txBody>
      </p:sp>
      <p:sp>
        <p:nvSpPr>
          <p:cNvPr id="12" name="TextBox 11"/>
          <p:cNvSpPr txBox="1"/>
          <p:nvPr/>
        </p:nvSpPr>
        <p:spPr>
          <a:xfrm>
            <a:off x="1152000" y="3528000"/>
            <a:ext cx="10080000" cy="360000"/>
          </a:xfrm>
          <a:prstGeom prst="rect">
            <a:avLst/>
          </a:prstGeom>
          <a:noFill/>
        </p:spPr>
        <p:txBody>
          <a:bodyPr wrap="square">
            <a:spAutoFit/>
          </a:bodyPr>
          <a:lstStyle/>
          <a:p>
            <a:pPr algn="l">
              <a:defRPr sz="1300" b="1">
                <a:solidFill>
                  <a:srgbClr val="333333"/>
                </a:solidFill>
                <a:latin typeface="Inter"/>
              </a:defRPr>
            </a:pPr>
            <a:r>
              <a:t>Fixer le fond [A2]</a:t>
            </a:r>
          </a:p>
        </p:txBody>
      </p:sp>
      <p:sp>
        <p:nvSpPr>
          <p:cNvPr id="13" name="TextBox 12"/>
          <p:cNvSpPr txBox="1"/>
          <p:nvPr/>
        </p:nvSpPr>
        <p:spPr>
          <a:xfrm>
            <a:off x="1152000" y="3960000"/>
            <a:ext cx="10080000" cy="792000"/>
          </a:xfrm>
          <a:prstGeom prst="rect">
            <a:avLst/>
          </a:prstGeom>
          <a:noFill/>
        </p:spPr>
        <p:txBody>
          <a:bodyPr wrap="square">
            <a:spAutoFit/>
          </a:bodyPr>
          <a:lstStyle/>
          <a:p>
            <a:pPr algn="l">
              <a:defRPr sz="1000" b="0">
                <a:solidFill>
                  <a:srgbClr val="666666"/>
                </a:solidFill>
                <a:latin typeface="Inter"/>
              </a:defRPr>
            </a:pPr>
            <a:r>
              <a:t>Glisse la planche fond longueur à l'arrière entre les deux côtés. Visse dans les chants des côtés — 4 vis 3,5×30 mm par côté + 3 vis dans le chant arrière de la planche sol.</a:t>
            </a:r>
          </a:p>
        </p:txBody>
      </p:sp>
      <p:sp>
        <p:nvSpPr>
          <p:cNvPr id="14" name="Rectangle 13"/>
          <p:cNvSpPr/>
          <p:nvPr/>
        </p:nvSpPr>
        <p:spPr>
          <a:xfrm>
            <a:off x="1152000" y="4824000"/>
            <a:ext cx="10080000" cy="635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40000" y="4968000"/>
            <a:ext cx="432000" cy="432000"/>
          </a:xfrm>
          <a:prstGeom prst="ellipse">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latin typeface="Inter"/>
              </a:defRPr>
            </a:pPr>
            <a:r>
              <a:t>4</a:t>
            </a:r>
          </a:p>
        </p:txBody>
      </p:sp>
      <p:sp>
        <p:nvSpPr>
          <p:cNvPr id="16" name="TextBox 15"/>
          <p:cNvSpPr txBox="1"/>
          <p:nvPr/>
        </p:nvSpPr>
        <p:spPr>
          <a:xfrm>
            <a:off x="1152000" y="4896000"/>
            <a:ext cx="10080000" cy="360000"/>
          </a:xfrm>
          <a:prstGeom prst="rect">
            <a:avLst/>
          </a:prstGeom>
          <a:noFill/>
        </p:spPr>
        <p:txBody>
          <a:bodyPr wrap="square">
            <a:spAutoFit/>
          </a:bodyPr>
          <a:lstStyle/>
          <a:p>
            <a:pPr algn="l">
              <a:defRPr sz="1300" b="1">
                <a:solidFill>
                  <a:srgbClr val="333333"/>
                </a:solidFill>
                <a:latin typeface="Inter"/>
              </a:defRPr>
            </a:pPr>
            <a:r>
              <a:t>Fermer avec la face [A3]</a:t>
            </a:r>
          </a:p>
        </p:txBody>
      </p:sp>
      <p:sp>
        <p:nvSpPr>
          <p:cNvPr id="17" name="TextBox 16"/>
          <p:cNvSpPr txBox="1"/>
          <p:nvPr/>
        </p:nvSpPr>
        <p:spPr>
          <a:xfrm>
            <a:off x="1152000" y="5328000"/>
            <a:ext cx="10080000" cy="792000"/>
          </a:xfrm>
          <a:prstGeom prst="rect">
            <a:avLst/>
          </a:prstGeom>
          <a:noFill/>
        </p:spPr>
        <p:txBody>
          <a:bodyPr wrap="square">
            <a:spAutoFit/>
          </a:bodyPr>
          <a:lstStyle/>
          <a:p>
            <a:pPr algn="l">
              <a:defRPr sz="1000" b="0">
                <a:solidFill>
                  <a:srgbClr val="666666"/>
                </a:solidFill>
                <a:latin typeface="Inter"/>
              </a:defRPr>
            </a:pPr>
            <a:r>
              <a:t>Fixe la planche face longueur à l'avant, symétrique au fond. Mêmes vis que l'étape 3. Vérifie l'équerrage (diagonales) avant de serrer définitivement.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0000" y="360000"/>
            <a:ext cx="1800000" cy="432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60000"/>
            <a:ext cx="1800000" cy="432000"/>
          </a:xfrm>
          <a:prstGeom prst="rect">
            <a:avLst/>
          </a:prstGeom>
          <a:noFill/>
        </p:spPr>
        <p:txBody>
          <a:bodyPr wrap="square">
            <a:spAutoFit/>
          </a:bodyPr>
          <a:lstStyle/>
          <a:p>
            <a:pPr algn="ctr">
              <a:defRPr sz="1100" b="1">
                <a:solidFill>
                  <a:srgbClr val="FFFFFF"/>
                </a:solidFill>
                <a:latin typeface="Inter"/>
              </a:defRPr>
            </a:pPr>
            <a:r>
              <a:t>BLOC 2/5</a:t>
            </a:r>
          </a:p>
        </p:txBody>
      </p:sp>
      <p:sp>
        <p:nvSpPr>
          <p:cNvPr id="4" name="TextBox 3"/>
          <p:cNvSpPr txBox="1"/>
          <p:nvPr/>
        </p:nvSpPr>
        <p:spPr>
          <a:xfrm>
            <a:off x="540000" y="1080000"/>
            <a:ext cx="7200000" cy="900000"/>
          </a:xfrm>
          <a:prstGeom prst="rect">
            <a:avLst/>
          </a:prstGeom>
          <a:noFill/>
        </p:spPr>
        <p:txBody>
          <a:bodyPr wrap="square">
            <a:spAutoFit/>
          </a:bodyPr>
          <a:lstStyle/>
          <a:p>
            <a:pPr algn="l">
              <a:defRPr sz="3200" b="1">
                <a:solidFill>
                  <a:srgbClr val="2B5EA7"/>
                </a:solidFill>
                <a:latin typeface="Inter"/>
              </a:defRPr>
            </a:pPr>
            <a:r>
              <a:t>Ossature carrelets</a:t>
            </a:r>
          </a:p>
        </p:txBody>
      </p:sp>
      <p:sp>
        <p:nvSpPr>
          <p:cNvPr id="5" name="TextBox 4"/>
          <p:cNvSpPr txBox="1"/>
          <p:nvPr/>
        </p:nvSpPr>
        <p:spPr>
          <a:xfrm>
            <a:off x="540000" y="1980000"/>
            <a:ext cx="7200000" cy="540000"/>
          </a:xfrm>
          <a:prstGeom prst="rect">
            <a:avLst/>
          </a:prstGeom>
          <a:noFill/>
        </p:spPr>
        <p:txBody>
          <a:bodyPr wrap="square">
            <a:spAutoFit/>
          </a:bodyPr>
          <a:lstStyle/>
          <a:p>
            <a:pPr algn="l">
              <a:defRPr sz="1400" b="0">
                <a:solidFill>
                  <a:srgbClr val="666666"/>
                </a:solidFill>
                <a:latin typeface="Inter"/>
              </a:defRPr>
            </a:pPr>
            <a:r>
              <a:t>Structure interne — 24 carrelets 15×15 mm qui rigidifient le caisson</a:t>
            </a:r>
          </a:p>
        </p:txBody>
      </p:sp>
      <p:sp>
        <p:nvSpPr>
          <p:cNvPr id="6" name="Rounded Rectangle 5"/>
          <p:cNvSpPr/>
          <p:nvPr/>
        </p:nvSpPr>
        <p:spPr>
          <a:xfrm>
            <a:off x="540000" y="3240000"/>
            <a:ext cx="2520000" cy="12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3384000"/>
            <a:ext cx="2520000" cy="360000"/>
          </a:xfrm>
          <a:prstGeom prst="rect">
            <a:avLst/>
          </a:prstGeom>
          <a:noFill/>
        </p:spPr>
        <p:txBody>
          <a:bodyPr wrap="square">
            <a:spAutoFit/>
          </a:bodyPr>
          <a:lstStyle/>
          <a:p>
            <a:pPr algn="ctr">
              <a:defRPr sz="900" b="0">
                <a:solidFill>
                  <a:srgbClr val="666666"/>
                </a:solidFill>
                <a:latin typeface="Inter"/>
              </a:defRPr>
            </a:pPr>
            <a:r>
              <a:t>Encombrement</a:t>
            </a:r>
          </a:p>
        </p:txBody>
      </p:sp>
      <p:sp>
        <p:nvSpPr>
          <p:cNvPr id="8" name="TextBox 7"/>
          <p:cNvSpPr txBox="1"/>
          <p:nvPr/>
        </p:nvSpPr>
        <p:spPr>
          <a:xfrm>
            <a:off x="540000" y="3743999"/>
            <a:ext cx="2520000" cy="540000"/>
          </a:xfrm>
          <a:prstGeom prst="rect">
            <a:avLst/>
          </a:prstGeom>
          <a:noFill/>
        </p:spPr>
        <p:txBody>
          <a:bodyPr wrap="square">
            <a:spAutoFit/>
          </a:bodyPr>
          <a:lstStyle/>
          <a:p>
            <a:pPr algn="ctr">
              <a:defRPr sz="1600" b="1">
                <a:solidFill>
                  <a:srgbClr val="333333"/>
                </a:solidFill>
                <a:latin typeface="Inter"/>
              </a:defRPr>
            </a:pPr>
            <a:r>
              <a:t>187 × 74,5 × 35 cm</a:t>
            </a:r>
          </a:p>
        </p:txBody>
      </p:sp>
      <p:sp>
        <p:nvSpPr>
          <p:cNvPr id="9" name="Rounded Rectangle 8"/>
          <p:cNvSpPr/>
          <p:nvPr/>
        </p:nvSpPr>
        <p:spPr>
          <a:xfrm>
            <a:off x="3240000" y="3240000"/>
            <a:ext cx="2520000" cy="12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0000" y="3384000"/>
            <a:ext cx="2520000" cy="360000"/>
          </a:xfrm>
          <a:prstGeom prst="rect">
            <a:avLst/>
          </a:prstGeom>
          <a:noFill/>
        </p:spPr>
        <p:txBody>
          <a:bodyPr wrap="square">
            <a:spAutoFit/>
          </a:bodyPr>
          <a:lstStyle/>
          <a:p>
            <a:pPr algn="ctr">
              <a:defRPr sz="900" b="0">
                <a:solidFill>
                  <a:srgbClr val="666666"/>
                </a:solidFill>
                <a:latin typeface="Inter"/>
              </a:defRPr>
            </a:pPr>
            <a:r>
              <a:t>Matière</a:t>
            </a:r>
          </a:p>
        </p:txBody>
      </p:sp>
      <p:sp>
        <p:nvSpPr>
          <p:cNvPr id="11" name="TextBox 10"/>
          <p:cNvSpPr txBox="1"/>
          <p:nvPr/>
        </p:nvSpPr>
        <p:spPr>
          <a:xfrm>
            <a:off x="3240000" y="3743999"/>
            <a:ext cx="2520000" cy="540000"/>
          </a:xfrm>
          <a:prstGeom prst="rect">
            <a:avLst/>
          </a:prstGeom>
          <a:noFill/>
        </p:spPr>
        <p:txBody>
          <a:bodyPr wrap="square">
            <a:spAutoFit/>
          </a:bodyPr>
          <a:lstStyle/>
          <a:p>
            <a:pPr algn="ctr">
              <a:defRPr sz="1600" b="1">
                <a:solidFill>
                  <a:srgbClr val="333333"/>
                </a:solidFill>
                <a:latin typeface="Inter"/>
              </a:defRPr>
            </a:pPr>
            <a:r>
              <a:t>CP peuplier 15 mm</a:t>
            </a:r>
          </a:p>
        </p:txBody>
      </p:sp>
      <p:sp>
        <p:nvSpPr>
          <p:cNvPr id="12" name="Rounded Rectangle 11"/>
          <p:cNvSpPr/>
          <p:nvPr/>
        </p:nvSpPr>
        <p:spPr>
          <a:xfrm>
            <a:off x="5940000" y="3240000"/>
            <a:ext cx="2520000" cy="12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0000" y="3384000"/>
            <a:ext cx="2520000" cy="360000"/>
          </a:xfrm>
          <a:prstGeom prst="rect">
            <a:avLst/>
          </a:prstGeom>
          <a:noFill/>
        </p:spPr>
        <p:txBody>
          <a:bodyPr wrap="square">
            <a:spAutoFit/>
          </a:bodyPr>
          <a:lstStyle/>
          <a:p>
            <a:pPr algn="ctr">
              <a:defRPr sz="900" b="0">
                <a:solidFill>
                  <a:srgbClr val="666666"/>
                </a:solidFill>
                <a:latin typeface="Inter"/>
              </a:defRPr>
            </a:pPr>
            <a:r>
              <a:t>Panneaux à découper</a:t>
            </a:r>
          </a:p>
        </p:txBody>
      </p:sp>
      <p:sp>
        <p:nvSpPr>
          <p:cNvPr id="14" name="TextBox 13"/>
          <p:cNvSpPr txBox="1"/>
          <p:nvPr/>
        </p:nvSpPr>
        <p:spPr>
          <a:xfrm>
            <a:off x="5940000" y="3743999"/>
            <a:ext cx="2520000" cy="540000"/>
          </a:xfrm>
          <a:prstGeom prst="rect">
            <a:avLst/>
          </a:prstGeom>
          <a:noFill/>
        </p:spPr>
        <p:txBody>
          <a:bodyPr wrap="square">
            <a:spAutoFit/>
          </a:bodyPr>
          <a:lstStyle/>
          <a:p>
            <a:pPr algn="ctr">
              <a:defRPr sz="1600" b="1">
                <a:solidFill>
                  <a:srgbClr val="333333"/>
                </a:solidFill>
                <a:latin typeface="Inter"/>
              </a:defRPr>
            </a:pPr>
            <a:r>
              <a:t>0</a:t>
            </a:r>
          </a:p>
        </p:txBody>
      </p:sp>
      <p:sp>
        <p:nvSpPr>
          <p:cNvPr id="15" name="Rounded Rectangle 14"/>
          <p:cNvSpPr/>
          <p:nvPr/>
        </p:nvSpPr>
        <p:spPr>
          <a:xfrm>
            <a:off x="8640000" y="3240000"/>
            <a:ext cx="2520000" cy="12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0000" y="3384000"/>
            <a:ext cx="2520000" cy="360000"/>
          </a:xfrm>
          <a:prstGeom prst="rect">
            <a:avLst/>
          </a:prstGeom>
          <a:noFill/>
        </p:spPr>
        <p:txBody>
          <a:bodyPr wrap="square">
            <a:spAutoFit/>
          </a:bodyPr>
          <a:lstStyle/>
          <a:p>
            <a:pPr algn="ctr">
              <a:defRPr sz="900" b="0">
                <a:solidFill>
                  <a:srgbClr val="666666"/>
                </a:solidFill>
                <a:latin typeface="Inter"/>
              </a:defRPr>
            </a:pPr>
            <a:r>
              <a:t>Carrelets 15 × 15 mm</a:t>
            </a:r>
          </a:p>
        </p:txBody>
      </p:sp>
      <p:sp>
        <p:nvSpPr>
          <p:cNvPr id="17" name="TextBox 16"/>
          <p:cNvSpPr txBox="1"/>
          <p:nvPr/>
        </p:nvSpPr>
        <p:spPr>
          <a:xfrm>
            <a:off x="8640000" y="3743999"/>
            <a:ext cx="2520000" cy="540000"/>
          </a:xfrm>
          <a:prstGeom prst="rect">
            <a:avLst/>
          </a:prstGeom>
          <a:noFill/>
        </p:spPr>
        <p:txBody>
          <a:bodyPr wrap="square">
            <a:spAutoFit/>
          </a:bodyPr>
          <a:lstStyle/>
          <a:p>
            <a:pPr algn="ctr">
              <a:defRPr sz="1600" b="1">
                <a:solidFill>
                  <a:srgbClr val="333333"/>
                </a:solidFill>
                <a:latin typeface="Inter"/>
              </a:defRPr>
            </a:pPr>
            <a:r>
              <a:t>24</a:t>
            </a:r>
          </a:p>
        </p:txBody>
      </p:sp>
      <p:sp>
        <p:nvSpPr>
          <p:cNvPr id="18" name="TextBox 17"/>
          <p:cNvSpPr txBox="1"/>
          <p:nvPr/>
        </p:nvSpPr>
        <p:spPr>
          <a:xfrm>
            <a:off x="540000" y="6300000"/>
            <a:ext cx="10800000" cy="360000"/>
          </a:xfrm>
          <a:prstGeom prst="rect">
            <a:avLst/>
          </a:prstGeom>
          <a:noFill/>
        </p:spPr>
        <p:txBody>
          <a:bodyPr wrap="square">
            <a:spAutoFit/>
          </a:bodyPr>
          <a:lstStyle/>
          <a:p>
            <a:pPr algn="ctr">
              <a:defRPr sz="800" b="0">
                <a:solidFill>
                  <a:srgbClr val="AAAAAA"/>
                </a:solidFill>
                <a:latin typeface="Inter"/>
              </a:defRPr>
            </a:pPr>
            <a:r>
              <a:t>Guide VBA Construction — Bloc Lit Peigne — vanzonexplorer.com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288000"/>
            <a:ext cx="7200000" cy="540000"/>
          </a:xfrm>
          <a:prstGeom prst="rect">
            <a:avLst/>
          </a:prstGeom>
          <a:noFill/>
        </p:spPr>
        <p:txBody>
          <a:bodyPr wrap="square">
            <a:spAutoFit/>
          </a:bodyPr>
          <a:lstStyle/>
          <a:p>
            <a:pPr algn="l">
              <a:defRPr sz="2200" b="1">
                <a:solidFill>
                  <a:srgbClr val="2B5EA7"/>
                </a:solidFill>
                <a:latin typeface="Inter"/>
              </a:defRPr>
            </a:pPr>
            <a:r>
              <a:t>Liste de débit — Ossature (carrelets structure)</a:t>
            </a:r>
          </a:p>
        </p:txBody>
      </p:sp>
      <p:graphicFrame>
        <p:nvGraphicFramePr>
          <p:cNvPr id="3" name="Table 2"/>
          <p:cNvGraphicFramePr>
            <a:graphicFrameLocks noGrp="1"/>
          </p:cNvGraphicFramePr>
          <p:nvPr/>
        </p:nvGraphicFramePr>
        <p:xfrm>
          <a:off x="540000" y="900000"/>
          <a:ext cx="10800000" cy="4787981"/>
        </p:xfrm>
        <a:graphic>
          <a:graphicData uri="http://schemas.openxmlformats.org/drawingml/2006/table">
            <a:tbl>
              <a:tblPr firstRow="1" bandRow="1">
                <a:tableStyleId>{5C22544A-7EE6-4342-B048-85BDC9FD1C3A}</a:tableStyleId>
              </a:tblPr>
              <a:tblGrid>
                <a:gridCol w="1080000"/>
                <a:gridCol w="5040000"/>
                <a:gridCol w="2880000"/>
                <a:gridCol w="1800000"/>
              </a:tblGrid>
              <a:tr h="251999">
                <a:tc>
                  <a:txBody>
                    <a:bodyPr/>
                    <a:lstStyle/>
                    <a:p>
                      <a:pPr algn="ctr">
                        <a:defRPr sz="1000" b="1">
                          <a:solidFill>
                            <a:srgbClr val="FFFFFF"/>
                          </a:solidFill>
                          <a:latin typeface="Inter"/>
                        </a:defRPr>
                      </a:pPr>
                      <a:r>
                        <a:t>Rép.</a:t>
                      </a:r>
                    </a:p>
                  </a:txBody>
                  <a:tcPr>
                    <a:solidFill>
                      <a:srgbClr val="B9945F"/>
                    </a:solidFill>
                  </a:tcPr>
                </a:tc>
                <a:tc>
                  <a:txBody>
                    <a:bodyPr/>
                    <a:lstStyle/>
                    <a:p>
                      <a:pPr algn="ctr">
                        <a:defRPr sz="1000" b="1">
                          <a:solidFill>
                            <a:srgbClr val="FFFFFF"/>
                          </a:solidFill>
                          <a:latin typeface="Inter"/>
                        </a:defRPr>
                      </a:pPr>
                      <a:r>
                        <a:t>Carrelet (15 × 15 mm)</a:t>
                      </a:r>
                    </a:p>
                  </a:txBody>
                  <a:tcPr>
                    <a:solidFill>
                      <a:srgbClr val="B9945F"/>
                    </a:solidFill>
                  </a:tcPr>
                </a:tc>
                <a:tc>
                  <a:txBody>
                    <a:bodyPr/>
                    <a:lstStyle/>
                    <a:p>
                      <a:pPr algn="ctr">
                        <a:defRPr sz="1000" b="1">
                          <a:solidFill>
                            <a:srgbClr val="FFFFFF"/>
                          </a:solidFill>
                          <a:latin typeface="Inter"/>
                        </a:defRPr>
                      </a:pPr>
                      <a:r>
                        <a:t>Longueur</a:t>
                      </a:r>
                    </a:p>
                  </a:txBody>
                  <a:tcPr>
                    <a:solidFill>
                      <a:srgbClr val="B9945F"/>
                    </a:solidFill>
                  </a:tcPr>
                </a:tc>
                <a:tc>
                  <a:txBody>
                    <a:bodyPr/>
                    <a:lstStyle/>
                    <a:p>
                      <a:pPr algn="ctr">
                        <a:defRPr sz="1000" b="1">
                          <a:solidFill>
                            <a:srgbClr val="FFFFFF"/>
                          </a:solidFill>
                          <a:latin typeface="Inter"/>
                        </a:defRPr>
                      </a:pPr>
                      <a:r>
                        <a:t>Qté</a:t>
                      </a:r>
                    </a:p>
                  </a:txBody>
                  <a:tcPr>
                    <a:solidFill>
                      <a:srgbClr val="B9945F"/>
                    </a:solidFill>
                  </a:tcPr>
                </a:tc>
              </a:tr>
              <a:tr h="251999">
                <a:tc>
                  <a:txBody>
                    <a:bodyPr/>
                    <a:lstStyle/>
                    <a:p>
                      <a:pPr algn="ctr">
                        <a:defRPr sz="800">
                          <a:solidFill>
                            <a:srgbClr val="333333"/>
                          </a:solidFill>
                          <a:latin typeface="Inter"/>
                        </a:defRPr>
                      </a:pPr>
                      <a:r>
                        <a:t>B1</a:t>
                      </a:r>
                    </a:p>
                  </a:txBody>
                  <a:tcPr>
                    <a:solidFill>
                      <a:srgbClr val="FFFFFF"/>
                    </a:solidFill>
                  </a:tcPr>
                </a:tc>
                <a:tc>
                  <a:txBody>
                    <a:bodyPr/>
                    <a:lstStyle/>
                    <a:p>
                      <a:pPr algn="ctr">
                        <a:defRPr sz="800">
                          <a:solidFill>
                            <a:srgbClr val="333333"/>
                          </a:solidFill>
                          <a:latin typeface="Inter"/>
                        </a:defRPr>
                      </a:pPr>
                      <a:r>
                        <a:t>Carrelet longueur haut gauche</a:t>
                      </a:r>
                    </a:p>
                  </a:txBody>
                  <a:tcPr>
                    <a:solidFill>
                      <a:srgbClr val="FFFFFF"/>
                    </a:solidFill>
                  </a:tcPr>
                </a:tc>
                <a:tc>
                  <a:txBody>
                    <a:bodyPr/>
                    <a:lstStyle/>
                    <a:p>
                      <a:pPr algn="ctr">
                        <a:defRPr sz="800">
                          <a:solidFill>
                            <a:srgbClr val="333333"/>
                          </a:solidFill>
                          <a:latin typeface="Inter"/>
                        </a:defRPr>
                      </a:pPr>
                      <a:r>
                        <a:t>187 cm</a:t>
                      </a:r>
                    </a:p>
                  </a:txBody>
                  <a:tcPr>
                    <a:solidFill>
                      <a:srgbClr val="FFFFFF"/>
                    </a:solidFill>
                  </a:tcPr>
                </a:tc>
                <a:tc>
                  <a:txBody>
                    <a:bodyPr/>
                    <a:lstStyle/>
                    <a:p>
                      <a:pPr algn="ctr">
                        <a:defRPr sz="800">
                          <a:solidFill>
                            <a:srgbClr val="333333"/>
                          </a:solidFill>
                          <a:latin typeface="Inter"/>
                        </a:defRPr>
                      </a:pPr>
                      <a:r>
                        <a:t>1</a:t>
                      </a:r>
                    </a:p>
                  </a:txBody>
                  <a:tcPr>
                    <a:solidFill>
                      <a:srgbClr val="FFFFFF"/>
                    </a:solidFill>
                  </a:tcPr>
                </a:tc>
              </a:tr>
              <a:tr h="251999">
                <a:tc>
                  <a:txBody>
                    <a:bodyPr/>
                    <a:lstStyle/>
                    <a:p>
                      <a:pPr algn="ctr">
                        <a:defRPr sz="800">
                          <a:solidFill>
                            <a:srgbClr val="333333"/>
                          </a:solidFill>
                          <a:latin typeface="Inter"/>
                        </a:defRPr>
                      </a:pPr>
                      <a:r>
                        <a:t>B2</a:t>
                      </a:r>
                    </a:p>
                  </a:txBody>
                  <a:tcPr>
                    <a:solidFill>
                      <a:srgbClr val="F5F5F5"/>
                    </a:solidFill>
                  </a:tcPr>
                </a:tc>
                <a:tc>
                  <a:txBody>
                    <a:bodyPr/>
                    <a:lstStyle/>
                    <a:p>
                      <a:pPr algn="ctr">
                        <a:defRPr sz="800">
                          <a:solidFill>
                            <a:srgbClr val="333333"/>
                          </a:solidFill>
                          <a:latin typeface="Inter"/>
                        </a:defRPr>
                      </a:pPr>
                      <a:r>
                        <a:t>Carrelet longueur face bas</a:t>
                      </a:r>
                    </a:p>
                  </a:txBody>
                  <a:tcPr>
                    <a:solidFill>
                      <a:srgbClr val="F5F5F5"/>
                    </a:solidFill>
                  </a:tcPr>
                </a:tc>
                <a:tc>
                  <a:txBody>
                    <a:bodyPr/>
                    <a:lstStyle/>
                    <a:p>
                      <a:pPr algn="ctr">
                        <a:defRPr sz="800">
                          <a:solidFill>
                            <a:srgbClr val="333333"/>
                          </a:solidFill>
                          <a:latin typeface="Inter"/>
                        </a:defRPr>
                      </a:pPr>
                      <a:r>
                        <a:t>187 cm</a:t>
                      </a:r>
                    </a:p>
                  </a:txBody>
                  <a:tcPr>
                    <a:solidFill>
                      <a:srgbClr val="F5F5F5"/>
                    </a:solidFill>
                  </a:tcPr>
                </a:tc>
                <a:tc>
                  <a:txBody>
                    <a:bodyPr/>
                    <a:lstStyle/>
                    <a:p>
                      <a:pPr algn="ctr">
                        <a:defRPr sz="800">
                          <a:solidFill>
                            <a:srgbClr val="333333"/>
                          </a:solidFill>
                          <a:latin typeface="Inter"/>
                        </a:defRPr>
                      </a:pPr>
                      <a:r>
                        <a:t>1</a:t>
                      </a:r>
                    </a:p>
                  </a:txBody>
                  <a:tcPr>
                    <a:solidFill>
                      <a:srgbClr val="F5F5F5"/>
                    </a:solidFill>
                  </a:tcPr>
                </a:tc>
              </a:tr>
              <a:tr h="251999">
                <a:tc>
                  <a:txBody>
                    <a:bodyPr/>
                    <a:lstStyle/>
                    <a:p>
                      <a:pPr algn="ctr">
                        <a:defRPr sz="800">
                          <a:solidFill>
                            <a:srgbClr val="333333"/>
                          </a:solidFill>
                          <a:latin typeface="Inter"/>
                        </a:defRPr>
                      </a:pPr>
                      <a:r>
                        <a:t>B3</a:t>
                      </a:r>
                    </a:p>
                  </a:txBody>
                  <a:tcPr>
                    <a:solidFill>
                      <a:srgbClr val="FFFFFF"/>
                    </a:solidFill>
                  </a:tcPr>
                </a:tc>
                <a:tc>
                  <a:txBody>
                    <a:bodyPr/>
                    <a:lstStyle/>
                    <a:p>
                      <a:pPr algn="ctr">
                        <a:defRPr sz="800">
                          <a:solidFill>
                            <a:srgbClr val="333333"/>
                          </a:solidFill>
                          <a:latin typeface="Inter"/>
                        </a:defRPr>
                      </a:pPr>
                      <a:r>
                        <a:t>Carrelet longueur fond bas droit</a:t>
                      </a:r>
                    </a:p>
                  </a:txBody>
                  <a:tcPr>
                    <a:solidFill>
                      <a:srgbClr val="FFFFFF"/>
                    </a:solidFill>
                  </a:tcPr>
                </a:tc>
                <a:tc>
                  <a:txBody>
                    <a:bodyPr/>
                    <a:lstStyle/>
                    <a:p>
                      <a:pPr algn="ctr">
                        <a:defRPr sz="800">
                          <a:solidFill>
                            <a:srgbClr val="333333"/>
                          </a:solidFill>
                          <a:latin typeface="Inter"/>
                        </a:defRPr>
                      </a:pPr>
                      <a:r>
                        <a:t>84,5 cm</a:t>
                      </a:r>
                    </a:p>
                  </a:txBody>
                  <a:tcPr>
                    <a:solidFill>
                      <a:srgbClr val="FFFFFF"/>
                    </a:solidFill>
                  </a:tcPr>
                </a:tc>
                <a:tc>
                  <a:txBody>
                    <a:bodyPr/>
                    <a:lstStyle/>
                    <a:p>
                      <a:pPr algn="ctr">
                        <a:defRPr sz="800">
                          <a:solidFill>
                            <a:srgbClr val="333333"/>
                          </a:solidFill>
                          <a:latin typeface="Inter"/>
                        </a:defRPr>
                      </a:pPr>
                      <a:r>
                        <a:t>1</a:t>
                      </a:r>
                    </a:p>
                  </a:txBody>
                  <a:tcPr>
                    <a:solidFill>
                      <a:srgbClr val="FFFFFF"/>
                    </a:solidFill>
                  </a:tcPr>
                </a:tc>
              </a:tr>
              <a:tr h="251999">
                <a:tc>
                  <a:txBody>
                    <a:bodyPr/>
                    <a:lstStyle/>
                    <a:p>
                      <a:pPr algn="ctr">
                        <a:defRPr sz="800">
                          <a:solidFill>
                            <a:srgbClr val="333333"/>
                          </a:solidFill>
                          <a:latin typeface="Inter"/>
                        </a:defRPr>
                      </a:pPr>
                      <a:r>
                        <a:t>B4</a:t>
                      </a:r>
                    </a:p>
                  </a:txBody>
                  <a:tcPr>
                    <a:solidFill>
                      <a:srgbClr val="F5F5F5"/>
                    </a:solidFill>
                  </a:tcPr>
                </a:tc>
                <a:tc>
                  <a:txBody>
                    <a:bodyPr/>
                    <a:lstStyle/>
                    <a:p>
                      <a:pPr algn="ctr">
                        <a:defRPr sz="800">
                          <a:solidFill>
                            <a:srgbClr val="333333"/>
                          </a:solidFill>
                          <a:latin typeface="Inter"/>
                        </a:defRPr>
                      </a:pPr>
                      <a:r>
                        <a:t>Carrelet longueur fond bas gauche</a:t>
                      </a:r>
                    </a:p>
                  </a:txBody>
                  <a:tcPr>
                    <a:solidFill>
                      <a:srgbClr val="F5F5F5"/>
                    </a:solidFill>
                  </a:tcPr>
                </a:tc>
                <a:tc>
                  <a:txBody>
                    <a:bodyPr/>
                    <a:lstStyle/>
                    <a:p>
                      <a:pPr algn="ctr">
                        <a:defRPr sz="800">
                          <a:solidFill>
                            <a:srgbClr val="333333"/>
                          </a:solidFill>
                          <a:latin typeface="Inter"/>
                        </a:defRPr>
                      </a:pPr>
                      <a:r>
                        <a:t>16,5 cm</a:t>
                      </a:r>
                    </a:p>
                  </a:txBody>
                  <a:tcPr>
                    <a:solidFill>
                      <a:srgbClr val="F5F5F5"/>
                    </a:solidFill>
                  </a:tcPr>
                </a:tc>
                <a:tc>
                  <a:txBody>
                    <a:bodyPr/>
                    <a:lstStyle/>
                    <a:p>
                      <a:pPr algn="ctr">
                        <a:defRPr sz="800">
                          <a:solidFill>
                            <a:srgbClr val="333333"/>
                          </a:solidFill>
                          <a:latin typeface="Inter"/>
                        </a:defRPr>
                      </a:pPr>
                      <a:r>
                        <a:t>1</a:t>
                      </a:r>
                    </a:p>
                  </a:txBody>
                  <a:tcPr>
                    <a:solidFill>
                      <a:srgbClr val="F5F5F5"/>
                    </a:solidFill>
                  </a:tcPr>
                </a:tc>
              </a:tr>
              <a:tr h="251999">
                <a:tc>
                  <a:txBody>
                    <a:bodyPr/>
                    <a:lstStyle/>
                    <a:p>
                      <a:pPr algn="ctr">
                        <a:defRPr sz="800">
                          <a:solidFill>
                            <a:srgbClr val="333333"/>
                          </a:solidFill>
                          <a:latin typeface="Inter"/>
                        </a:defRPr>
                      </a:pPr>
                      <a:r>
                        <a:t>B5</a:t>
                      </a:r>
                    </a:p>
                  </a:txBody>
                  <a:tcPr>
                    <a:solidFill>
                      <a:srgbClr val="FFFFFF"/>
                    </a:solidFill>
                  </a:tcPr>
                </a:tc>
                <a:tc>
                  <a:txBody>
                    <a:bodyPr/>
                    <a:lstStyle/>
                    <a:p>
                      <a:pPr algn="ctr">
                        <a:defRPr sz="800">
                          <a:solidFill>
                            <a:srgbClr val="333333"/>
                          </a:solidFill>
                          <a:latin typeface="Inter"/>
                        </a:defRPr>
                      </a:pPr>
                      <a:r>
                        <a:t>Carrelet largeur milieu haut</a:t>
                      </a:r>
                    </a:p>
                  </a:txBody>
                  <a:tcPr>
                    <a:solidFill>
                      <a:srgbClr val="FFFFFF"/>
                    </a:solidFill>
                  </a:tcPr>
                </a:tc>
                <a:tc>
                  <a:txBody>
                    <a:bodyPr/>
                    <a:lstStyle/>
                    <a:p>
                      <a:pPr algn="ctr">
                        <a:defRPr sz="800">
                          <a:solidFill>
                            <a:srgbClr val="333333"/>
                          </a:solidFill>
                          <a:latin typeface="Inter"/>
                        </a:defRPr>
                      </a:pPr>
                      <a:r>
                        <a:t>73 cm</a:t>
                      </a:r>
                    </a:p>
                  </a:txBody>
                  <a:tcPr>
                    <a:solidFill>
                      <a:srgbClr val="FFFFFF"/>
                    </a:solidFill>
                  </a:tcPr>
                </a:tc>
                <a:tc>
                  <a:txBody>
                    <a:bodyPr/>
                    <a:lstStyle/>
                    <a:p>
                      <a:pPr algn="ctr">
                        <a:defRPr sz="800">
                          <a:solidFill>
                            <a:srgbClr val="333333"/>
                          </a:solidFill>
                          <a:latin typeface="Inter"/>
                        </a:defRPr>
                      </a:pPr>
                      <a:r>
                        <a:t>1</a:t>
                      </a:r>
                    </a:p>
                  </a:txBody>
                  <a:tcPr>
                    <a:solidFill>
                      <a:srgbClr val="FFFFFF"/>
                    </a:solidFill>
                  </a:tcPr>
                </a:tc>
              </a:tr>
              <a:tr h="251999">
                <a:tc>
                  <a:txBody>
                    <a:bodyPr/>
                    <a:lstStyle/>
                    <a:p>
                      <a:pPr algn="ctr">
                        <a:defRPr sz="800">
                          <a:solidFill>
                            <a:srgbClr val="333333"/>
                          </a:solidFill>
                          <a:latin typeface="Inter"/>
                        </a:defRPr>
                      </a:pPr>
                      <a:r>
                        <a:t>B6</a:t>
                      </a:r>
                    </a:p>
                  </a:txBody>
                  <a:tcPr>
                    <a:solidFill>
                      <a:srgbClr val="F5F5F5"/>
                    </a:solidFill>
                  </a:tcPr>
                </a:tc>
                <a:tc>
                  <a:txBody>
                    <a:bodyPr/>
                    <a:lstStyle/>
                    <a:p>
                      <a:pPr algn="ctr">
                        <a:defRPr sz="800">
                          <a:solidFill>
                            <a:srgbClr val="333333"/>
                          </a:solidFill>
                          <a:latin typeface="Inter"/>
                        </a:defRPr>
                      </a:pPr>
                      <a:r>
                        <a:t>Carrelet largeur milieu haut 2</a:t>
                      </a:r>
                    </a:p>
                  </a:txBody>
                  <a:tcPr>
                    <a:solidFill>
                      <a:srgbClr val="F5F5F5"/>
                    </a:solidFill>
                  </a:tcPr>
                </a:tc>
                <a:tc>
                  <a:txBody>
                    <a:bodyPr/>
                    <a:lstStyle/>
                    <a:p>
                      <a:pPr algn="ctr">
                        <a:defRPr sz="800">
                          <a:solidFill>
                            <a:srgbClr val="333333"/>
                          </a:solidFill>
                          <a:latin typeface="Inter"/>
                        </a:defRPr>
                      </a:pPr>
                      <a:r>
                        <a:t>73 cm</a:t>
                      </a:r>
                    </a:p>
                  </a:txBody>
                  <a:tcPr>
                    <a:solidFill>
                      <a:srgbClr val="F5F5F5"/>
                    </a:solidFill>
                  </a:tcPr>
                </a:tc>
                <a:tc>
                  <a:txBody>
                    <a:bodyPr/>
                    <a:lstStyle/>
                    <a:p>
                      <a:pPr algn="ctr">
                        <a:defRPr sz="800">
                          <a:solidFill>
                            <a:srgbClr val="333333"/>
                          </a:solidFill>
                          <a:latin typeface="Inter"/>
                        </a:defRPr>
                      </a:pPr>
                      <a:r>
                        <a:t>1</a:t>
                      </a:r>
                    </a:p>
                  </a:txBody>
                  <a:tcPr>
                    <a:solidFill>
                      <a:srgbClr val="F5F5F5"/>
                    </a:solidFill>
                  </a:tcPr>
                </a:tc>
              </a:tr>
              <a:tr h="251999">
                <a:tc>
                  <a:txBody>
                    <a:bodyPr/>
                    <a:lstStyle/>
                    <a:p>
                      <a:pPr algn="ctr">
                        <a:defRPr sz="800">
                          <a:solidFill>
                            <a:srgbClr val="333333"/>
                          </a:solidFill>
                          <a:latin typeface="Inter"/>
                        </a:defRPr>
                      </a:pPr>
                      <a:r>
                        <a:t>B7</a:t>
                      </a:r>
                    </a:p>
                  </a:txBody>
                  <a:tcPr>
                    <a:solidFill>
                      <a:srgbClr val="FFFFFF"/>
                    </a:solidFill>
                  </a:tcPr>
                </a:tc>
                <a:tc>
                  <a:txBody>
                    <a:bodyPr/>
                    <a:lstStyle/>
                    <a:p>
                      <a:pPr algn="ctr">
                        <a:defRPr sz="800">
                          <a:solidFill>
                            <a:srgbClr val="333333"/>
                          </a:solidFill>
                          <a:latin typeface="Inter"/>
                        </a:defRPr>
                      </a:pPr>
                      <a:r>
                        <a:t>Carrelet largeur bas droite</a:t>
                      </a:r>
                    </a:p>
                  </a:txBody>
                  <a:tcPr>
                    <a:solidFill>
                      <a:srgbClr val="FFFFFF"/>
                    </a:solidFill>
                  </a:tcPr>
                </a:tc>
                <a:tc>
                  <a:txBody>
                    <a:bodyPr/>
                    <a:lstStyle/>
                    <a:p>
                      <a:pPr algn="ctr">
                        <a:defRPr sz="800">
                          <a:solidFill>
                            <a:srgbClr val="333333"/>
                          </a:solidFill>
                          <a:latin typeface="Inter"/>
                        </a:defRPr>
                      </a:pPr>
                      <a:r>
                        <a:t>71,5 cm</a:t>
                      </a:r>
                    </a:p>
                  </a:txBody>
                  <a:tcPr>
                    <a:solidFill>
                      <a:srgbClr val="FFFFFF"/>
                    </a:solidFill>
                  </a:tcPr>
                </a:tc>
                <a:tc>
                  <a:txBody>
                    <a:bodyPr/>
                    <a:lstStyle/>
                    <a:p>
                      <a:pPr algn="ctr">
                        <a:defRPr sz="800">
                          <a:solidFill>
                            <a:srgbClr val="333333"/>
                          </a:solidFill>
                          <a:latin typeface="Inter"/>
                        </a:defRPr>
                      </a:pPr>
                      <a:r>
                        <a:t>1</a:t>
                      </a:r>
                    </a:p>
                  </a:txBody>
                  <a:tcPr>
                    <a:solidFill>
                      <a:srgbClr val="FFFFFF"/>
                    </a:solidFill>
                  </a:tcPr>
                </a:tc>
              </a:tr>
              <a:tr h="251999">
                <a:tc>
                  <a:txBody>
                    <a:bodyPr/>
                    <a:lstStyle/>
                    <a:p>
                      <a:pPr algn="ctr">
                        <a:defRPr sz="800">
                          <a:solidFill>
                            <a:srgbClr val="333333"/>
                          </a:solidFill>
                          <a:latin typeface="Inter"/>
                        </a:defRPr>
                      </a:pPr>
                      <a:r>
                        <a:t>B8</a:t>
                      </a:r>
                    </a:p>
                  </a:txBody>
                  <a:tcPr>
                    <a:solidFill>
                      <a:srgbClr val="F5F5F5"/>
                    </a:solidFill>
                  </a:tcPr>
                </a:tc>
                <a:tc>
                  <a:txBody>
                    <a:bodyPr/>
                    <a:lstStyle/>
                    <a:p>
                      <a:pPr algn="ctr">
                        <a:defRPr sz="800">
                          <a:solidFill>
                            <a:srgbClr val="333333"/>
                          </a:solidFill>
                          <a:latin typeface="Inter"/>
                        </a:defRPr>
                      </a:pPr>
                      <a:r>
                        <a:t>Carrelet largeur 1</a:t>
                      </a:r>
                    </a:p>
                  </a:txBody>
                  <a:tcPr>
                    <a:solidFill>
                      <a:srgbClr val="F5F5F5"/>
                    </a:solidFill>
                  </a:tcPr>
                </a:tc>
                <a:tc>
                  <a:txBody>
                    <a:bodyPr/>
                    <a:lstStyle/>
                    <a:p>
                      <a:pPr algn="ctr">
                        <a:defRPr sz="800">
                          <a:solidFill>
                            <a:srgbClr val="333333"/>
                          </a:solidFill>
                          <a:latin typeface="Inter"/>
                        </a:defRPr>
                      </a:pPr>
                      <a:r>
                        <a:t>71,5 cm</a:t>
                      </a:r>
                    </a:p>
                  </a:txBody>
                  <a:tcPr>
                    <a:solidFill>
                      <a:srgbClr val="F5F5F5"/>
                    </a:solidFill>
                  </a:tcPr>
                </a:tc>
                <a:tc>
                  <a:txBody>
                    <a:bodyPr/>
                    <a:lstStyle/>
                    <a:p>
                      <a:pPr algn="ctr">
                        <a:defRPr sz="800">
                          <a:solidFill>
                            <a:srgbClr val="333333"/>
                          </a:solidFill>
                          <a:latin typeface="Inter"/>
                        </a:defRPr>
                      </a:pPr>
                      <a:r>
                        <a:t>1</a:t>
                      </a:r>
                    </a:p>
                  </a:txBody>
                  <a:tcPr>
                    <a:solidFill>
                      <a:srgbClr val="F5F5F5"/>
                    </a:solidFill>
                  </a:tcPr>
                </a:tc>
              </a:tr>
              <a:tr h="251999">
                <a:tc>
                  <a:txBody>
                    <a:bodyPr/>
                    <a:lstStyle/>
                    <a:p>
                      <a:pPr algn="ctr">
                        <a:defRPr sz="800">
                          <a:solidFill>
                            <a:srgbClr val="333333"/>
                          </a:solidFill>
                          <a:latin typeface="Inter"/>
                        </a:defRPr>
                      </a:pPr>
                      <a:r>
                        <a:t>B9</a:t>
                      </a:r>
                    </a:p>
                  </a:txBody>
                  <a:tcPr>
                    <a:solidFill>
                      <a:srgbClr val="FFFFFF"/>
                    </a:solidFill>
                  </a:tcPr>
                </a:tc>
                <a:tc>
                  <a:txBody>
                    <a:bodyPr/>
                    <a:lstStyle/>
                    <a:p>
                      <a:pPr algn="ctr">
                        <a:defRPr sz="800">
                          <a:solidFill>
                            <a:srgbClr val="333333"/>
                          </a:solidFill>
                          <a:latin typeface="Inter"/>
                        </a:defRPr>
                      </a:pPr>
                      <a:r>
                        <a:t>Carrelet largeur milieu bas 2</a:t>
                      </a:r>
                    </a:p>
                  </a:txBody>
                  <a:tcPr>
                    <a:solidFill>
                      <a:srgbClr val="FFFFFF"/>
                    </a:solidFill>
                  </a:tcPr>
                </a:tc>
                <a:tc>
                  <a:txBody>
                    <a:bodyPr/>
                    <a:lstStyle/>
                    <a:p>
                      <a:pPr algn="ctr">
                        <a:defRPr sz="800">
                          <a:solidFill>
                            <a:srgbClr val="333333"/>
                          </a:solidFill>
                          <a:latin typeface="Inter"/>
                        </a:defRPr>
                      </a:pPr>
                      <a:r>
                        <a:t>71,5 cm</a:t>
                      </a:r>
                    </a:p>
                  </a:txBody>
                  <a:tcPr>
                    <a:solidFill>
                      <a:srgbClr val="FFFFFF"/>
                    </a:solidFill>
                  </a:tcPr>
                </a:tc>
                <a:tc>
                  <a:txBody>
                    <a:bodyPr/>
                    <a:lstStyle/>
                    <a:p>
                      <a:pPr algn="ctr">
                        <a:defRPr sz="800">
                          <a:solidFill>
                            <a:srgbClr val="333333"/>
                          </a:solidFill>
                          <a:latin typeface="Inter"/>
                        </a:defRPr>
                      </a:pPr>
                      <a:r>
                        <a:t>1</a:t>
                      </a:r>
                    </a:p>
                  </a:txBody>
                  <a:tcPr>
                    <a:solidFill>
                      <a:srgbClr val="FFFFFF"/>
                    </a:solidFill>
                  </a:tcPr>
                </a:tc>
              </a:tr>
              <a:tr h="251999">
                <a:tc>
                  <a:txBody>
                    <a:bodyPr/>
                    <a:lstStyle/>
                    <a:p>
                      <a:pPr algn="ctr">
                        <a:defRPr sz="800">
                          <a:solidFill>
                            <a:srgbClr val="333333"/>
                          </a:solidFill>
                          <a:latin typeface="Inter"/>
                        </a:defRPr>
                      </a:pPr>
                      <a:r>
                        <a:t>B10</a:t>
                      </a:r>
                    </a:p>
                  </a:txBody>
                  <a:tcPr>
                    <a:solidFill>
                      <a:srgbClr val="F5F5F5"/>
                    </a:solidFill>
                  </a:tcPr>
                </a:tc>
                <a:tc>
                  <a:txBody>
                    <a:bodyPr/>
                    <a:lstStyle/>
                    <a:p>
                      <a:pPr algn="ctr">
                        <a:defRPr sz="800">
                          <a:solidFill>
                            <a:srgbClr val="333333"/>
                          </a:solidFill>
                          <a:latin typeface="Inter"/>
                        </a:defRPr>
                      </a:pPr>
                      <a:r>
                        <a:t>Carrelet droite largeur 2</a:t>
                      </a:r>
                    </a:p>
                  </a:txBody>
                  <a:tcPr>
                    <a:solidFill>
                      <a:srgbClr val="F5F5F5"/>
                    </a:solidFill>
                  </a:tcPr>
                </a:tc>
                <a:tc>
                  <a:txBody>
                    <a:bodyPr/>
                    <a:lstStyle/>
                    <a:p>
                      <a:pPr algn="ctr">
                        <a:defRPr sz="800">
                          <a:solidFill>
                            <a:srgbClr val="333333"/>
                          </a:solidFill>
                          <a:latin typeface="Inter"/>
                        </a:defRPr>
                      </a:pPr>
                      <a:r>
                        <a:t>65,8 cm</a:t>
                      </a:r>
                    </a:p>
                  </a:txBody>
                  <a:tcPr>
                    <a:solidFill>
                      <a:srgbClr val="F5F5F5"/>
                    </a:solidFill>
                  </a:tcPr>
                </a:tc>
                <a:tc>
                  <a:txBody>
                    <a:bodyPr/>
                    <a:lstStyle/>
                    <a:p>
                      <a:pPr algn="ctr">
                        <a:defRPr sz="800">
                          <a:solidFill>
                            <a:srgbClr val="333333"/>
                          </a:solidFill>
                          <a:latin typeface="Inter"/>
                        </a:defRPr>
                      </a:pPr>
                      <a:r>
                        <a:t>1</a:t>
                      </a:r>
                    </a:p>
                  </a:txBody>
                  <a:tcPr>
                    <a:solidFill>
                      <a:srgbClr val="F5F5F5"/>
                    </a:solidFill>
                  </a:tcPr>
                </a:tc>
              </a:tr>
              <a:tr h="251999">
                <a:tc>
                  <a:txBody>
                    <a:bodyPr/>
                    <a:lstStyle/>
                    <a:p>
                      <a:pPr algn="ctr">
                        <a:defRPr sz="800">
                          <a:solidFill>
                            <a:srgbClr val="333333"/>
                          </a:solidFill>
                          <a:latin typeface="Inter"/>
                        </a:defRPr>
                      </a:pPr>
                      <a:r>
                        <a:t>B11</a:t>
                      </a:r>
                    </a:p>
                  </a:txBody>
                  <a:tcPr>
                    <a:solidFill>
                      <a:srgbClr val="FFFFFF"/>
                    </a:solidFill>
                  </a:tcPr>
                </a:tc>
                <a:tc>
                  <a:txBody>
                    <a:bodyPr/>
                    <a:lstStyle/>
                    <a:p>
                      <a:pPr algn="ctr">
                        <a:defRPr sz="800">
                          <a:solidFill>
                            <a:srgbClr val="333333"/>
                          </a:solidFill>
                          <a:latin typeface="Inter"/>
                        </a:defRPr>
                      </a:pPr>
                      <a:r>
                        <a:t>Carrelet vertical avant droite</a:t>
                      </a:r>
                    </a:p>
                  </a:txBody>
                  <a:tcPr>
                    <a:solidFill>
                      <a:srgbClr val="FFFFFF"/>
                    </a:solidFill>
                  </a:tcPr>
                </a:tc>
                <a:tc>
                  <a:txBody>
                    <a:bodyPr/>
                    <a:lstStyle/>
                    <a:p>
                      <a:pPr algn="ctr">
                        <a:defRPr sz="800">
                          <a:solidFill>
                            <a:srgbClr val="333333"/>
                          </a:solidFill>
                          <a:latin typeface="Inter"/>
                        </a:defRPr>
                      </a:pPr>
                      <a:r>
                        <a:t>26,5 cm</a:t>
                      </a:r>
                    </a:p>
                  </a:txBody>
                  <a:tcPr>
                    <a:solidFill>
                      <a:srgbClr val="FFFFFF"/>
                    </a:solidFill>
                  </a:tcPr>
                </a:tc>
                <a:tc>
                  <a:txBody>
                    <a:bodyPr/>
                    <a:lstStyle/>
                    <a:p>
                      <a:pPr algn="ctr">
                        <a:defRPr sz="800">
                          <a:solidFill>
                            <a:srgbClr val="333333"/>
                          </a:solidFill>
                          <a:latin typeface="Inter"/>
                        </a:defRPr>
                      </a:pPr>
                      <a:r>
                        <a:t>1</a:t>
                      </a:r>
                    </a:p>
                  </a:txBody>
                  <a:tcPr>
                    <a:solidFill>
                      <a:srgbClr val="FFFFFF"/>
                    </a:solidFill>
                  </a:tcPr>
                </a:tc>
              </a:tr>
              <a:tr h="251999">
                <a:tc>
                  <a:txBody>
                    <a:bodyPr/>
                    <a:lstStyle/>
                    <a:p>
                      <a:pPr algn="ctr">
                        <a:defRPr sz="800">
                          <a:solidFill>
                            <a:srgbClr val="333333"/>
                          </a:solidFill>
                          <a:latin typeface="Inter"/>
                        </a:defRPr>
                      </a:pPr>
                      <a:r>
                        <a:t>B12</a:t>
                      </a:r>
                    </a:p>
                  </a:txBody>
                  <a:tcPr>
                    <a:solidFill>
                      <a:srgbClr val="F5F5F5"/>
                    </a:solidFill>
                  </a:tcPr>
                </a:tc>
                <a:tc>
                  <a:txBody>
                    <a:bodyPr/>
                    <a:lstStyle/>
                    <a:p>
                      <a:pPr algn="ctr">
                        <a:defRPr sz="800">
                          <a:solidFill>
                            <a:srgbClr val="333333"/>
                          </a:solidFill>
                          <a:latin typeface="Inter"/>
                        </a:defRPr>
                      </a:pPr>
                      <a:r>
                        <a:t>Carrelet vertical avant gauche</a:t>
                      </a:r>
                    </a:p>
                  </a:txBody>
                  <a:tcPr>
                    <a:solidFill>
                      <a:srgbClr val="F5F5F5"/>
                    </a:solidFill>
                  </a:tcPr>
                </a:tc>
                <a:tc>
                  <a:txBody>
                    <a:bodyPr/>
                    <a:lstStyle/>
                    <a:p>
                      <a:pPr algn="ctr">
                        <a:defRPr sz="800">
                          <a:solidFill>
                            <a:srgbClr val="333333"/>
                          </a:solidFill>
                          <a:latin typeface="Inter"/>
                        </a:defRPr>
                      </a:pPr>
                      <a:r>
                        <a:t>26,5 cm</a:t>
                      </a:r>
                    </a:p>
                  </a:txBody>
                  <a:tcPr>
                    <a:solidFill>
                      <a:srgbClr val="F5F5F5"/>
                    </a:solidFill>
                  </a:tcPr>
                </a:tc>
                <a:tc>
                  <a:txBody>
                    <a:bodyPr/>
                    <a:lstStyle/>
                    <a:p>
                      <a:pPr algn="ctr">
                        <a:defRPr sz="800">
                          <a:solidFill>
                            <a:srgbClr val="333333"/>
                          </a:solidFill>
                          <a:latin typeface="Inter"/>
                        </a:defRPr>
                      </a:pPr>
                      <a:r>
                        <a:t>1</a:t>
                      </a:r>
                    </a:p>
                  </a:txBody>
                  <a:tcPr>
                    <a:solidFill>
                      <a:srgbClr val="F5F5F5"/>
                    </a:solidFill>
                  </a:tcPr>
                </a:tc>
              </a:tr>
              <a:tr h="251999">
                <a:tc>
                  <a:txBody>
                    <a:bodyPr/>
                    <a:lstStyle/>
                    <a:p>
                      <a:pPr algn="ctr">
                        <a:defRPr sz="800">
                          <a:solidFill>
                            <a:srgbClr val="333333"/>
                          </a:solidFill>
                          <a:latin typeface="Inter"/>
                        </a:defRPr>
                      </a:pPr>
                      <a:r>
                        <a:t>B13</a:t>
                      </a:r>
                    </a:p>
                  </a:txBody>
                  <a:tcPr>
                    <a:solidFill>
                      <a:srgbClr val="FFFFFF"/>
                    </a:solidFill>
                  </a:tcPr>
                </a:tc>
                <a:tc>
                  <a:txBody>
                    <a:bodyPr/>
                    <a:lstStyle/>
                    <a:p>
                      <a:pPr algn="ctr">
                        <a:defRPr sz="800">
                          <a:solidFill>
                            <a:srgbClr val="333333"/>
                          </a:solidFill>
                          <a:latin typeface="Inter"/>
                        </a:defRPr>
                      </a:pPr>
                      <a:r>
                        <a:t>Carrelet vertical fond droite</a:t>
                      </a:r>
                    </a:p>
                  </a:txBody>
                  <a:tcPr>
                    <a:solidFill>
                      <a:srgbClr val="FFFFFF"/>
                    </a:solidFill>
                  </a:tcPr>
                </a:tc>
                <a:tc>
                  <a:txBody>
                    <a:bodyPr/>
                    <a:lstStyle/>
                    <a:p>
                      <a:pPr algn="ctr">
                        <a:defRPr sz="800">
                          <a:solidFill>
                            <a:srgbClr val="333333"/>
                          </a:solidFill>
                          <a:latin typeface="Inter"/>
                        </a:defRPr>
                      </a:pPr>
                      <a:r>
                        <a:t>32 cm</a:t>
                      </a:r>
                    </a:p>
                  </a:txBody>
                  <a:tcPr>
                    <a:solidFill>
                      <a:srgbClr val="FFFFFF"/>
                    </a:solidFill>
                  </a:tcPr>
                </a:tc>
                <a:tc>
                  <a:txBody>
                    <a:bodyPr/>
                    <a:lstStyle/>
                    <a:p>
                      <a:pPr algn="ctr">
                        <a:defRPr sz="800">
                          <a:solidFill>
                            <a:srgbClr val="333333"/>
                          </a:solidFill>
                          <a:latin typeface="Inter"/>
                        </a:defRPr>
                      </a:pPr>
                      <a:r>
                        <a:t>1</a:t>
                      </a:r>
                    </a:p>
                  </a:txBody>
                  <a:tcPr>
                    <a:solidFill>
                      <a:srgbClr val="FFFFFF"/>
                    </a:solidFill>
                  </a:tcPr>
                </a:tc>
              </a:tr>
              <a:tr h="251999">
                <a:tc>
                  <a:txBody>
                    <a:bodyPr/>
                    <a:lstStyle/>
                    <a:p>
                      <a:pPr algn="ctr">
                        <a:defRPr sz="800">
                          <a:solidFill>
                            <a:srgbClr val="333333"/>
                          </a:solidFill>
                          <a:latin typeface="Inter"/>
                        </a:defRPr>
                      </a:pPr>
                      <a:r>
                        <a:t>B14</a:t>
                      </a:r>
                    </a:p>
                  </a:txBody>
                  <a:tcPr>
                    <a:solidFill>
                      <a:srgbClr val="F5F5F5"/>
                    </a:solidFill>
                  </a:tcPr>
                </a:tc>
                <a:tc>
                  <a:txBody>
                    <a:bodyPr/>
                    <a:lstStyle/>
                    <a:p>
                      <a:pPr algn="ctr">
                        <a:defRPr sz="800">
                          <a:solidFill>
                            <a:srgbClr val="333333"/>
                          </a:solidFill>
                          <a:latin typeface="Inter"/>
                        </a:defRPr>
                      </a:pPr>
                      <a:r>
                        <a:t>Carrelet vertical intérieur fond</a:t>
                      </a:r>
                    </a:p>
                  </a:txBody>
                  <a:tcPr>
                    <a:solidFill>
                      <a:srgbClr val="F5F5F5"/>
                    </a:solidFill>
                  </a:tcPr>
                </a:tc>
                <a:tc>
                  <a:txBody>
                    <a:bodyPr/>
                    <a:lstStyle/>
                    <a:p>
                      <a:pPr algn="ctr">
                        <a:defRPr sz="800">
                          <a:solidFill>
                            <a:srgbClr val="333333"/>
                          </a:solidFill>
                          <a:latin typeface="Inter"/>
                        </a:defRPr>
                      </a:pPr>
                      <a:r>
                        <a:t>32 cm</a:t>
                      </a:r>
                    </a:p>
                  </a:txBody>
                  <a:tcPr>
                    <a:solidFill>
                      <a:srgbClr val="F5F5F5"/>
                    </a:solidFill>
                  </a:tcPr>
                </a:tc>
                <a:tc>
                  <a:txBody>
                    <a:bodyPr/>
                    <a:lstStyle/>
                    <a:p>
                      <a:pPr algn="ctr">
                        <a:defRPr sz="800">
                          <a:solidFill>
                            <a:srgbClr val="333333"/>
                          </a:solidFill>
                          <a:latin typeface="Inter"/>
                        </a:defRPr>
                      </a:pPr>
                      <a:r>
                        <a:t>1</a:t>
                      </a:r>
                    </a:p>
                  </a:txBody>
                  <a:tcPr>
                    <a:solidFill>
                      <a:srgbClr val="F5F5F5"/>
                    </a:solidFill>
                  </a:tcPr>
                </a:tc>
              </a:tr>
              <a:tr h="251999">
                <a:tc>
                  <a:txBody>
                    <a:bodyPr/>
                    <a:lstStyle/>
                    <a:p>
                      <a:pPr algn="ctr">
                        <a:defRPr sz="800">
                          <a:solidFill>
                            <a:srgbClr val="333333"/>
                          </a:solidFill>
                          <a:latin typeface="Inter"/>
                        </a:defRPr>
                      </a:pPr>
                      <a:r>
                        <a:t>B15</a:t>
                      </a:r>
                    </a:p>
                  </a:txBody>
                  <a:tcPr>
                    <a:solidFill>
                      <a:srgbClr val="FFFFFF"/>
                    </a:solidFill>
                  </a:tcPr>
                </a:tc>
                <a:tc>
                  <a:txBody>
                    <a:bodyPr/>
                    <a:lstStyle/>
                    <a:p>
                      <a:pPr algn="ctr">
                        <a:defRPr sz="800">
                          <a:solidFill>
                            <a:srgbClr val="333333"/>
                          </a:solidFill>
                          <a:latin typeface="Inter"/>
                        </a:defRPr>
                      </a:pPr>
                      <a:r>
                        <a:t>Carrelet gauche vertical</a:t>
                      </a:r>
                    </a:p>
                  </a:txBody>
                  <a:tcPr>
                    <a:solidFill>
                      <a:srgbClr val="FFFFFF"/>
                    </a:solidFill>
                  </a:tcPr>
                </a:tc>
                <a:tc>
                  <a:txBody>
                    <a:bodyPr/>
                    <a:lstStyle/>
                    <a:p>
                      <a:pPr algn="ctr">
                        <a:defRPr sz="800">
                          <a:solidFill>
                            <a:srgbClr val="333333"/>
                          </a:solidFill>
                          <a:latin typeface="Inter"/>
                        </a:defRPr>
                      </a:pPr>
                      <a:r>
                        <a:t>32 cm</a:t>
                      </a:r>
                    </a:p>
                  </a:txBody>
                  <a:tcPr>
                    <a:solidFill>
                      <a:srgbClr val="FFFFFF"/>
                    </a:solidFill>
                  </a:tcPr>
                </a:tc>
                <a:tc>
                  <a:txBody>
                    <a:bodyPr/>
                    <a:lstStyle/>
                    <a:p>
                      <a:pPr algn="ctr">
                        <a:defRPr sz="800">
                          <a:solidFill>
                            <a:srgbClr val="333333"/>
                          </a:solidFill>
                          <a:latin typeface="Inter"/>
                        </a:defRPr>
                      </a:pPr>
                      <a:r>
                        <a:t>1</a:t>
                      </a:r>
                    </a:p>
                  </a:txBody>
                  <a:tcPr>
                    <a:solidFill>
                      <a:srgbClr val="FFFFFF"/>
                    </a:solidFill>
                  </a:tcPr>
                </a:tc>
              </a:tr>
              <a:tr h="251999">
                <a:tc>
                  <a:txBody>
                    <a:bodyPr/>
                    <a:lstStyle/>
                    <a:p>
                      <a:pPr algn="ctr">
                        <a:defRPr sz="800">
                          <a:solidFill>
                            <a:srgbClr val="333333"/>
                          </a:solidFill>
                          <a:latin typeface="Inter"/>
                        </a:defRPr>
                      </a:pPr>
                      <a:r>
                        <a:t>B16</a:t>
                      </a:r>
                    </a:p>
                  </a:txBody>
                  <a:tcPr>
                    <a:solidFill>
                      <a:srgbClr val="F5F5F5"/>
                    </a:solidFill>
                  </a:tcPr>
                </a:tc>
                <a:tc>
                  <a:txBody>
                    <a:bodyPr/>
                    <a:lstStyle/>
                    <a:p>
                      <a:pPr algn="ctr">
                        <a:defRPr sz="800">
                          <a:solidFill>
                            <a:srgbClr val="333333"/>
                          </a:solidFill>
                          <a:latin typeface="Inter"/>
                        </a:defRPr>
                      </a:pPr>
                      <a:r>
                        <a:t>Carrelet vertical fond gauche petit</a:t>
                      </a:r>
                    </a:p>
                  </a:txBody>
                  <a:tcPr>
                    <a:solidFill>
                      <a:srgbClr val="F5F5F5"/>
                    </a:solidFill>
                  </a:tcPr>
                </a:tc>
                <a:tc>
                  <a:txBody>
                    <a:bodyPr/>
                    <a:lstStyle/>
                    <a:p>
                      <a:pPr algn="ctr">
                        <a:defRPr sz="800">
                          <a:solidFill>
                            <a:srgbClr val="333333"/>
                          </a:solidFill>
                          <a:latin typeface="Inter"/>
                        </a:defRPr>
                      </a:pPr>
                      <a:r>
                        <a:t>32 cm</a:t>
                      </a:r>
                    </a:p>
                  </a:txBody>
                  <a:tcPr>
                    <a:solidFill>
                      <a:srgbClr val="F5F5F5"/>
                    </a:solidFill>
                  </a:tcPr>
                </a:tc>
                <a:tc>
                  <a:txBody>
                    <a:bodyPr/>
                    <a:lstStyle/>
                    <a:p>
                      <a:pPr algn="ctr">
                        <a:defRPr sz="800">
                          <a:solidFill>
                            <a:srgbClr val="333333"/>
                          </a:solidFill>
                          <a:latin typeface="Inter"/>
                        </a:defRPr>
                      </a:pPr>
                      <a:r>
                        <a:t>1</a:t>
                      </a:r>
                    </a:p>
                  </a:txBody>
                  <a:tcPr>
                    <a:solidFill>
                      <a:srgbClr val="F5F5F5"/>
                    </a:solidFill>
                  </a:tcPr>
                </a:tc>
              </a:tr>
              <a:tr h="251999">
                <a:tc>
                  <a:txBody>
                    <a:bodyPr/>
                    <a:lstStyle/>
                    <a:p>
                      <a:pPr algn="ctr">
                        <a:defRPr sz="800">
                          <a:solidFill>
                            <a:srgbClr val="333333"/>
                          </a:solidFill>
                          <a:latin typeface="Inter"/>
                        </a:defRPr>
                      </a:pPr>
                      <a:r>
                        <a:t>B17</a:t>
                      </a:r>
                    </a:p>
                  </a:txBody>
                  <a:tcPr>
                    <a:solidFill>
                      <a:srgbClr val="FFFFFF"/>
                    </a:solidFill>
                  </a:tcPr>
                </a:tc>
                <a:tc>
                  <a:txBody>
                    <a:bodyPr/>
                    <a:lstStyle/>
                    <a:p>
                      <a:pPr algn="ctr">
                        <a:defRPr sz="800">
                          <a:solidFill>
                            <a:srgbClr val="333333"/>
                          </a:solidFill>
                          <a:latin typeface="Inter"/>
                        </a:defRPr>
                      </a:pPr>
                      <a:r>
                        <a:t>Carrelet bas gauche largeur petit</a:t>
                      </a:r>
                    </a:p>
                  </a:txBody>
                  <a:tcPr>
                    <a:solidFill>
                      <a:srgbClr val="FFFFFF"/>
                    </a:solidFill>
                  </a:tcPr>
                </a:tc>
                <a:tc>
                  <a:txBody>
                    <a:bodyPr/>
                    <a:lstStyle/>
                    <a:p>
                      <a:pPr algn="ctr">
                        <a:defRPr sz="800">
                          <a:solidFill>
                            <a:srgbClr val="333333"/>
                          </a:solidFill>
                          <a:latin typeface="Inter"/>
                        </a:defRPr>
                      </a:pPr>
                      <a:r>
                        <a:t>14,5 cm</a:t>
                      </a:r>
                    </a:p>
                  </a:txBody>
                  <a:tcPr>
                    <a:solidFill>
                      <a:srgbClr val="FFFFFF"/>
                    </a:solidFill>
                  </a:tcPr>
                </a:tc>
                <a:tc>
                  <a:txBody>
                    <a:bodyPr/>
                    <a:lstStyle/>
                    <a:p>
                      <a:pPr algn="ctr">
                        <a:defRPr sz="800">
                          <a:solidFill>
                            <a:srgbClr val="333333"/>
                          </a:solidFill>
                          <a:latin typeface="Inter"/>
                        </a:defRPr>
                      </a:pPr>
                      <a:r>
                        <a:t>1</a:t>
                      </a:r>
                    </a:p>
                  </a:txBody>
                  <a:tcPr>
                    <a:solidFill>
                      <a:srgbClr val="FFFFFF"/>
                    </a:solidFill>
                  </a:tcPr>
                </a:tc>
              </a:tr>
              <a:tr h="251999">
                <a:tc>
                  <a:txBody>
                    <a:bodyPr/>
                    <a:lstStyle/>
                    <a:p>
                      <a:pPr algn="ctr">
                        <a:defRPr sz="800">
                          <a:solidFill>
                            <a:srgbClr val="333333"/>
                          </a:solidFill>
                          <a:latin typeface="Inter"/>
                        </a:defRPr>
                      </a:pPr>
                      <a:r>
                        <a:t>B18</a:t>
                      </a:r>
                    </a:p>
                  </a:txBody>
                  <a:tcPr>
                    <a:solidFill>
                      <a:srgbClr val="F5F5F5"/>
                    </a:solidFill>
                  </a:tcPr>
                </a:tc>
                <a:tc>
                  <a:txBody>
                    <a:bodyPr/>
                    <a:lstStyle/>
                    <a:p>
                      <a:pPr algn="ctr">
                        <a:defRPr sz="800">
                          <a:solidFill>
                            <a:srgbClr val="333333"/>
                          </a:solidFill>
                          <a:latin typeface="Inter"/>
                        </a:defRPr>
                      </a:pPr>
                      <a:r>
                        <a:t>Carrelet petit gauche haut</a:t>
                      </a:r>
                    </a:p>
                  </a:txBody>
                  <a:tcPr>
                    <a:solidFill>
                      <a:srgbClr val="F5F5F5"/>
                    </a:solidFill>
                  </a:tcPr>
                </a:tc>
                <a:tc>
                  <a:txBody>
                    <a:bodyPr/>
                    <a:lstStyle/>
                    <a:p>
                      <a:pPr algn="ctr">
                        <a:defRPr sz="800">
                          <a:solidFill>
                            <a:srgbClr val="333333"/>
                          </a:solidFill>
                          <a:latin typeface="Inter"/>
                        </a:defRPr>
                      </a:pPr>
                      <a:r>
                        <a:t>14,5 cm</a:t>
                      </a:r>
                    </a:p>
                  </a:txBody>
                  <a:tcPr>
                    <a:solidFill>
                      <a:srgbClr val="F5F5F5"/>
                    </a:solidFill>
                  </a:tcPr>
                </a:tc>
                <a:tc>
                  <a:txBody>
                    <a:bodyPr/>
                    <a:lstStyle/>
                    <a:p>
                      <a:pPr algn="ctr">
                        <a:defRPr sz="800">
                          <a:solidFill>
                            <a:srgbClr val="333333"/>
                          </a:solidFill>
                          <a:latin typeface="Inter"/>
                        </a:defRPr>
                      </a:pPr>
                      <a:r>
                        <a:t>1</a:t>
                      </a:r>
                    </a:p>
                  </a:txBody>
                  <a:tcPr>
                    <a:solidFill>
                      <a:srgbClr val="F5F5F5"/>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288000"/>
            <a:ext cx="7200000" cy="540000"/>
          </a:xfrm>
          <a:prstGeom prst="rect">
            <a:avLst/>
          </a:prstGeom>
          <a:noFill/>
        </p:spPr>
        <p:txBody>
          <a:bodyPr wrap="square">
            <a:spAutoFit/>
          </a:bodyPr>
          <a:lstStyle/>
          <a:p>
            <a:pPr algn="l">
              <a:defRPr sz="2200" b="1">
                <a:solidFill>
                  <a:srgbClr val="2B5EA7"/>
                </a:solidFill>
                <a:latin typeface="Inter"/>
              </a:defRPr>
            </a:pPr>
            <a:r>
              <a:t>Liste de débit — Ossature (carrelets support tiroir)</a:t>
            </a:r>
          </a:p>
        </p:txBody>
      </p:sp>
      <p:graphicFrame>
        <p:nvGraphicFramePr>
          <p:cNvPr id="3" name="Table 2"/>
          <p:cNvGraphicFramePr>
            <a:graphicFrameLocks noGrp="1"/>
          </p:cNvGraphicFramePr>
          <p:nvPr/>
        </p:nvGraphicFramePr>
        <p:xfrm>
          <a:off x="540000" y="900000"/>
          <a:ext cx="10800000" cy="1763993"/>
        </p:xfrm>
        <a:graphic>
          <a:graphicData uri="http://schemas.openxmlformats.org/drawingml/2006/table">
            <a:tbl>
              <a:tblPr firstRow="1" bandRow="1">
                <a:tableStyleId>{5C22544A-7EE6-4342-B048-85BDC9FD1C3A}</a:tableStyleId>
              </a:tblPr>
              <a:tblGrid>
                <a:gridCol w="1080000"/>
                <a:gridCol w="5040000"/>
                <a:gridCol w="2880000"/>
                <a:gridCol w="1800000"/>
              </a:tblGrid>
              <a:tr h="251999">
                <a:tc>
                  <a:txBody>
                    <a:bodyPr/>
                    <a:lstStyle/>
                    <a:p>
                      <a:pPr algn="ctr">
                        <a:defRPr sz="1000" b="1">
                          <a:solidFill>
                            <a:srgbClr val="FFFFFF"/>
                          </a:solidFill>
                          <a:latin typeface="Inter"/>
                        </a:defRPr>
                      </a:pPr>
                      <a:r>
                        <a:t>Rép.</a:t>
                      </a:r>
                    </a:p>
                  </a:txBody>
                  <a:tcPr>
                    <a:solidFill>
                      <a:srgbClr val="B9945F"/>
                    </a:solidFill>
                  </a:tcPr>
                </a:tc>
                <a:tc>
                  <a:txBody>
                    <a:bodyPr/>
                    <a:lstStyle/>
                    <a:p>
                      <a:pPr algn="ctr">
                        <a:defRPr sz="1000" b="1">
                          <a:solidFill>
                            <a:srgbClr val="FFFFFF"/>
                          </a:solidFill>
                          <a:latin typeface="Inter"/>
                        </a:defRPr>
                      </a:pPr>
                      <a:r>
                        <a:t>Carrelet (15 × 15 mm)</a:t>
                      </a:r>
                    </a:p>
                  </a:txBody>
                  <a:tcPr>
                    <a:solidFill>
                      <a:srgbClr val="B9945F"/>
                    </a:solidFill>
                  </a:tcPr>
                </a:tc>
                <a:tc>
                  <a:txBody>
                    <a:bodyPr/>
                    <a:lstStyle/>
                    <a:p>
                      <a:pPr algn="ctr">
                        <a:defRPr sz="1000" b="1">
                          <a:solidFill>
                            <a:srgbClr val="FFFFFF"/>
                          </a:solidFill>
                          <a:latin typeface="Inter"/>
                        </a:defRPr>
                      </a:pPr>
                      <a:r>
                        <a:t>Longueur</a:t>
                      </a:r>
                    </a:p>
                  </a:txBody>
                  <a:tcPr>
                    <a:solidFill>
                      <a:srgbClr val="B9945F"/>
                    </a:solidFill>
                  </a:tcPr>
                </a:tc>
                <a:tc>
                  <a:txBody>
                    <a:bodyPr/>
                    <a:lstStyle/>
                    <a:p>
                      <a:pPr algn="ctr">
                        <a:defRPr sz="1000" b="1">
                          <a:solidFill>
                            <a:srgbClr val="FFFFFF"/>
                          </a:solidFill>
                          <a:latin typeface="Inter"/>
                        </a:defRPr>
                      </a:pPr>
                      <a:r>
                        <a:t>Qté</a:t>
                      </a:r>
                    </a:p>
                  </a:txBody>
                  <a:tcPr>
                    <a:solidFill>
                      <a:srgbClr val="B9945F"/>
                    </a:solidFill>
                  </a:tcPr>
                </a:tc>
              </a:tr>
              <a:tr h="251999">
                <a:tc>
                  <a:txBody>
                    <a:bodyPr/>
                    <a:lstStyle/>
                    <a:p>
                      <a:pPr algn="ctr">
                        <a:defRPr sz="800">
                          <a:solidFill>
                            <a:srgbClr val="333333"/>
                          </a:solidFill>
                          <a:latin typeface="Inter"/>
                        </a:defRPr>
                      </a:pPr>
                      <a:r>
                        <a:t>B19</a:t>
                      </a:r>
                    </a:p>
                  </a:txBody>
                  <a:tcPr>
                    <a:solidFill>
                      <a:srgbClr val="FFFFFF"/>
                    </a:solidFill>
                  </a:tcPr>
                </a:tc>
                <a:tc>
                  <a:txBody>
                    <a:bodyPr/>
                    <a:lstStyle/>
                    <a:p>
                      <a:pPr algn="ctr">
                        <a:defRPr sz="800">
                          <a:solidFill>
                            <a:srgbClr val="333333"/>
                          </a:solidFill>
                          <a:latin typeface="Inter"/>
                        </a:defRPr>
                      </a:pPr>
                      <a:r>
                        <a:t>Carrelet longueur gauche support tiroir</a:t>
                      </a:r>
                    </a:p>
                  </a:txBody>
                  <a:tcPr>
                    <a:solidFill>
                      <a:srgbClr val="FFFFFF"/>
                    </a:solidFill>
                  </a:tcPr>
                </a:tc>
                <a:tc>
                  <a:txBody>
                    <a:bodyPr/>
                    <a:lstStyle/>
                    <a:p>
                      <a:pPr algn="ctr">
                        <a:defRPr sz="800">
                          <a:solidFill>
                            <a:srgbClr val="333333"/>
                          </a:solidFill>
                          <a:latin typeface="Inter"/>
                        </a:defRPr>
                      </a:pPr>
                      <a:r>
                        <a:t>101 cm</a:t>
                      </a:r>
                    </a:p>
                  </a:txBody>
                  <a:tcPr>
                    <a:solidFill>
                      <a:srgbClr val="FFFFFF"/>
                    </a:solidFill>
                  </a:tcPr>
                </a:tc>
                <a:tc>
                  <a:txBody>
                    <a:bodyPr/>
                    <a:lstStyle/>
                    <a:p>
                      <a:pPr algn="ctr">
                        <a:defRPr sz="800">
                          <a:solidFill>
                            <a:srgbClr val="333333"/>
                          </a:solidFill>
                          <a:latin typeface="Inter"/>
                        </a:defRPr>
                      </a:pPr>
                      <a:r>
                        <a:t>1</a:t>
                      </a:r>
                    </a:p>
                  </a:txBody>
                  <a:tcPr>
                    <a:solidFill>
                      <a:srgbClr val="FFFFFF"/>
                    </a:solidFill>
                  </a:tcPr>
                </a:tc>
              </a:tr>
              <a:tr h="251999">
                <a:tc>
                  <a:txBody>
                    <a:bodyPr/>
                    <a:lstStyle/>
                    <a:p>
                      <a:pPr algn="ctr">
                        <a:defRPr sz="800">
                          <a:solidFill>
                            <a:srgbClr val="333333"/>
                          </a:solidFill>
                          <a:latin typeface="Inter"/>
                        </a:defRPr>
                      </a:pPr>
                      <a:r>
                        <a:t>B20</a:t>
                      </a:r>
                    </a:p>
                  </a:txBody>
                  <a:tcPr>
                    <a:solidFill>
                      <a:srgbClr val="F5F5F5"/>
                    </a:solidFill>
                  </a:tcPr>
                </a:tc>
                <a:tc>
                  <a:txBody>
                    <a:bodyPr/>
                    <a:lstStyle/>
                    <a:p>
                      <a:pPr algn="ctr">
                        <a:defRPr sz="800">
                          <a:solidFill>
                            <a:srgbClr val="333333"/>
                          </a:solidFill>
                          <a:latin typeface="Inter"/>
                        </a:defRPr>
                      </a:pPr>
                      <a:r>
                        <a:t>Carrelet longueur bas gauche support tiroir</a:t>
                      </a:r>
                    </a:p>
                  </a:txBody>
                  <a:tcPr>
                    <a:solidFill>
                      <a:srgbClr val="F5F5F5"/>
                    </a:solidFill>
                  </a:tcPr>
                </a:tc>
                <a:tc>
                  <a:txBody>
                    <a:bodyPr/>
                    <a:lstStyle/>
                    <a:p>
                      <a:pPr algn="ctr">
                        <a:defRPr sz="800">
                          <a:solidFill>
                            <a:srgbClr val="333333"/>
                          </a:solidFill>
                          <a:latin typeface="Inter"/>
                        </a:defRPr>
                      </a:pPr>
                      <a:r>
                        <a:t>101 cm</a:t>
                      </a:r>
                    </a:p>
                  </a:txBody>
                  <a:tcPr>
                    <a:solidFill>
                      <a:srgbClr val="F5F5F5"/>
                    </a:solidFill>
                  </a:tcPr>
                </a:tc>
                <a:tc>
                  <a:txBody>
                    <a:bodyPr/>
                    <a:lstStyle/>
                    <a:p>
                      <a:pPr algn="ctr">
                        <a:defRPr sz="800">
                          <a:solidFill>
                            <a:srgbClr val="333333"/>
                          </a:solidFill>
                          <a:latin typeface="Inter"/>
                        </a:defRPr>
                      </a:pPr>
                      <a:r>
                        <a:t>1</a:t>
                      </a:r>
                    </a:p>
                  </a:txBody>
                  <a:tcPr>
                    <a:solidFill>
                      <a:srgbClr val="F5F5F5"/>
                    </a:solidFill>
                  </a:tcPr>
                </a:tc>
              </a:tr>
              <a:tr h="251999">
                <a:tc>
                  <a:txBody>
                    <a:bodyPr/>
                    <a:lstStyle/>
                    <a:p>
                      <a:pPr algn="ctr">
                        <a:defRPr sz="800">
                          <a:solidFill>
                            <a:srgbClr val="333333"/>
                          </a:solidFill>
                          <a:latin typeface="Inter"/>
                        </a:defRPr>
                      </a:pPr>
                      <a:r>
                        <a:t>B21</a:t>
                      </a:r>
                    </a:p>
                  </a:txBody>
                  <a:tcPr>
                    <a:solidFill>
                      <a:srgbClr val="FFFFFF"/>
                    </a:solidFill>
                  </a:tcPr>
                </a:tc>
                <a:tc>
                  <a:txBody>
                    <a:bodyPr/>
                    <a:lstStyle/>
                    <a:p>
                      <a:pPr algn="ctr">
                        <a:defRPr sz="800">
                          <a:solidFill>
                            <a:srgbClr val="333333"/>
                          </a:solidFill>
                          <a:latin typeface="Inter"/>
                        </a:defRPr>
                      </a:pPr>
                      <a:r>
                        <a:t>Carrelet longueur droite support tiroir</a:t>
                      </a:r>
                    </a:p>
                  </a:txBody>
                  <a:tcPr>
                    <a:solidFill>
                      <a:srgbClr val="FFFFFF"/>
                    </a:solidFill>
                  </a:tcPr>
                </a:tc>
                <a:tc>
                  <a:txBody>
                    <a:bodyPr/>
                    <a:lstStyle/>
                    <a:p>
                      <a:pPr algn="ctr">
                        <a:defRPr sz="800">
                          <a:solidFill>
                            <a:srgbClr val="333333"/>
                          </a:solidFill>
                          <a:latin typeface="Inter"/>
                        </a:defRPr>
                      </a:pPr>
                      <a:r>
                        <a:t>101 cm</a:t>
                      </a:r>
                    </a:p>
                  </a:txBody>
                  <a:tcPr>
                    <a:solidFill>
                      <a:srgbClr val="FFFFFF"/>
                    </a:solidFill>
                  </a:tcPr>
                </a:tc>
                <a:tc>
                  <a:txBody>
                    <a:bodyPr/>
                    <a:lstStyle/>
                    <a:p>
                      <a:pPr algn="ctr">
                        <a:defRPr sz="800">
                          <a:solidFill>
                            <a:srgbClr val="333333"/>
                          </a:solidFill>
                          <a:latin typeface="Inter"/>
                        </a:defRPr>
                      </a:pPr>
                      <a:r>
                        <a:t>1</a:t>
                      </a:r>
                    </a:p>
                  </a:txBody>
                  <a:tcPr>
                    <a:solidFill>
                      <a:srgbClr val="FFFFFF"/>
                    </a:solidFill>
                  </a:tcPr>
                </a:tc>
              </a:tr>
              <a:tr h="251999">
                <a:tc>
                  <a:txBody>
                    <a:bodyPr/>
                    <a:lstStyle/>
                    <a:p>
                      <a:pPr algn="ctr">
                        <a:defRPr sz="800">
                          <a:solidFill>
                            <a:srgbClr val="333333"/>
                          </a:solidFill>
                          <a:latin typeface="Inter"/>
                        </a:defRPr>
                      </a:pPr>
                      <a:r>
                        <a:t>B22</a:t>
                      </a:r>
                    </a:p>
                  </a:txBody>
                  <a:tcPr>
                    <a:solidFill>
                      <a:srgbClr val="F5F5F5"/>
                    </a:solidFill>
                  </a:tcPr>
                </a:tc>
                <a:tc>
                  <a:txBody>
                    <a:bodyPr/>
                    <a:lstStyle/>
                    <a:p>
                      <a:pPr algn="ctr">
                        <a:defRPr sz="800">
                          <a:solidFill>
                            <a:srgbClr val="333333"/>
                          </a:solidFill>
                          <a:latin typeface="Inter"/>
                        </a:defRPr>
                      </a:pPr>
                      <a:r>
                        <a:t>Carrelet longueur bas droit support tiroir</a:t>
                      </a:r>
                    </a:p>
                  </a:txBody>
                  <a:tcPr>
                    <a:solidFill>
                      <a:srgbClr val="F5F5F5"/>
                    </a:solidFill>
                  </a:tcPr>
                </a:tc>
                <a:tc>
                  <a:txBody>
                    <a:bodyPr/>
                    <a:lstStyle/>
                    <a:p>
                      <a:pPr algn="ctr">
                        <a:defRPr sz="800">
                          <a:solidFill>
                            <a:srgbClr val="333333"/>
                          </a:solidFill>
                          <a:latin typeface="Inter"/>
                        </a:defRPr>
                      </a:pPr>
                      <a:r>
                        <a:t>101 cm</a:t>
                      </a:r>
                    </a:p>
                  </a:txBody>
                  <a:tcPr>
                    <a:solidFill>
                      <a:srgbClr val="F5F5F5"/>
                    </a:solidFill>
                  </a:tcPr>
                </a:tc>
                <a:tc>
                  <a:txBody>
                    <a:bodyPr/>
                    <a:lstStyle/>
                    <a:p>
                      <a:pPr algn="ctr">
                        <a:defRPr sz="800">
                          <a:solidFill>
                            <a:srgbClr val="333333"/>
                          </a:solidFill>
                          <a:latin typeface="Inter"/>
                        </a:defRPr>
                      </a:pPr>
                      <a:r>
                        <a:t>1</a:t>
                      </a:r>
                    </a:p>
                  </a:txBody>
                  <a:tcPr>
                    <a:solidFill>
                      <a:srgbClr val="F5F5F5"/>
                    </a:solidFill>
                  </a:tcPr>
                </a:tc>
              </a:tr>
              <a:tr h="251999">
                <a:tc>
                  <a:txBody>
                    <a:bodyPr/>
                    <a:lstStyle/>
                    <a:p>
                      <a:pPr algn="ctr">
                        <a:defRPr sz="800">
                          <a:solidFill>
                            <a:srgbClr val="333333"/>
                          </a:solidFill>
                          <a:latin typeface="Inter"/>
                        </a:defRPr>
                      </a:pPr>
                      <a:r>
                        <a:t>B23</a:t>
                      </a:r>
                    </a:p>
                  </a:txBody>
                  <a:tcPr>
                    <a:solidFill>
                      <a:srgbClr val="FFFFFF"/>
                    </a:solidFill>
                  </a:tcPr>
                </a:tc>
                <a:tc>
                  <a:txBody>
                    <a:bodyPr/>
                    <a:lstStyle/>
                    <a:p>
                      <a:pPr algn="ctr">
                        <a:defRPr sz="800">
                          <a:solidFill>
                            <a:srgbClr val="333333"/>
                          </a:solidFill>
                          <a:latin typeface="Inter"/>
                        </a:defRPr>
                      </a:pPr>
                      <a:r>
                        <a:t>Carrelet vertical fond gauche support tiroir</a:t>
                      </a:r>
                    </a:p>
                  </a:txBody>
                  <a:tcPr>
                    <a:solidFill>
                      <a:srgbClr val="FFFFFF"/>
                    </a:solidFill>
                  </a:tcPr>
                </a:tc>
                <a:tc>
                  <a:txBody>
                    <a:bodyPr/>
                    <a:lstStyle/>
                    <a:p>
                      <a:pPr algn="ctr">
                        <a:defRPr sz="800">
                          <a:solidFill>
                            <a:srgbClr val="333333"/>
                          </a:solidFill>
                          <a:latin typeface="Inter"/>
                        </a:defRPr>
                      </a:pPr>
                      <a:r>
                        <a:t>32 cm</a:t>
                      </a:r>
                    </a:p>
                  </a:txBody>
                  <a:tcPr>
                    <a:solidFill>
                      <a:srgbClr val="FFFFFF"/>
                    </a:solidFill>
                  </a:tcPr>
                </a:tc>
                <a:tc>
                  <a:txBody>
                    <a:bodyPr/>
                    <a:lstStyle/>
                    <a:p>
                      <a:pPr algn="ctr">
                        <a:defRPr sz="800">
                          <a:solidFill>
                            <a:srgbClr val="333333"/>
                          </a:solidFill>
                          <a:latin typeface="Inter"/>
                        </a:defRPr>
                      </a:pPr>
                      <a:r>
                        <a:t>1</a:t>
                      </a:r>
                    </a:p>
                  </a:txBody>
                  <a:tcPr>
                    <a:solidFill>
                      <a:srgbClr val="FFFFFF"/>
                    </a:solidFill>
                  </a:tcPr>
                </a:tc>
              </a:tr>
              <a:tr h="251999">
                <a:tc>
                  <a:txBody>
                    <a:bodyPr/>
                    <a:lstStyle/>
                    <a:p>
                      <a:pPr algn="ctr">
                        <a:defRPr sz="800">
                          <a:solidFill>
                            <a:srgbClr val="333333"/>
                          </a:solidFill>
                          <a:latin typeface="Inter"/>
                        </a:defRPr>
                      </a:pPr>
                      <a:r>
                        <a:t>B24</a:t>
                      </a:r>
                    </a:p>
                  </a:txBody>
                  <a:tcPr>
                    <a:solidFill>
                      <a:srgbClr val="F5F5F5"/>
                    </a:solidFill>
                  </a:tcPr>
                </a:tc>
                <a:tc>
                  <a:txBody>
                    <a:bodyPr/>
                    <a:lstStyle/>
                    <a:p>
                      <a:pPr algn="ctr">
                        <a:defRPr sz="800">
                          <a:solidFill>
                            <a:srgbClr val="333333"/>
                          </a:solidFill>
                          <a:latin typeface="Inter"/>
                        </a:defRPr>
                      </a:pPr>
                      <a:r>
                        <a:t>Carrelet vertical fond droit support tiroir</a:t>
                      </a:r>
                    </a:p>
                  </a:txBody>
                  <a:tcPr>
                    <a:solidFill>
                      <a:srgbClr val="F5F5F5"/>
                    </a:solidFill>
                  </a:tcPr>
                </a:tc>
                <a:tc>
                  <a:txBody>
                    <a:bodyPr/>
                    <a:lstStyle/>
                    <a:p>
                      <a:pPr algn="ctr">
                        <a:defRPr sz="800">
                          <a:solidFill>
                            <a:srgbClr val="333333"/>
                          </a:solidFill>
                          <a:latin typeface="Inter"/>
                        </a:defRPr>
                      </a:pPr>
                      <a:r>
                        <a:t>33,5 cm</a:t>
                      </a:r>
                    </a:p>
                  </a:txBody>
                  <a:tcPr>
                    <a:solidFill>
                      <a:srgbClr val="F5F5F5"/>
                    </a:solidFill>
                  </a:tcPr>
                </a:tc>
                <a:tc>
                  <a:txBody>
                    <a:bodyPr/>
                    <a:lstStyle/>
                    <a:p>
                      <a:pPr algn="ctr">
                        <a:defRPr sz="800">
                          <a:solidFill>
                            <a:srgbClr val="333333"/>
                          </a:solidFill>
                          <a:latin typeface="Inter"/>
                        </a:defRPr>
                      </a:pPr>
                      <a:r>
                        <a:t>1</a:t>
                      </a:r>
                    </a:p>
                  </a:txBody>
                  <a:tcPr>
                    <a:solidFill>
                      <a:srgbClr val="F5F5F5"/>
                    </a:solidFill>
                  </a:tcPr>
                </a:tc>
              </a:tr>
            </a:tbl>
          </a:graphicData>
        </a:graphic>
      </p:graphicFrame>
      <p:sp>
        <p:nvSpPr>
          <p:cNvPr id="4" name="TextBox 3"/>
          <p:cNvSpPr txBox="1"/>
          <p:nvPr/>
        </p:nvSpPr>
        <p:spPr>
          <a:xfrm>
            <a:off x="540000" y="6300000"/>
            <a:ext cx="10800000" cy="360000"/>
          </a:xfrm>
          <a:prstGeom prst="rect">
            <a:avLst/>
          </a:prstGeom>
          <a:noFill/>
        </p:spPr>
        <p:txBody>
          <a:bodyPr wrap="square">
            <a:spAutoFit/>
          </a:bodyPr>
          <a:lstStyle/>
          <a:p>
            <a:pPr algn="l">
              <a:defRPr sz="800" b="0">
                <a:solidFill>
                  <a:srgbClr val="666666"/>
                </a:solidFill>
                <a:latin typeface="Inter"/>
              </a:defRPr>
            </a:pPr>
            <a:r>
              <a:t>Ces 6 carrelets forment les rails sur lesquels le tiroir coulissant glisse.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180000"/>
            <a:ext cx="9000000" cy="432000"/>
          </a:xfrm>
          <a:prstGeom prst="rect">
            <a:avLst/>
          </a:prstGeom>
          <a:noFill/>
        </p:spPr>
        <p:txBody>
          <a:bodyPr wrap="square">
            <a:spAutoFit/>
          </a:bodyPr>
          <a:lstStyle/>
          <a:p>
            <a:pPr algn="l">
              <a:defRPr sz="1800" b="1">
                <a:solidFill>
                  <a:srgbClr val="2B5EA7"/>
                </a:solidFill>
                <a:latin typeface="Inter"/>
              </a:defRPr>
            </a:pPr>
            <a:r>
              <a:t>Pièces à découper — Ossature carrelets (1/3)</a:t>
            </a:r>
          </a:p>
        </p:txBody>
      </p:sp>
      <p:sp>
        <p:nvSpPr>
          <p:cNvPr id="3" name="Rounded Rectangle 2"/>
          <p:cNvSpPr/>
          <p:nvPr/>
        </p:nvSpPr>
        <p:spPr>
          <a:xfrm>
            <a:off x="7920000" y="108000"/>
            <a:ext cx="3780000" cy="21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920000" y="900000"/>
            <a:ext cx="3780000" cy="540000"/>
          </a:xfrm>
          <a:prstGeom prst="rect">
            <a:avLst/>
          </a:prstGeom>
          <a:noFill/>
        </p:spPr>
        <p:txBody>
          <a:bodyPr wrap="square">
            <a:spAutoFit/>
          </a:bodyPr>
          <a:lstStyle/>
          <a:p>
            <a:pPr algn="ctr">
              <a:defRPr sz="900" b="0">
                <a:solidFill>
                  <a:srgbClr val="666666"/>
                </a:solidFill>
                <a:latin typeface="Inter"/>
              </a:defRPr>
            </a:pPr>
            <a:r>
              <a:t>Coller ici le screenshot</a:t>
            </a:r>
            <a:br/>
            <a:r>
              <a:t>de la vue éclatée</a:t>
            </a:r>
          </a:p>
        </p:txBody>
      </p:sp>
      <p:sp>
        <p:nvSpPr>
          <p:cNvPr id="5" name="Rounded Rectangle 4"/>
          <p:cNvSpPr/>
          <p:nvPr/>
        </p:nvSpPr>
        <p:spPr>
          <a:xfrm>
            <a:off x="540000" y="792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8000" y="972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000" y="1080000"/>
            <a:ext cx="648000" cy="360000"/>
          </a:xfrm>
          <a:prstGeom prst="rect">
            <a:avLst/>
          </a:prstGeom>
          <a:noFill/>
        </p:spPr>
        <p:txBody>
          <a:bodyPr wrap="square">
            <a:spAutoFit/>
          </a:bodyPr>
          <a:lstStyle/>
          <a:p>
            <a:pPr algn="ctr">
              <a:defRPr sz="1200" b="1">
                <a:solidFill>
                  <a:srgbClr val="FFFFFF"/>
                </a:solidFill>
                <a:latin typeface="Inter"/>
              </a:defRPr>
            </a:pPr>
            <a:r>
              <a:t>B1</a:t>
            </a:r>
          </a:p>
        </p:txBody>
      </p:sp>
      <p:sp>
        <p:nvSpPr>
          <p:cNvPr id="8" name="TextBox 7"/>
          <p:cNvSpPr txBox="1"/>
          <p:nvPr/>
        </p:nvSpPr>
        <p:spPr>
          <a:xfrm>
            <a:off x="1440000" y="900000"/>
            <a:ext cx="2520000" cy="360000"/>
          </a:xfrm>
          <a:prstGeom prst="rect">
            <a:avLst/>
          </a:prstGeom>
          <a:noFill/>
        </p:spPr>
        <p:txBody>
          <a:bodyPr wrap="square">
            <a:spAutoFit/>
          </a:bodyPr>
          <a:lstStyle/>
          <a:p>
            <a:pPr algn="l">
              <a:defRPr sz="1000" b="1">
                <a:solidFill>
                  <a:srgbClr val="333333"/>
                </a:solidFill>
                <a:latin typeface="Inter"/>
              </a:defRPr>
            </a:pPr>
            <a:r>
              <a:t>Carrelet longueur haut gauche</a:t>
            </a:r>
          </a:p>
        </p:txBody>
      </p:sp>
      <p:sp>
        <p:nvSpPr>
          <p:cNvPr id="9" name="TextBox 8"/>
          <p:cNvSpPr txBox="1"/>
          <p:nvPr/>
        </p:nvSpPr>
        <p:spPr>
          <a:xfrm>
            <a:off x="1440000" y="1224000"/>
            <a:ext cx="2520000" cy="360000"/>
          </a:xfrm>
          <a:prstGeom prst="rect">
            <a:avLst/>
          </a:prstGeom>
          <a:noFill/>
        </p:spPr>
        <p:txBody>
          <a:bodyPr wrap="square">
            <a:spAutoFit/>
          </a:bodyPr>
          <a:lstStyle/>
          <a:p>
            <a:pPr algn="l">
              <a:defRPr sz="800" b="0">
                <a:solidFill>
                  <a:srgbClr val="666666"/>
                </a:solidFill>
                <a:latin typeface="Inter"/>
              </a:defRPr>
            </a:pPr>
            <a:r>
              <a:t>187 cm</a:t>
            </a:r>
          </a:p>
        </p:txBody>
      </p:sp>
      <p:sp>
        <p:nvSpPr>
          <p:cNvPr id="10" name="Rounded Rectangle 9"/>
          <p:cNvSpPr/>
          <p:nvPr/>
        </p:nvSpPr>
        <p:spPr>
          <a:xfrm>
            <a:off x="6120000" y="792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28000" y="972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8000" y="1080000"/>
            <a:ext cx="648000" cy="360000"/>
          </a:xfrm>
          <a:prstGeom prst="rect">
            <a:avLst/>
          </a:prstGeom>
          <a:noFill/>
        </p:spPr>
        <p:txBody>
          <a:bodyPr wrap="square">
            <a:spAutoFit/>
          </a:bodyPr>
          <a:lstStyle/>
          <a:p>
            <a:pPr algn="ctr">
              <a:defRPr sz="1200" b="1">
                <a:solidFill>
                  <a:srgbClr val="FFFFFF"/>
                </a:solidFill>
                <a:latin typeface="Inter"/>
              </a:defRPr>
            </a:pPr>
            <a:r>
              <a:t>B2</a:t>
            </a:r>
          </a:p>
        </p:txBody>
      </p:sp>
      <p:sp>
        <p:nvSpPr>
          <p:cNvPr id="13" name="TextBox 12"/>
          <p:cNvSpPr txBox="1"/>
          <p:nvPr/>
        </p:nvSpPr>
        <p:spPr>
          <a:xfrm>
            <a:off x="7020000" y="900000"/>
            <a:ext cx="2520000" cy="360000"/>
          </a:xfrm>
          <a:prstGeom prst="rect">
            <a:avLst/>
          </a:prstGeom>
          <a:noFill/>
        </p:spPr>
        <p:txBody>
          <a:bodyPr wrap="square">
            <a:spAutoFit/>
          </a:bodyPr>
          <a:lstStyle/>
          <a:p>
            <a:pPr algn="l">
              <a:defRPr sz="1000" b="1">
                <a:solidFill>
                  <a:srgbClr val="333333"/>
                </a:solidFill>
                <a:latin typeface="Inter"/>
              </a:defRPr>
            </a:pPr>
            <a:r>
              <a:t>Carrelet longueur face bas</a:t>
            </a:r>
          </a:p>
        </p:txBody>
      </p:sp>
      <p:sp>
        <p:nvSpPr>
          <p:cNvPr id="14" name="TextBox 13"/>
          <p:cNvSpPr txBox="1"/>
          <p:nvPr/>
        </p:nvSpPr>
        <p:spPr>
          <a:xfrm>
            <a:off x="7020000" y="1224000"/>
            <a:ext cx="2520000" cy="360000"/>
          </a:xfrm>
          <a:prstGeom prst="rect">
            <a:avLst/>
          </a:prstGeom>
          <a:noFill/>
        </p:spPr>
        <p:txBody>
          <a:bodyPr wrap="square">
            <a:spAutoFit/>
          </a:bodyPr>
          <a:lstStyle/>
          <a:p>
            <a:pPr algn="l">
              <a:defRPr sz="800" b="0">
                <a:solidFill>
                  <a:srgbClr val="666666"/>
                </a:solidFill>
                <a:latin typeface="Inter"/>
              </a:defRPr>
            </a:pPr>
            <a:r>
              <a:t>187 cm</a:t>
            </a:r>
          </a:p>
        </p:txBody>
      </p:sp>
      <p:sp>
        <p:nvSpPr>
          <p:cNvPr id="15" name="Rounded Rectangle 14"/>
          <p:cNvSpPr/>
          <p:nvPr/>
        </p:nvSpPr>
        <p:spPr>
          <a:xfrm>
            <a:off x="540000" y="1800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8000" y="1980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8000" y="2088000"/>
            <a:ext cx="648000" cy="360000"/>
          </a:xfrm>
          <a:prstGeom prst="rect">
            <a:avLst/>
          </a:prstGeom>
          <a:noFill/>
        </p:spPr>
        <p:txBody>
          <a:bodyPr wrap="square">
            <a:spAutoFit/>
          </a:bodyPr>
          <a:lstStyle/>
          <a:p>
            <a:pPr algn="ctr">
              <a:defRPr sz="1200" b="1">
                <a:solidFill>
                  <a:srgbClr val="FFFFFF"/>
                </a:solidFill>
                <a:latin typeface="Inter"/>
              </a:defRPr>
            </a:pPr>
            <a:r>
              <a:t>B3</a:t>
            </a:r>
          </a:p>
        </p:txBody>
      </p:sp>
      <p:sp>
        <p:nvSpPr>
          <p:cNvPr id="18" name="TextBox 17"/>
          <p:cNvSpPr txBox="1"/>
          <p:nvPr/>
        </p:nvSpPr>
        <p:spPr>
          <a:xfrm>
            <a:off x="1440000" y="1908000"/>
            <a:ext cx="2520000" cy="360000"/>
          </a:xfrm>
          <a:prstGeom prst="rect">
            <a:avLst/>
          </a:prstGeom>
          <a:noFill/>
        </p:spPr>
        <p:txBody>
          <a:bodyPr wrap="square">
            <a:spAutoFit/>
          </a:bodyPr>
          <a:lstStyle/>
          <a:p>
            <a:pPr algn="l">
              <a:defRPr sz="1000" b="1">
                <a:solidFill>
                  <a:srgbClr val="333333"/>
                </a:solidFill>
                <a:latin typeface="Inter"/>
              </a:defRPr>
            </a:pPr>
            <a:r>
              <a:t>Carrelet longueur fond bas droit</a:t>
            </a:r>
          </a:p>
        </p:txBody>
      </p:sp>
      <p:sp>
        <p:nvSpPr>
          <p:cNvPr id="19" name="TextBox 18"/>
          <p:cNvSpPr txBox="1"/>
          <p:nvPr/>
        </p:nvSpPr>
        <p:spPr>
          <a:xfrm>
            <a:off x="1440000" y="2232000"/>
            <a:ext cx="2520000" cy="360000"/>
          </a:xfrm>
          <a:prstGeom prst="rect">
            <a:avLst/>
          </a:prstGeom>
          <a:noFill/>
        </p:spPr>
        <p:txBody>
          <a:bodyPr wrap="square">
            <a:spAutoFit/>
          </a:bodyPr>
          <a:lstStyle/>
          <a:p>
            <a:pPr algn="l">
              <a:defRPr sz="800" b="0">
                <a:solidFill>
                  <a:srgbClr val="666666"/>
                </a:solidFill>
                <a:latin typeface="Inter"/>
              </a:defRPr>
            </a:pPr>
            <a:r>
              <a:t>84,5 cm</a:t>
            </a:r>
          </a:p>
        </p:txBody>
      </p:sp>
      <p:sp>
        <p:nvSpPr>
          <p:cNvPr id="20" name="Rounded Rectangle 19"/>
          <p:cNvSpPr/>
          <p:nvPr/>
        </p:nvSpPr>
        <p:spPr>
          <a:xfrm>
            <a:off x="6120000" y="1800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28000" y="1980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28000" y="2088000"/>
            <a:ext cx="648000" cy="360000"/>
          </a:xfrm>
          <a:prstGeom prst="rect">
            <a:avLst/>
          </a:prstGeom>
          <a:noFill/>
        </p:spPr>
        <p:txBody>
          <a:bodyPr wrap="square">
            <a:spAutoFit/>
          </a:bodyPr>
          <a:lstStyle/>
          <a:p>
            <a:pPr algn="ctr">
              <a:defRPr sz="1200" b="1">
                <a:solidFill>
                  <a:srgbClr val="FFFFFF"/>
                </a:solidFill>
                <a:latin typeface="Inter"/>
              </a:defRPr>
            </a:pPr>
            <a:r>
              <a:t>B4</a:t>
            </a:r>
          </a:p>
        </p:txBody>
      </p:sp>
      <p:sp>
        <p:nvSpPr>
          <p:cNvPr id="23" name="TextBox 22"/>
          <p:cNvSpPr txBox="1"/>
          <p:nvPr/>
        </p:nvSpPr>
        <p:spPr>
          <a:xfrm>
            <a:off x="7020000" y="1908000"/>
            <a:ext cx="2520000" cy="360000"/>
          </a:xfrm>
          <a:prstGeom prst="rect">
            <a:avLst/>
          </a:prstGeom>
          <a:noFill/>
        </p:spPr>
        <p:txBody>
          <a:bodyPr wrap="square">
            <a:spAutoFit/>
          </a:bodyPr>
          <a:lstStyle/>
          <a:p>
            <a:pPr algn="l">
              <a:defRPr sz="1000" b="1">
                <a:solidFill>
                  <a:srgbClr val="333333"/>
                </a:solidFill>
                <a:latin typeface="Inter"/>
              </a:defRPr>
            </a:pPr>
            <a:r>
              <a:t>Carrelet longueur fond bas gauche</a:t>
            </a:r>
          </a:p>
        </p:txBody>
      </p:sp>
      <p:sp>
        <p:nvSpPr>
          <p:cNvPr id="24" name="TextBox 23"/>
          <p:cNvSpPr txBox="1"/>
          <p:nvPr/>
        </p:nvSpPr>
        <p:spPr>
          <a:xfrm>
            <a:off x="7020000" y="2232000"/>
            <a:ext cx="2520000" cy="360000"/>
          </a:xfrm>
          <a:prstGeom prst="rect">
            <a:avLst/>
          </a:prstGeom>
          <a:noFill/>
        </p:spPr>
        <p:txBody>
          <a:bodyPr wrap="square">
            <a:spAutoFit/>
          </a:bodyPr>
          <a:lstStyle/>
          <a:p>
            <a:pPr algn="l">
              <a:defRPr sz="800" b="0">
                <a:solidFill>
                  <a:srgbClr val="666666"/>
                </a:solidFill>
                <a:latin typeface="Inter"/>
              </a:defRPr>
            </a:pPr>
            <a:r>
              <a:t>16,5 cm</a:t>
            </a:r>
          </a:p>
        </p:txBody>
      </p:sp>
      <p:sp>
        <p:nvSpPr>
          <p:cNvPr id="25" name="Rounded Rectangle 24"/>
          <p:cNvSpPr/>
          <p:nvPr/>
        </p:nvSpPr>
        <p:spPr>
          <a:xfrm>
            <a:off x="540000" y="2808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8000" y="2988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8000" y="3096000"/>
            <a:ext cx="648000" cy="360000"/>
          </a:xfrm>
          <a:prstGeom prst="rect">
            <a:avLst/>
          </a:prstGeom>
          <a:noFill/>
        </p:spPr>
        <p:txBody>
          <a:bodyPr wrap="square">
            <a:spAutoFit/>
          </a:bodyPr>
          <a:lstStyle/>
          <a:p>
            <a:pPr algn="ctr">
              <a:defRPr sz="1200" b="1">
                <a:solidFill>
                  <a:srgbClr val="FFFFFF"/>
                </a:solidFill>
                <a:latin typeface="Inter"/>
              </a:defRPr>
            </a:pPr>
            <a:r>
              <a:t>B5</a:t>
            </a:r>
          </a:p>
        </p:txBody>
      </p:sp>
      <p:sp>
        <p:nvSpPr>
          <p:cNvPr id="28" name="TextBox 27"/>
          <p:cNvSpPr txBox="1"/>
          <p:nvPr/>
        </p:nvSpPr>
        <p:spPr>
          <a:xfrm>
            <a:off x="1440000" y="2916000"/>
            <a:ext cx="2520000" cy="360000"/>
          </a:xfrm>
          <a:prstGeom prst="rect">
            <a:avLst/>
          </a:prstGeom>
          <a:noFill/>
        </p:spPr>
        <p:txBody>
          <a:bodyPr wrap="square">
            <a:spAutoFit/>
          </a:bodyPr>
          <a:lstStyle/>
          <a:p>
            <a:pPr algn="l">
              <a:defRPr sz="1000" b="1">
                <a:solidFill>
                  <a:srgbClr val="333333"/>
                </a:solidFill>
                <a:latin typeface="Inter"/>
              </a:defRPr>
            </a:pPr>
            <a:r>
              <a:t>Carrelet largeur milieu haut</a:t>
            </a:r>
          </a:p>
        </p:txBody>
      </p:sp>
      <p:sp>
        <p:nvSpPr>
          <p:cNvPr id="29" name="TextBox 28"/>
          <p:cNvSpPr txBox="1"/>
          <p:nvPr/>
        </p:nvSpPr>
        <p:spPr>
          <a:xfrm>
            <a:off x="1440000" y="3240000"/>
            <a:ext cx="2520000" cy="360000"/>
          </a:xfrm>
          <a:prstGeom prst="rect">
            <a:avLst/>
          </a:prstGeom>
          <a:noFill/>
        </p:spPr>
        <p:txBody>
          <a:bodyPr wrap="square">
            <a:spAutoFit/>
          </a:bodyPr>
          <a:lstStyle/>
          <a:p>
            <a:pPr algn="l">
              <a:defRPr sz="800" b="0">
                <a:solidFill>
                  <a:srgbClr val="666666"/>
                </a:solidFill>
                <a:latin typeface="Inter"/>
              </a:defRPr>
            </a:pPr>
            <a:r>
              <a:t>73 cm</a:t>
            </a:r>
          </a:p>
        </p:txBody>
      </p:sp>
      <p:sp>
        <p:nvSpPr>
          <p:cNvPr id="30" name="Rounded Rectangle 29"/>
          <p:cNvSpPr/>
          <p:nvPr/>
        </p:nvSpPr>
        <p:spPr>
          <a:xfrm>
            <a:off x="6120000" y="2808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28000" y="2988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28000" y="3096000"/>
            <a:ext cx="648000" cy="360000"/>
          </a:xfrm>
          <a:prstGeom prst="rect">
            <a:avLst/>
          </a:prstGeom>
          <a:noFill/>
        </p:spPr>
        <p:txBody>
          <a:bodyPr wrap="square">
            <a:spAutoFit/>
          </a:bodyPr>
          <a:lstStyle/>
          <a:p>
            <a:pPr algn="ctr">
              <a:defRPr sz="1200" b="1">
                <a:solidFill>
                  <a:srgbClr val="FFFFFF"/>
                </a:solidFill>
                <a:latin typeface="Inter"/>
              </a:defRPr>
            </a:pPr>
            <a:r>
              <a:t>B6</a:t>
            </a:r>
          </a:p>
        </p:txBody>
      </p:sp>
      <p:sp>
        <p:nvSpPr>
          <p:cNvPr id="33" name="TextBox 32"/>
          <p:cNvSpPr txBox="1"/>
          <p:nvPr/>
        </p:nvSpPr>
        <p:spPr>
          <a:xfrm>
            <a:off x="7020000" y="2916000"/>
            <a:ext cx="2520000" cy="360000"/>
          </a:xfrm>
          <a:prstGeom prst="rect">
            <a:avLst/>
          </a:prstGeom>
          <a:noFill/>
        </p:spPr>
        <p:txBody>
          <a:bodyPr wrap="square">
            <a:spAutoFit/>
          </a:bodyPr>
          <a:lstStyle/>
          <a:p>
            <a:pPr algn="l">
              <a:defRPr sz="1000" b="1">
                <a:solidFill>
                  <a:srgbClr val="333333"/>
                </a:solidFill>
                <a:latin typeface="Inter"/>
              </a:defRPr>
            </a:pPr>
            <a:r>
              <a:t>Carrelet largeur milieu haut 2</a:t>
            </a:r>
          </a:p>
        </p:txBody>
      </p:sp>
      <p:sp>
        <p:nvSpPr>
          <p:cNvPr id="34" name="TextBox 33"/>
          <p:cNvSpPr txBox="1"/>
          <p:nvPr/>
        </p:nvSpPr>
        <p:spPr>
          <a:xfrm>
            <a:off x="7020000" y="3240000"/>
            <a:ext cx="2520000" cy="360000"/>
          </a:xfrm>
          <a:prstGeom prst="rect">
            <a:avLst/>
          </a:prstGeom>
          <a:noFill/>
        </p:spPr>
        <p:txBody>
          <a:bodyPr wrap="square">
            <a:spAutoFit/>
          </a:bodyPr>
          <a:lstStyle/>
          <a:p>
            <a:pPr algn="l">
              <a:defRPr sz="800" b="0">
                <a:solidFill>
                  <a:srgbClr val="666666"/>
                </a:solidFill>
                <a:latin typeface="Inter"/>
              </a:defRPr>
            </a:pPr>
            <a:r>
              <a:t>73 cm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180000"/>
            <a:ext cx="9000000" cy="432000"/>
          </a:xfrm>
          <a:prstGeom prst="rect">
            <a:avLst/>
          </a:prstGeom>
          <a:noFill/>
        </p:spPr>
        <p:txBody>
          <a:bodyPr wrap="square">
            <a:spAutoFit/>
          </a:bodyPr>
          <a:lstStyle/>
          <a:p>
            <a:pPr algn="l">
              <a:defRPr sz="1800" b="1">
                <a:solidFill>
                  <a:srgbClr val="2B5EA7"/>
                </a:solidFill>
                <a:latin typeface="Inter"/>
              </a:defRPr>
            </a:pPr>
            <a:r>
              <a:t>Pièces à découper — Ossature carrelets (2/3)</a:t>
            </a:r>
          </a:p>
        </p:txBody>
      </p:sp>
      <p:sp>
        <p:nvSpPr>
          <p:cNvPr id="3" name="Rounded Rectangle 2"/>
          <p:cNvSpPr/>
          <p:nvPr/>
        </p:nvSpPr>
        <p:spPr>
          <a:xfrm>
            <a:off x="540000" y="792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8000" y="972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8000" y="1080000"/>
            <a:ext cx="648000" cy="360000"/>
          </a:xfrm>
          <a:prstGeom prst="rect">
            <a:avLst/>
          </a:prstGeom>
          <a:noFill/>
        </p:spPr>
        <p:txBody>
          <a:bodyPr wrap="square">
            <a:spAutoFit/>
          </a:bodyPr>
          <a:lstStyle/>
          <a:p>
            <a:pPr algn="ctr">
              <a:defRPr sz="1200" b="1">
                <a:solidFill>
                  <a:srgbClr val="FFFFFF"/>
                </a:solidFill>
                <a:latin typeface="Inter"/>
              </a:defRPr>
            </a:pPr>
            <a:r>
              <a:t>B7</a:t>
            </a:r>
          </a:p>
        </p:txBody>
      </p:sp>
      <p:sp>
        <p:nvSpPr>
          <p:cNvPr id="6" name="TextBox 5"/>
          <p:cNvSpPr txBox="1"/>
          <p:nvPr/>
        </p:nvSpPr>
        <p:spPr>
          <a:xfrm>
            <a:off x="1440000" y="900000"/>
            <a:ext cx="2520000" cy="360000"/>
          </a:xfrm>
          <a:prstGeom prst="rect">
            <a:avLst/>
          </a:prstGeom>
          <a:noFill/>
        </p:spPr>
        <p:txBody>
          <a:bodyPr wrap="square">
            <a:spAutoFit/>
          </a:bodyPr>
          <a:lstStyle/>
          <a:p>
            <a:pPr algn="l">
              <a:defRPr sz="1000" b="1">
                <a:solidFill>
                  <a:srgbClr val="333333"/>
                </a:solidFill>
                <a:latin typeface="Inter"/>
              </a:defRPr>
            </a:pPr>
            <a:r>
              <a:t>Carrelet largeur bas droite</a:t>
            </a:r>
          </a:p>
        </p:txBody>
      </p:sp>
      <p:sp>
        <p:nvSpPr>
          <p:cNvPr id="7" name="TextBox 6"/>
          <p:cNvSpPr txBox="1"/>
          <p:nvPr/>
        </p:nvSpPr>
        <p:spPr>
          <a:xfrm>
            <a:off x="1440000" y="1224000"/>
            <a:ext cx="2520000" cy="360000"/>
          </a:xfrm>
          <a:prstGeom prst="rect">
            <a:avLst/>
          </a:prstGeom>
          <a:noFill/>
        </p:spPr>
        <p:txBody>
          <a:bodyPr wrap="square">
            <a:spAutoFit/>
          </a:bodyPr>
          <a:lstStyle/>
          <a:p>
            <a:pPr algn="l">
              <a:defRPr sz="800" b="0">
                <a:solidFill>
                  <a:srgbClr val="666666"/>
                </a:solidFill>
                <a:latin typeface="Inter"/>
              </a:defRPr>
            </a:pPr>
            <a:r>
              <a:t>71,5 cm</a:t>
            </a:r>
          </a:p>
        </p:txBody>
      </p:sp>
      <p:sp>
        <p:nvSpPr>
          <p:cNvPr id="8" name="Rounded Rectangle 7"/>
          <p:cNvSpPr/>
          <p:nvPr/>
        </p:nvSpPr>
        <p:spPr>
          <a:xfrm>
            <a:off x="6120000" y="792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28000" y="972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28000" y="1080000"/>
            <a:ext cx="648000" cy="360000"/>
          </a:xfrm>
          <a:prstGeom prst="rect">
            <a:avLst/>
          </a:prstGeom>
          <a:noFill/>
        </p:spPr>
        <p:txBody>
          <a:bodyPr wrap="square">
            <a:spAutoFit/>
          </a:bodyPr>
          <a:lstStyle/>
          <a:p>
            <a:pPr algn="ctr">
              <a:defRPr sz="1200" b="1">
                <a:solidFill>
                  <a:srgbClr val="FFFFFF"/>
                </a:solidFill>
                <a:latin typeface="Inter"/>
              </a:defRPr>
            </a:pPr>
            <a:r>
              <a:t>B8</a:t>
            </a:r>
          </a:p>
        </p:txBody>
      </p:sp>
      <p:sp>
        <p:nvSpPr>
          <p:cNvPr id="11" name="TextBox 10"/>
          <p:cNvSpPr txBox="1"/>
          <p:nvPr/>
        </p:nvSpPr>
        <p:spPr>
          <a:xfrm>
            <a:off x="7020000" y="900000"/>
            <a:ext cx="2520000" cy="360000"/>
          </a:xfrm>
          <a:prstGeom prst="rect">
            <a:avLst/>
          </a:prstGeom>
          <a:noFill/>
        </p:spPr>
        <p:txBody>
          <a:bodyPr wrap="square">
            <a:spAutoFit/>
          </a:bodyPr>
          <a:lstStyle/>
          <a:p>
            <a:pPr algn="l">
              <a:defRPr sz="1000" b="1">
                <a:solidFill>
                  <a:srgbClr val="333333"/>
                </a:solidFill>
                <a:latin typeface="Inter"/>
              </a:defRPr>
            </a:pPr>
            <a:r>
              <a:t>Carrelet largeur 1</a:t>
            </a:r>
          </a:p>
        </p:txBody>
      </p:sp>
      <p:sp>
        <p:nvSpPr>
          <p:cNvPr id="12" name="TextBox 11"/>
          <p:cNvSpPr txBox="1"/>
          <p:nvPr/>
        </p:nvSpPr>
        <p:spPr>
          <a:xfrm>
            <a:off x="7020000" y="1224000"/>
            <a:ext cx="2520000" cy="360000"/>
          </a:xfrm>
          <a:prstGeom prst="rect">
            <a:avLst/>
          </a:prstGeom>
          <a:noFill/>
        </p:spPr>
        <p:txBody>
          <a:bodyPr wrap="square">
            <a:spAutoFit/>
          </a:bodyPr>
          <a:lstStyle/>
          <a:p>
            <a:pPr algn="l">
              <a:defRPr sz="800" b="0">
                <a:solidFill>
                  <a:srgbClr val="666666"/>
                </a:solidFill>
                <a:latin typeface="Inter"/>
              </a:defRPr>
            </a:pPr>
            <a:r>
              <a:t>71,5 cm</a:t>
            </a:r>
          </a:p>
        </p:txBody>
      </p:sp>
      <p:sp>
        <p:nvSpPr>
          <p:cNvPr id="13" name="Rounded Rectangle 12"/>
          <p:cNvSpPr/>
          <p:nvPr/>
        </p:nvSpPr>
        <p:spPr>
          <a:xfrm>
            <a:off x="540000" y="1800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8000" y="1980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000" y="2088000"/>
            <a:ext cx="648000" cy="360000"/>
          </a:xfrm>
          <a:prstGeom prst="rect">
            <a:avLst/>
          </a:prstGeom>
          <a:noFill/>
        </p:spPr>
        <p:txBody>
          <a:bodyPr wrap="square">
            <a:spAutoFit/>
          </a:bodyPr>
          <a:lstStyle/>
          <a:p>
            <a:pPr algn="ctr">
              <a:defRPr sz="1200" b="1">
                <a:solidFill>
                  <a:srgbClr val="FFFFFF"/>
                </a:solidFill>
                <a:latin typeface="Inter"/>
              </a:defRPr>
            </a:pPr>
            <a:r>
              <a:t>B9</a:t>
            </a:r>
          </a:p>
        </p:txBody>
      </p:sp>
      <p:sp>
        <p:nvSpPr>
          <p:cNvPr id="16" name="TextBox 15"/>
          <p:cNvSpPr txBox="1"/>
          <p:nvPr/>
        </p:nvSpPr>
        <p:spPr>
          <a:xfrm>
            <a:off x="1440000" y="1908000"/>
            <a:ext cx="2520000" cy="360000"/>
          </a:xfrm>
          <a:prstGeom prst="rect">
            <a:avLst/>
          </a:prstGeom>
          <a:noFill/>
        </p:spPr>
        <p:txBody>
          <a:bodyPr wrap="square">
            <a:spAutoFit/>
          </a:bodyPr>
          <a:lstStyle/>
          <a:p>
            <a:pPr algn="l">
              <a:defRPr sz="1000" b="1">
                <a:solidFill>
                  <a:srgbClr val="333333"/>
                </a:solidFill>
                <a:latin typeface="Inter"/>
              </a:defRPr>
            </a:pPr>
            <a:r>
              <a:t>Carrelet largeur milieu bas 2</a:t>
            </a:r>
          </a:p>
        </p:txBody>
      </p:sp>
      <p:sp>
        <p:nvSpPr>
          <p:cNvPr id="17" name="TextBox 16"/>
          <p:cNvSpPr txBox="1"/>
          <p:nvPr/>
        </p:nvSpPr>
        <p:spPr>
          <a:xfrm>
            <a:off x="1440000" y="2232000"/>
            <a:ext cx="2520000" cy="360000"/>
          </a:xfrm>
          <a:prstGeom prst="rect">
            <a:avLst/>
          </a:prstGeom>
          <a:noFill/>
        </p:spPr>
        <p:txBody>
          <a:bodyPr wrap="square">
            <a:spAutoFit/>
          </a:bodyPr>
          <a:lstStyle/>
          <a:p>
            <a:pPr algn="l">
              <a:defRPr sz="800" b="0">
                <a:solidFill>
                  <a:srgbClr val="666666"/>
                </a:solidFill>
                <a:latin typeface="Inter"/>
              </a:defRPr>
            </a:pPr>
            <a:r>
              <a:t>71,5 cm</a:t>
            </a:r>
          </a:p>
        </p:txBody>
      </p:sp>
      <p:sp>
        <p:nvSpPr>
          <p:cNvPr id="18" name="Rounded Rectangle 17"/>
          <p:cNvSpPr/>
          <p:nvPr/>
        </p:nvSpPr>
        <p:spPr>
          <a:xfrm>
            <a:off x="6120000" y="1800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28000" y="1980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28000" y="2088000"/>
            <a:ext cx="648000" cy="360000"/>
          </a:xfrm>
          <a:prstGeom prst="rect">
            <a:avLst/>
          </a:prstGeom>
          <a:noFill/>
        </p:spPr>
        <p:txBody>
          <a:bodyPr wrap="square">
            <a:spAutoFit/>
          </a:bodyPr>
          <a:lstStyle/>
          <a:p>
            <a:pPr algn="ctr">
              <a:defRPr sz="1200" b="1">
                <a:solidFill>
                  <a:srgbClr val="FFFFFF"/>
                </a:solidFill>
                <a:latin typeface="Inter"/>
              </a:defRPr>
            </a:pPr>
            <a:r>
              <a:t>B10</a:t>
            </a:r>
          </a:p>
        </p:txBody>
      </p:sp>
      <p:sp>
        <p:nvSpPr>
          <p:cNvPr id="21" name="TextBox 20"/>
          <p:cNvSpPr txBox="1"/>
          <p:nvPr/>
        </p:nvSpPr>
        <p:spPr>
          <a:xfrm>
            <a:off x="7020000" y="1908000"/>
            <a:ext cx="2520000" cy="360000"/>
          </a:xfrm>
          <a:prstGeom prst="rect">
            <a:avLst/>
          </a:prstGeom>
          <a:noFill/>
        </p:spPr>
        <p:txBody>
          <a:bodyPr wrap="square">
            <a:spAutoFit/>
          </a:bodyPr>
          <a:lstStyle/>
          <a:p>
            <a:pPr algn="l">
              <a:defRPr sz="1000" b="1">
                <a:solidFill>
                  <a:srgbClr val="333333"/>
                </a:solidFill>
                <a:latin typeface="Inter"/>
              </a:defRPr>
            </a:pPr>
            <a:r>
              <a:t>Carrelet droite largeur 2</a:t>
            </a:r>
          </a:p>
        </p:txBody>
      </p:sp>
      <p:sp>
        <p:nvSpPr>
          <p:cNvPr id="22" name="TextBox 21"/>
          <p:cNvSpPr txBox="1"/>
          <p:nvPr/>
        </p:nvSpPr>
        <p:spPr>
          <a:xfrm>
            <a:off x="7020000" y="2232000"/>
            <a:ext cx="2520000" cy="360000"/>
          </a:xfrm>
          <a:prstGeom prst="rect">
            <a:avLst/>
          </a:prstGeom>
          <a:noFill/>
        </p:spPr>
        <p:txBody>
          <a:bodyPr wrap="square">
            <a:spAutoFit/>
          </a:bodyPr>
          <a:lstStyle/>
          <a:p>
            <a:pPr algn="l">
              <a:defRPr sz="800" b="0">
                <a:solidFill>
                  <a:srgbClr val="666666"/>
                </a:solidFill>
                <a:latin typeface="Inter"/>
              </a:defRPr>
            </a:pPr>
            <a:r>
              <a:t>65,8 cm</a:t>
            </a:r>
          </a:p>
        </p:txBody>
      </p:sp>
      <p:sp>
        <p:nvSpPr>
          <p:cNvPr id="23" name="Rounded Rectangle 22"/>
          <p:cNvSpPr/>
          <p:nvPr/>
        </p:nvSpPr>
        <p:spPr>
          <a:xfrm>
            <a:off x="540000" y="2808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8000" y="2988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000" y="3096000"/>
            <a:ext cx="648000" cy="360000"/>
          </a:xfrm>
          <a:prstGeom prst="rect">
            <a:avLst/>
          </a:prstGeom>
          <a:noFill/>
        </p:spPr>
        <p:txBody>
          <a:bodyPr wrap="square">
            <a:spAutoFit/>
          </a:bodyPr>
          <a:lstStyle/>
          <a:p>
            <a:pPr algn="ctr">
              <a:defRPr sz="1200" b="1">
                <a:solidFill>
                  <a:srgbClr val="FFFFFF"/>
                </a:solidFill>
                <a:latin typeface="Inter"/>
              </a:defRPr>
            </a:pPr>
            <a:r>
              <a:t>B11</a:t>
            </a:r>
          </a:p>
        </p:txBody>
      </p:sp>
      <p:sp>
        <p:nvSpPr>
          <p:cNvPr id="26" name="TextBox 25"/>
          <p:cNvSpPr txBox="1"/>
          <p:nvPr/>
        </p:nvSpPr>
        <p:spPr>
          <a:xfrm>
            <a:off x="1440000" y="2916000"/>
            <a:ext cx="2520000" cy="360000"/>
          </a:xfrm>
          <a:prstGeom prst="rect">
            <a:avLst/>
          </a:prstGeom>
          <a:noFill/>
        </p:spPr>
        <p:txBody>
          <a:bodyPr wrap="square">
            <a:spAutoFit/>
          </a:bodyPr>
          <a:lstStyle/>
          <a:p>
            <a:pPr algn="l">
              <a:defRPr sz="1000" b="1">
                <a:solidFill>
                  <a:srgbClr val="333333"/>
                </a:solidFill>
                <a:latin typeface="Inter"/>
              </a:defRPr>
            </a:pPr>
            <a:r>
              <a:t>Carrelet vertical avant droite</a:t>
            </a:r>
          </a:p>
        </p:txBody>
      </p:sp>
      <p:sp>
        <p:nvSpPr>
          <p:cNvPr id="27" name="TextBox 26"/>
          <p:cNvSpPr txBox="1"/>
          <p:nvPr/>
        </p:nvSpPr>
        <p:spPr>
          <a:xfrm>
            <a:off x="1440000" y="3240000"/>
            <a:ext cx="2520000" cy="360000"/>
          </a:xfrm>
          <a:prstGeom prst="rect">
            <a:avLst/>
          </a:prstGeom>
          <a:noFill/>
        </p:spPr>
        <p:txBody>
          <a:bodyPr wrap="square">
            <a:spAutoFit/>
          </a:bodyPr>
          <a:lstStyle/>
          <a:p>
            <a:pPr algn="l">
              <a:defRPr sz="800" b="0">
                <a:solidFill>
                  <a:srgbClr val="666666"/>
                </a:solidFill>
                <a:latin typeface="Inter"/>
              </a:defRPr>
            </a:pPr>
            <a:r>
              <a:t>26,5 cm</a:t>
            </a:r>
          </a:p>
        </p:txBody>
      </p:sp>
      <p:sp>
        <p:nvSpPr>
          <p:cNvPr id="28" name="Rounded Rectangle 27"/>
          <p:cNvSpPr/>
          <p:nvPr/>
        </p:nvSpPr>
        <p:spPr>
          <a:xfrm>
            <a:off x="6120000" y="2808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228000" y="2988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28000" y="3096000"/>
            <a:ext cx="648000" cy="360000"/>
          </a:xfrm>
          <a:prstGeom prst="rect">
            <a:avLst/>
          </a:prstGeom>
          <a:noFill/>
        </p:spPr>
        <p:txBody>
          <a:bodyPr wrap="square">
            <a:spAutoFit/>
          </a:bodyPr>
          <a:lstStyle/>
          <a:p>
            <a:pPr algn="ctr">
              <a:defRPr sz="1200" b="1">
                <a:solidFill>
                  <a:srgbClr val="FFFFFF"/>
                </a:solidFill>
                <a:latin typeface="Inter"/>
              </a:defRPr>
            </a:pPr>
            <a:r>
              <a:t>B12</a:t>
            </a:r>
          </a:p>
        </p:txBody>
      </p:sp>
      <p:sp>
        <p:nvSpPr>
          <p:cNvPr id="31" name="TextBox 30"/>
          <p:cNvSpPr txBox="1"/>
          <p:nvPr/>
        </p:nvSpPr>
        <p:spPr>
          <a:xfrm>
            <a:off x="7020000" y="2916000"/>
            <a:ext cx="2520000" cy="360000"/>
          </a:xfrm>
          <a:prstGeom prst="rect">
            <a:avLst/>
          </a:prstGeom>
          <a:noFill/>
        </p:spPr>
        <p:txBody>
          <a:bodyPr wrap="square">
            <a:spAutoFit/>
          </a:bodyPr>
          <a:lstStyle/>
          <a:p>
            <a:pPr algn="l">
              <a:defRPr sz="1000" b="1">
                <a:solidFill>
                  <a:srgbClr val="333333"/>
                </a:solidFill>
                <a:latin typeface="Inter"/>
              </a:defRPr>
            </a:pPr>
            <a:r>
              <a:t>Carrelet vertical avant gauche</a:t>
            </a:r>
          </a:p>
        </p:txBody>
      </p:sp>
      <p:sp>
        <p:nvSpPr>
          <p:cNvPr id="32" name="TextBox 31"/>
          <p:cNvSpPr txBox="1"/>
          <p:nvPr/>
        </p:nvSpPr>
        <p:spPr>
          <a:xfrm>
            <a:off x="7020000" y="3240000"/>
            <a:ext cx="2520000" cy="360000"/>
          </a:xfrm>
          <a:prstGeom prst="rect">
            <a:avLst/>
          </a:prstGeom>
          <a:noFill/>
        </p:spPr>
        <p:txBody>
          <a:bodyPr wrap="square">
            <a:spAutoFit/>
          </a:bodyPr>
          <a:lstStyle/>
          <a:p>
            <a:pPr algn="l">
              <a:defRPr sz="800" b="0">
                <a:solidFill>
                  <a:srgbClr val="666666"/>
                </a:solidFill>
                <a:latin typeface="Inter"/>
              </a:defRPr>
            </a:pPr>
            <a:r>
              <a:t>26,5 cm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180000"/>
            <a:ext cx="9000000" cy="432000"/>
          </a:xfrm>
          <a:prstGeom prst="rect">
            <a:avLst/>
          </a:prstGeom>
          <a:noFill/>
        </p:spPr>
        <p:txBody>
          <a:bodyPr wrap="square">
            <a:spAutoFit/>
          </a:bodyPr>
          <a:lstStyle/>
          <a:p>
            <a:pPr algn="l">
              <a:defRPr sz="1800" b="1">
                <a:solidFill>
                  <a:srgbClr val="2B5EA7"/>
                </a:solidFill>
                <a:latin typeface="Inter"/>
              </a:defRPr>
            </a:pPr>
            <a:r>
              <a:t>Pièces à découper — Ossature carrelets (3/3)</a:t>
            </a:r>
          </a:p>
        </p:txBody>
      </p:sp>
      <p:sp>
        <p:nvSpPr>
          <p:cNvPr id="3" name="Rounded Rectangle 2"/>
          <p:cNvSpPr/>
          <p:nvPr/>
        </p:nvSpPr>
        <p:spPr>
          <a:xfrm>
            <a:off x="540000" y="792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8000" y="972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8000" y="1080000"/>
            <a:ext cx="648000" cy="360000"/>
          </a:xfrm>
          <a:prstGeom prst="rect">
            <a:avLst/>
          </a:prstGeom>
          <a:noFill/>
        </p:spPr>
        <p:txBody>
          <a:bodyPr wrap="square">
            <a:spAutoFit/>
          </a:bodyPr>
          <a:lstStyle/>
          <a:p>
            <a:pPr algn="ctr">
              <a:defRPr sz="1200" b="1">
                <a:solidFill>
                  <a:srgbClr val="FFFFFF"/>
                </a:solidFill>
                <a:latin typeface="Inter"/>
              </a:defRPr>
            </a:pPr>
            <a:r>
              <a:t>B13</a:t>
            </a:r>
          </a:p>
        </p:txBody>
      </p:sp>
      <p:sp>
        <p:nvSpPr>
          <p:cNvPr id="6" name="TextBox 5"/>
          <p:cNvSpPr txBox="1"/>
          <p:nvPr/>
        </p:nvSpPr>
        <p:spPr>
          <a:xfrm>
            <a:off x="1440000" y="900000"/>
            <a:ext cx="2520000" cy="360000"/>
          </a:xfrm>
          <a:prstGeom prst="rect">
            <a:avLst/>
          </a:prstGeom>
          <a:noFill/>
        </p:spPr>
        <p:txBody>
          <a:bodyPr wrap="square">
            <a:spAutoFit/>
          </a:bodyPr>
          <a:lstStyle/>
          <a:p>
            <a:pPr algn="l">
              <a:defRPr sz="1000" b="1">
                <a:solidFill>
                  <a:srgbClr val="333333"/>
                </a:solidFill>
                <a:latin typeface="Inter"/>
              </a:defRPr>
            </a:pPr>
            <a:r>
              <a:t>Carrelet vertical fond droite</a:t>
            </a:r>
          </a:p>
        </p:txBody>
      </p:sp>
      <p:sp>
        <p:nvSpPr>
          <p:cNvPr id="7" name="TextBox 6"/>
          <p:cNvSpPr txBox="1"/>
          <p:nvPr/>
        </p:nvSpPr>
        <p:spPr>
          <a:xfrm>
            <a:off x="1440000" y="1224000"/>
            <a:ext cx="2520000" cy="360000"/>
          </a:xfrm>
          <a:prstGeom prst="rect">
            <a:avLst/>
          </a:prstGeom>
          <a:noFill/>
        </p:spPr>
        <p:txBody>
          <a:bodyPr wrap="square">
            <a:spAutoFit/>
          </a:bodyPr>
          <a:lstStyle/>
          <a:p>
            <a:pPr algn="l">
              <a:defRPr sz="800" b="0">
                <a:solidFill>
                  <a:srgbClr val="666666"/>
                </a:solidFill>
                <a:latin typeface="Inter"/>
              </a:defRPr>
            </a:pPr>
            <a:r>
              <a:t>32 cm</a:t>
            </a:r>
          </a:p>
        </p:txBody>
      </p:sp>
      <p:sp>
        <p:nvSpPr>
          <p:cNvPr id="8" name="Rounded Rectangle 7"/>
          <p:cNvSpPr/>
          <p:nvPr/>
        </p:nvSpPr>
        <p:spPr>
          <a:xfrm>
            <a:off x="6120000" y="792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28000" y="972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28000" y="1080000"/>
            <a:ext cx="648000" cy="360000"/>
          </a:xfrm>
          <a:prstGeom prst="rect">
            <a:avLst/>
          </a:prstGeom>
          <a:noFill/>
        </p:spPr>
        <p:txBody>
          <a:bodyPr wrap="square">
            <a:spAutoFit/>
          </a:bodyPr>
          <a:lstStyle/>
          <a:p>
            <a:pPr algn="ctr">
              <a:defRPr sz="1200" b="1">
                <a:solidFill>
                  <a:srgbClr val="FFFFFF"/>
                </a:solidFill>
                <a:latin typeface="Inter"/>
              </a:defRPr>
            </a:pPr>
            <a:r>
              <a:t>B14</a:t>
            </a:r>
          </a:p>
        </p:txBody>
      </p:sp>
      <p:sp>
        <p:nvSpPr>
          <p:cNvPr id="11" name="TextBox 10"/>
          <p:cNvSpPr txBox="1"/>
          <p:nvPr/>
        </p:nvSpPr>
        <p:spPr>
          <a:xfrm>
            <a:off x="7020000" y="900000"/>
            <a:ext cx="2520000" cy="360000"/>
          </a:xfrm>
          <a:prstGeom prst="rect">
            <a:avLst/>
          </a:prstGeom>
          <a:noFill/>
        </p:spPr>
        <p:txBody>
          <a:bodyPr wrap="square">
            <a:spAutoFit/>
          </a:bodyPr>
          <a:lstStyle/>
          <a:p>
            <a:pPr algn="l">
              <a:defRPr sz="1000" b="1">
                <a:solidFill>
                  <a:srgbClr val="333333"/>
                </a:solidFill>
                <a:latin typeface="Inter"/>
              </a:defRPr>
            </a:pPr>
            <a:r>
              <a:t>Carrelet vertical intérieur fond</a:t>
            </a:r>
          </a:p>
        </p:txBody>
      </p:sp>
      <p:sp>
        <p:nvSpPr>
          <p:cNvPr id="12" name="TextBox 11"/>
          <p:cNvSpPr txBox="1"/>
          <p:nvPr/>
        </p:nvSpPr>
        <p:spPr>
          <a:xfrm>
            <a:off x="7020000" y="1224000"/>
            <a:ext cx="2520000" cy="360000"/>
          </a:xfrm>
          <a:prstGeom prst="rect">
            <a:avLst/>
          </a:prstGeom>
          <a:noFill/>
        </p:spPr>
        <p:txBody>
          <a:bodyPr wrap="square">
            <a:spAutoFit/>
          </a:bodyPr>
          <a:lstStyle/>
          <a:p>
            <a:pPr algn="l">
              <a:defRPr sz="800" b="0">
                <a:solidFill>
                  <a:srgbClr val="666666"/>
                </a:solidFill>
                <a:latin typeface="Inter"/>
              </a:defRPr>
            </a:pPr>
            <a:r>
              <a:t>32 cm</a:t>
            </a:r>
          </a:p>
        </p:txBody>
      </p:sp>
      <p:sp>
        <p:nvSpPr>
          <p:cNvPr id="13" name="Rounded Rectangle 12"/>
          <p:cNvSpPr/>
          <p:nvPr/>
        </p:nvSpPr>
        <p:spPr>
          <a:xfrm>
            <a:off x="540000" y="1800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8000" y="1980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000" y="2088000"/>
            <a:ext cx="648000" cy="360000"/>
          </a:xfrm>
          <a:prstGeom prst="rect">
            <a:avLst/>
          </a:prstGeom>
          <a:noFill/>
        </p:spPr>
        <p:txBody>
          <a:bodyPr wrap="square">
            <a:spAutoFit/>
          </a:bodyPr>
          <a:lstStyle/>
          <a:p>
            <a:pPr algn="ctr">
              <a:defRPr sz="1200" b="1">
                <a:solidFill>
                  <a:srgbClr val="FFFFFF"/>
                </a:solidFill>
                <a:latin typeface="Inter"/>
              </a:defRPr>
            </a:pPr>
            <a:r>
              <a:t>B15</a:t>
            </a:r>
          </a:p>
        </p:txBody>
      </p:sp>
      <p:sp>
        <p:nvSpPr>
          <p:cNvPr id="16" name="TextBox 15"/>
          <p:cNvSpPr txBox="1"/>
          <p:nvPr/>
        </p:nvSpPr>
        <p:spPr>
          <a:xfrm>
            <a:off x="1440000" y="1908000"/>
            <a:ext cx="2520000" cy="360000"/>
          </a:xfrm>
          <a:prstGeom prst="rect">
            <a:avLst/>
          </a:prstGeom>
          <a:noFill/>
        </p:spPr>
        <p:txBody>
          <a:bodyPr wrap="square">
            <a:spAutoFit/>
          </a:bodyPr>
          <a:lstStyle/>
          <a:p>
            <a:pPr algn="l">
              <a:defRPr sz="1000" b="1">
                <a:solidFill>
                  <a:srgbClr val="333333"/>
                </a:solidFill>
                <a:latin typeface="Inter"/>
              </a:defRPr>
            </a:pPr>
            <a:r>
              <a:t>Carrelet gauche vertical</a:t>
            </a:r>
          </a:p>
        </p:txBody>
      </p:sp>
      <p:sp>
        <p:nvSpPr>
          <p:cNvPr id="17" name="TextBox 16"/>
          <p:cNvSpPr txBox="1"/>
          <p:nvPr/>
        </p:nvSpPr>
        <p:spPr>
          <a:xfrm>
            <a:off x="1440000" y="2232000"/>
            <a:ext cx="2520000" cy="360000"/>
          </a:xfrm>
          <a:prstGeom prst="rect">
            <a:avLst/>
          </a:prstGeom>
          <a:noFill/>
        </p:spPr>
        <p:txBody>
          <a:bodyPr wrap="square">
            <a:spAutoFit/>
          </a:bodyPr>
          <a:lstStyle/>
          <a:p>
            <a:pPr algn="l">
              <a:defRPr sz="800" b="0">
                <a:solidFill>
                  <a:srgbClr val="666666"/>
                </a:solidFill>
                <a:latin typeface="Inter"/>
              </a:defRPr>
            </a:pPr>
            <a:r>
              <a:t>32 cm</a:t>
            </a:r>
          </a:p>
        </p:txBody>
      </p:sp>
      <p:sp>
        <p:nvSpPr>
          <p:cNvPr id="18" name="Rounded Rectangle 17"/>
          <p:cNvSpPr/>
          <p:nvPr/>
        </p:nvSpPr>
        <p:spPr>
          <a:xfrm>
            <a:off x="6120000" y="1800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28000" y="1980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28000" y="2088000"/>
            <a:ext cx="648000" cy="360000"/>
          </a:xfrm>
          <a:prstGeom prst="rect">
            <a:avLst/>
          </a:prstGeom>
          <a:noFill/>
        </p:spPr>
        <p:txBody>
          <a:bodyPr wrap="square">
            <a:spAutoFit/>
          </a:bodyPr>
          <a:lstStyle/>
          <a:p>
            <a:pPr algn="ctr">
              <a:defRPr sz="1200" b="1">
                <a:solidFill>
                  <a:srgbClr val="FFFFFF"/>
                </a:solidFill>
                <a:latin typeface="Inter"/>
              </a:defRPr>
            </a:pPr>
            <a:r>
              <a:t>B16</a:t>
            </a:r>
          </a:p>
        </p:txBody>
      </p:sp>
      <p:sp>
        <p:nvSpPr>
          <p:cNvPr id="21" name="TextBox 20"/>
          <p:cNvSpPr txBox="1"/>
          <p:nvPr/>
        </p:nvSpPr>
        <p:spPr>
          <a:xfrm>
            <a:off x="7020000" y="1908000"/>
            <a:ext cx="2520000" cy="360000"/>
          </a:xfrm>
          <a:prstGeom prst="rect">
            <a:avLst/>
          </a:prstGeom>
          <a:noFill/>
        </p:spPr>
        <p:txBody>
          <a:bodyPr wrap="square">
            <a:spAutoFit/>
          </a:bodyPr>
          <a:lstStyle/>
          <a:p>
            <a:pPr algn="l">
              <a:defRPr sz="1000" b="1">
                <a:solidFill>
                  <a:srgbClr val="333333"/>
                </a:solidFill>
                <a:latin typeface="Inter"/>
              </a:defRPr>
            </a:pPr>
            <a:r>
              <a:t>Carrelet vertical fond gauche petit</a:t>
            </a:r>
          </a:p>
        </p:txBody>
      </p:sp>
      <p:sp>
        <p:nvSpPr>
          <p:cNvPr id="22" name="TextBox 21"/>
          <p:cNvSpPr txBox="1"/>
          <p:nvPr/>
        </p:nvSpPr>
        <p:spPr>
          <a:xfrm>
            <a:off x="7020000" y="2232000"/>
            <a:ext cx="2520000" cy="360000"/>
          </a:xfrm>
          <a:prstGeom prst="rect">
            <a:avLst/>
          </a:prstGeom>
          <a:noFill/>
        </p:spPr>
        <p:txBody>
          <a:bodyPr wrap="square">
            <a:spAutoFit/>
          </a:bodyPr>
          <a:lstStyle/>
          <a:p>
            <a:pPr algn="l">
              <a:defRPr sz="800" b="0">
                <a:solidFill>
                  <a:srgbClr val="666666"/>
                </a:solidFill>
                <a:latin typeface="Inter"/>
              </a:defRPr>
            </a:pPr>
            <a:r>
              <a:t>32 cm</a:t>
            </a:r>
          </a:p>
        </p:txBody>
      </p:sp>
      <p:sp>
        <p:nvSpPr>
          <p:cNvPr id="23" name="Rounded Rectangle 22"/>
          <p:cNvSpPr/>
          <p:nvPr/>
        </p:nvSpPr>
        <p:spPr>
          <a:xfrm>
            <a:off x="540000" y="2808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8000" y="2988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000" y="3096000"/>
            <a:ext cx="648000" cy="360000"/>
          </a:xfrm>
          <a:prstGeom prst="rect">
            <a:avLst/>
          </a:prstGeom>
          <a:noFill/>
        </p:spPr>
        <p:txBody>
          <a:bodyPr wrap="square">
            <a:spAutoFit/>
          </a:bodyPr>
          <a:lstStyle/>
          <a:p>
            <a:pPr algn="ctr">
              <a:defRPr sz="1200" b="1">
                <a:solidFill>
                  <a:srgbClr val="FFFFFF"/>
                </a:solidFill>
                <a:latin typeface="Inter"/>
              </a:defRPr>
            </a:pPr>
            <a:r>
              <a:t>B17</a:t>
            </a:r>
          </a:p>
        </p:txBody>
      </p:sp>
      <p:sp>
        <p:nvSpPr>
          <p:cNvPr id="26" name="TextBox 25"/>
          <p:cNvSpPr txBox="1"/>
          <p:nvPr/>
        </p:nvSpPr>
        <p:spPr>
          <a:xfrm>
            <a:off x="1440000" y="2916000"/>
            <a:ext cx="2520000" cy="360000"/>
          </a:xfrm>
          <a:prstGeom prst="rect">
            <a:avLst/>
          </a:prstGeom>
          <a:noFill/>
        </p:spPr>
        <p:txBody>
          <a:bodyPr wrap="square">
            <a:spAutoFit/>
          </a:bodyPr>
          <a:lstStyle/>
          <a:p>
            <a:pPr algn="l">
              <a:defRPr sz="1000" b="1">
                <a:solidFill>
                  <a:srgbClr val="333333"/>
                </a:solidFill>
                <a:latin typeface="Inter"/>
              </a:defRPr>
            </a:pPr>
            <a:r>
              <a:t>Carrelet bas gauche largeur petit</a:t>
            </a:r>
          </a:p>
        </p:txBody>
      </p:sp>
      <p:sp>
        <p:nvSpPr>
          <p:cNvPr id="27" name="TextBox 26"/>
          <p:cNvSpPr txBox="1"/>
          <p:nvPr/>
        </p:nvSpPr>
        <p:spPr>
          <a:xfrm>
            <a:off x="1440000" y="3240000"/>
            <a:ext cx="2520000" cy="360000"/>
          </a:xfrm>
          <a:prstGeom prst="rect">
            <a:avLst/>
          </a:prstGeom>
          <a:noFill/>
        </p:spPr>
        <p:txBody>
          <a:bodyPr wrap="square">
            <a:spAutoFit/>
          </a:bodyPr>
          <a:lstStyle/>
          <a:p>
            <a:pPr algn="l">
              <a:defRPr sz="800" b="0">
                <a:solidFill>
                  <a:srgbClr val="666666"/>
                </a:solidFill>
                <a:latin typeface="Inter"/>
              </a:defRPr>
            </a:pPr>
            <a:r>
              <a:t>14,5 cm</a:t>
            </a:r>
          </a:p>
        </p:txBody>
      </p:sp>
      <p:sp>
        <p:nvSpPr>
          <p:cNvPr id="28" name="Rounded Rectangle 27"/>
          <p:cNvSpPr/>
          <p:nvPr/>
        </p:nvSpPr>
        <p:spPr>
          <a:xfrm>
            <a:off x="6120000" y="2808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228000" y="2988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28000" y="3096000"/>
            <a:ext cx="648000" cy="360000"/>
          </a:xfrm>
          <a:prstGeom prst="rect">
            <a:avLst/>
          </a:prstGeom>
          <a:noFill/>
        </p:spPr>
        <p:txBody>
          <a:bodyPr wrap="square">
            <a:spAutoFit/>
          </a:bodyPr>
          <a:lstStyle/>
          <a:p>
            <a:pPr algn="ctr">
              <a:defRPr sz="1200" b="1">
                <a:solidFill>
                  <a:srgbClr val="FFFFFF"/>
                </a:solidFill>
                <a:latin typeface="Inter"/>
              </a:defRPr>
            </a:pPr>
            <a:r>
              <a:t>B18</a:t>
            </a:r>
          </a:p>
        </p:txBody>
      </p:sp>
      <p:sp>
        <p:nvSpPr>
          <p:cNvPr id="31" name="TextBox 30"/>
          <p:cNvSpPr txBox="1"/>
          <p:nvPr/>
        </p:nvSpPr>
        <p:spPr>
          <a:xfrm>
            <a:off x="7020000" y="2916000"/>
            <a:ext cx="2520000" cy="360000"/>
          </a:xfrm>
          <a:prstGeom prst="rect">
            <a:avLst/>
          </a:prstGeom>
          <a:noFill/>
        </p:spPr>
        <p:txBody>
          <a:bodyPr wrap="square">
            <a:spAutoFit/>
          </a:bodyPr>
          <a:lstStyle/>
          <a:p>
            <a:pPr algn="l">
              <a:defRPr sz="1000" b="1">
                <a:solidFill>
                  <a:srgbClr val="333333"/>
                </a:solidFill>
                <a:latin typeface="Inter"/>
              </a:defRPr>
            </a:pPr>
            <a:r>
              <a:t>Carrelet petit gauche haut</a:t>
            </a:r>
          </a:p>
        </p:txBody>
      </p:sp>
      <p:sp>
        <p:nvSpPr>
          <p:cNvPr id="32" name="TextBox 31"/>
          <p:cNvSpPr txBox="1"/>
          <p:nvPr/>
        </p:nvSpPr>
        <p:spPr>
          <a:xfrm>
            <a:off x="7020000" y="3240000"/>
            <a:ext cx="2520000" cy="360000"/>
          </a:xfrm>
          <a:prstGeom prst="rect">
            <a:avLst/>
          </a:prstGeom>
          <a:noFill/>
        </p:spPr>
        <p:txBody>
          <a:bodyPr wrap="square">
            <a:spAutoFit/>
          </a:bodyPr>
          <a:lstStyle/>
          <a:p>
            <a:pPr algn="l">
              <a:defRPr sz="800" b="0">
                <a:solidFill>
                  <a:srgbClr val="666666"/>
                </a:solidFill>
                <a:latin typeface="Inter"/>
              </a:defRPr>
            </a:pPr>
            <a:r>
              <a:t>14,5 cm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180000"/>
            <a:ext cx="9000000" cy="432000"/>
          </a:xfrm>
          <a:prstGeom prst="rect">
            <a:avLst/>
          </a:prstGeom>
          <a:noFill/>
        </p:spPr>
        <p:txBody>
          <a:bodyPr wrap="square">
            <a:spAutoFit/>
          </a:bodyPr>
          <a:lstStyle/>
          <a:p>
            <a:pPr algn="l">
              <a:defRPr sz="1800" b="1">
                <a:solidFill>
                  <a:srgbClr val="2B5EA7"/>
                </a:solidFill>
                <a:latin typeface="Inter"/>
              </a:defRPr>
            </a:pPr>
            <a:r>
              <a:t>Pièces à découper — Carrelets support tiroir</a:t>
            </a:r>
          </a:p>
        </p:txBody>
      </p:sp>
      <p:sp>
        <p:nvSpPr>
          <p:cNvPr id="3" name="Rounded Rectangle 2"/>
          <p:cNvSpPr/>
          <p:nvPr/>
        </p:nvSpPr>
        <p:spPr>
          <a:xfrm>
            <a:off x="7920000" y="108000"/>
            <a:ext cx="3780000" cy="21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920000" y="900000"/>
            <a:ext cx="3780000" cy="540000"/>
          </a:xfrm>
          <a:prstGeom prst="rect">
            <a:avLst/>
          </a:prstGeom>
          <a:noFill/>
        </p:spPr>
        <p:txBody>
          <a:bodyPr wrap="square">
            <a:spAutoFit/>
          </a:bodyPr>
          <a:lstStyle/>
          <a:p>
            <a:pPr algn="ctr">
              <a:defRPr sz="900" b="0">
                <a:solidFill>
                  <a:srgbClr val="666666"/>
                </a:solidFill>
                <a:latin typeface="Inter"/>
              </a:defRPr>
            </a:pPr>
            <a:r>
              <a:t>Coller ici le screenshot</a:t>
            </a:r>
            <a:br/>
            <a:r>
              <a:t>de la vue éclatée</a:t>
            </a:r>
          </a:p>
        </p:txBody>
      </p:sp>
      <p:sp>
        <p:nvSpPr>
          <p:cNvPr id="5" name="Rounded Rectangle 4"/>
          <p:cNvSpPr/>
          <p:nvPr/>
        </p:nvSpPr>
        <p:spPr>
          <a:xfrm>
            <a:off x="540000" y="792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8000" y="972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000" y="1080000"/>
            <a:ext cx="648000" cy="360000"/>
          </a:xfrm>
          <a:prstGeom prst="rect">
            <a:avLst/>
          </a:prstGeom>
          <a:noFill/>
        </p:spPr>
        <p:txBody>
          <a:bodyPr wrap="square">
            <a:spAutoFit/>
          </a:bodyPr>
          <a:lstStyle/>
          <a:p>
            <a:pPr algn="ctr">
              <a:defRPr sz="1200" b="1">
                <a:solidFill>
                  <a:srgbClr val="FFFFFF"/>
                </a:solidFill>
                <a:latin typeface="Inter"/>
              </a:defRPr>
            </a:pPr>
            <a:r>
              <a:t>B19</a:t>
            </a:r>
          </a:p>
        </p:txBody>
      </p:sp>
      <p:sp>
        <p:nvSpPr>
          <p:cNvPr id="8" name="TextBox 7"/>
          <p:cNvSpPr txBox="1"/>
          <p:nvPr/>
        </p:nvSpPr>
        <p:spPr>
          <a:xfrm>
            <a:off x="1440000" y="900000"/>
            <a:ext cx="2520000" cy="360000"/>
          </a:xfrm>
          <a:prstGeom prst="rect">
            <a:avLst/>
          </a:prstGeom>
          <a:noFill/>
        </p:spPr>
        <p:txBody>
          <a:bodyPr wrap="square">
            <a:spAutoFit/>
          </a:bodyPr>
          <a:lstStyle/>
          <a:p>
            <a:pPr algn="l">
              <a:defRPr sz="1000" b="1">
                <a:solidFill>
                  <a:srgbClr val="333333"/>
                </a:solidFill>
                <a:latin typeface="Inter"/>
              </a:defRPr>
            </a:pPr>
            <a:r>
              <a:t>Carrelet longueur gauche support tiroir</a:t>
            </a:r>
          </a:p>
        </p:txBody>
      </p:sp>
      <p:sp>
        <p:nvSpPr>
          <p:cNvPr id="9" name="TextBox 8"/>
          <p:cNvSpPr txBox="1"/>
          <p:nvPr/>
        </p:nvSpPr>
        <p:spPr>
          <a:xfrm>
            <a:off x="1440000" y="1224000"/>
            <a:ext cx="2520000" cy="360000"/>
          </a:xfrm>
          <a:prstGeom prst="rect">
            <a:avLst/>
          </a:prstGeom>
          <a:noFill/>
        </p:spPr>
        <p:txBody>
          <a:bodyPr wrap="square">
            <a:spAutoFit/>
          </a:bodyPr>
          <a:lstStyle/>
          <a:p>
            <a:pPr algn="l">
              <a:defRPr sz="800" b="0">
                <a:solidFill>
                  <a:srgbClr val="666666"/>
                </a:solidFill>
                <a:latin typeface="Inter"/>
              </a:defRPr>
            </a:pPr>
            <a:r>
              <a:t>101 cm</a:t>
            </a:r>
          </a:p>
        </p:txBody>
      </p:sp>
      <p:sp>
        <p:nvSpPr>
          <p:cNvPr id="10" name="Rounded Rectangle 9"/>
          <p:cNvSpPr/>
          <p:nvPr/>
        </p:nvSpPr>
        <p:spPr>
          <a:xfrm>
            <a:off x="6120000" y="792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28000" y="972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8000" y="1080000"/>
            <a:ext cx="648000" cy="360000"/>
          </a:xfrm>
          <a:prstGeom prst="rect">
            <a:avLst/>
          </a:prstGeom>
          <a:noFill/>
        </p:spPr>
        <p:txBody>
          <a:bodyPr wrap="square">
            <a:spAutoFit/>
          </a:bodyPr>
          <a:lstStyle/>
          <a:p>
            <a:pPr algn="ctr">
              <a:defRPr sz="1200" b="1">
                <a:solidFill>
                  <a:srgbClr val="FFFFFF"/>
                </a:solidFill>
                <a:latin typeface="Inter"/>
              </a:defRPr>
            </a:pPr>
            <a:r>
              <a:t>B20</a:t>
            </a:r>
          </a:p>
        </p:txBody>
      </p:sp>
      <p:sp>
        <p:nvSpPr>
          <p:cNvPr id="13" name="TextBox 12"/>
          <p:cNvSpPr txBox="1"/>
          <p:nvPr/>
        </p:nvSpPr>
        <p:spPr>
          <a:xfrm>
            <a:off x="7020000" y="900000"/>
            <a:ext cx="2520000" cy="360000"/>
          </a:xfrm>
          <a:prstGeom prst="rect">
            <a:avLst/>
          </a:prstGeom>
          <a:noFill/>
        </p:spPr>
        <p:txBody>
          <a:bodyPr wrap="square">
            <a:spAutoFit/>
          </a:bodyPr>
          <a:lstStyle/>
          <a:p>
            <a:pPr algn="l">
              <a:defRPr sz="1000" b="1">
                <a:solidFill>
                  <a:srgbClr val="333333"/>
                </a:solidFill>
                <a:latin typeface="Inter"/>
              </a:defRPr>
            </a:pPr>
            <a:r>
              <a:t>Carrelet longueur bas gauche support tiroir</a:t>
            </a:r>
          </a:p>
        </p:txBody>
      </p:sp>
      <p:sp>
        <p:nvSpPr>
          <p:cNvPr id="14" name="TextBox 13"/>
          <p:cNvSpPr txBox="1"/>
          <p:nvPr/>
        </p:nvSpPr>
        <p:spPr>
          <a:xfrm>
            <a:off x="7020000" y="1224000"/>
            <a:ext cx="2520000" cy="360000"/>
          </a:xfrm>
          <a:prstGeom prst="rect">
            <a:avLst/>
          </a:prstGeom>
          <a:noFill/>
        </p:spPr>
        <p:txBody>
          <a:bodyPr wrap="square">
            <a:spAutoFit/>
          </a:bodyPr>
          <a:lstStyle/>
          <a:p>
            <a:pPr algn="l">
              <a:defRPr sz="800" b="0">
                <a:solidFill>
                  <a:srgbClr val="666666"/>
                </a:solidFill>
                <a:latin typeface="Inter"/>
              </a:defRPr>
            </a:pPr>
            <a:r>
              <a:t>101 cm</a:t>
            </a:r>
          </a:p>
        </p:txBody>
      </p:sp>
      <p:sp>
        <p:nvSpPr>
          <p:cNvPr id="15" name="Rounded Rectangle 14"/>
          <p:cNvSpPr/>
          <p:nvPr/>
        </p:nvSpPr>
        <p:spPr>
          <a:xfrm>
            <a:off x="540000" y="1800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8000" y="1980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8000" y="2088000"/>
            <a:ext cx="648000" cy="360000"/>
          </a:xfrm>
          <a:prstGeom prst="rect">
            <a:avLst/>
          </a:prstGeom>
          <a:noFill/>
        </p:spPr>
        <p:txBody>
          <a:bodyPr wrap="square">
            <a:spAutoFit/>
          </a:bodyPr>
          <a:lstStyle/>
          <a:p>
            <a:pPr algn="ctr">
              <a:defRPr sz="1200" b="1">
                <a:solidFill>
                  <a:srgbClr val="FFFFFF"/>
                </a:solidFill>
                <a:latin typeface="Inter"/>
              </a:defRPr>
            </a:pPr>
            <a:r>
              <a:t>B21</a:t>
            </a:r>
          </a:p>
        </p:txBody>
      </p:sp>
      <p:sp>
        <p:nvSpPr>
          <p:cNvPr id="18" name="TextBox 17"/>
          <p:cNvSpPr txBox="1"/>
          <p:nvPr/>
        </p:nvSpPr>
        <p:spPr>
          <a:xfrm>
            <a:off x="1440000" y="1908000"/>
            <a:ext cx="2520000" cy="360000"/>
          </a:xfrm>
          <a:prstGeom prst="rect">
            <a:avLst/>
          </a:prstGeom>
          <a:noFill/>
        </p:spPr>
        <p:txBody>
          <a:bodyPr wrap="square">
            <a:spAutoFit/>
          </a:bodyPr>
          <a:lstStyle/>
          <a:p>
            <a:pPr algn="l">
              <a:defRPr sz="1000" b="1">
                <a:solidFill>
                  <a:srgbClr val="333333"/>
                </a:solidFill>
                <a:latin typeface="Inter"/>
              </a:defRPr>
            </a:pPr>
            <a:r>
              <a:t>Carrelet longueur droite support tiroir</a:t>
            </a:r>
          </a:p>
        </p:txBody>
      </p:sp>
      <p:sp>
        <p:nvSpPr>
          <p:cNvPr id="19" name="TextBox 18"/>
          <p:cNvSpPr txBox="1"/>
          <p:nvPr/>
        </p:nvSpPr>
        <p:spPr>
          <a:xfrm>
            <a:off x="1440000" y="2232000"/>
            <a:ext cx="2520000" cy="360000"/>
          </a:xfrm>
          <a:prstGeom prst="rect">
            <a:avLst/>
          </a:prstGeom>
          <a:noFill/>
        </p:spPr>
        <p:txBody>
          <a:bodyPr wrap="square">
            <a:spAutoFit/>
          </a:bodyPr>
          <a:lstStyle/>
          <a:p>
            <a:pPr algn="l">
              <a:defRPr sz="800" b="0">
                <a:solidFill>
                  <a:srgbClr val="666666"/>
                </a:solidFill>
                <a:latin typeface="Inter"/>
              </a:defRPr>
            </a:pPr>
            <a:r>
              <a:t>101 cm</a:t>
            </a:r>
          </a:p>
        </p:txBody>
      </p:sp>
      <p:sp>
        <p:nvSpPr>
          <p:cNvPr id="20" name="Rounded Rectangle 19"/>
          <p:cNvSpPr/>
          <p:nvPr/>
        </p:nvSpPr>
        <p:spPr>
          <a:xfrm>
            <a:off x="6120000" y="1800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28000" y="1980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28000" y="2088000"/>
            <a:ext cx="648000" cy="360000"/>
          </a:xfrm>
          <a:prstGeom prst="rect">
            <a:avLst/>
          </a:prstGeom>
          <a:noFill/>
        </p:spPr>
        <p:txBody>
          <a:bodyPr wrap="square">
            <a:spAutoFit/>
          </a:bodyPr>
          <a:lstStyle/>
          <a:p>
            <a:pPr algn="ctr">
              <a:defRPr sz="1200" b="1">
                <a:solidFill>
                  <a:srgbClr val="FFFFFF"/>
                </a:solidFill>
                <a:latin typeface="Inter"/>
              </a:defRPr>
            </a:pPr>
            <a:r>
              <a:t>B22</a:t>
            </a:r>
          </a:p>
        </p:txBody>
      </p:sp>
      <p:sp>
        <p:nvSpPr>
          <p:cNvPr id="23" name="TextBox 22"/>
          <p:cNvSpPr txBox="1"/>
          <p:nvPr/>
        </p:nvSpPr>
        <p:spPr>
          <a:xfrm>
            <a:off x="7020000" y="1908000"/>
            <a:ext cx="2520000" cy="360000"/>
          </a:xfrm>
          <a:prstGeom prst="rect">
            <a:avLst/>
          </a:prstGeom>
          <a:noFill/>
        </p:spPr>
        <p:txBody>
          <a:bodyPr wrap="square">
            <a:spAutoFit/>
          </a:bodyPr>
          <a:lstStyle/>
          <a:p>
            <a:pPr algn="l">
              <a:defRPr sz="1000" b="1">
                <a:solidFill>
                  <a:srgbClr val="333333"/>
                </a:solidFill>
                <a:latin typeface="Inter"/>
              </a:defRPr>
            </a:pPr>
            <a:r>
              <a:t>Carrelet longueur bas droit support tiroir</a:t>
            </a:r>
          </a:p>
        </p:txBody>
      </p:sp>
      <p:sp>
        <p:nvSpPr>
          <p:cNvPr id="24" name="TextBox 23"/>
          <p:cNvSpPr txBox="1"/>
          <p:nvPr/>
        </p:nvSpPr>
        <p:spPr>
          <a:xfrm>
            <a:off x="7020000" y="2232000"/>
            <a:ext cx="2520000" cy="360000"/>
          </a:xfrm>
          <a:prstGeom prst="rect">
            <a:avLst/>
          </a:prstGeom>
          <a:noFill/>
        </p:spPr>
        <p:txBody>
          <a:bodyPr wrap="square">
            <a:spAutoFit/>
          </a:bodyPr>
          <a:lstStyle/>
          <a:p>
            <a:pPr algn="l">
              <a:defRPr sz="800" b="0">
                <a:solidFill>
                  <a:srgbClr val="666666"/>
                </a:solidFill>
                <a:latin typeface="Inter"/>
              </a:defRPr>
            </a:pPr>
            <a:r>
              <a:t>101 cm</a:t>
            </a:r>
          </a:p>
        </p:txBody>
      </p:sp>
      <p:sp>
        <p:nvSpPr>
          <p:cNvPr id="25" name="Rounded Rectangle 24"/>
          <p:cNvSpPr/>
          <p:nvPr/>
        </p:nvSpPr>
        <p:spPr>
          <a:xfrm>
            <a:off x="540000" y="2808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8000" y="2988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8000" y="3096000"/>
            <a:ext cx="648000" cy="360000"/>
          </a:xfrm>
          <a:prstGeom prst="rect">
            <a:avLst/>
          </a:prstGeom>
          <a:noFill/>
        </p:spPr>
        <p:txBody>
          <a:bodyPr wrap="square">
            <a:spAutoFit/>
          </a:bodyPr>
          <a:lstStyle/>
          <a:p>
            <a:pPr algn="ctr">
              <a:defRPr sz="1200" b="1">
                <a:solidFill>
                  <a:srgbClr val="FFFFFF"/>
                </a:solidFill>
                <a:latin typeface="Inter"/>
              </a:defRPr>
            </a:pPr>
            <a:r>
              <a:t>B23</a:t>
            </a:r>
          </a:p>
        </p:txBody>
      </p:sp>
      <p:sp>
        <p:nvSpPr>
          <p:cNvPr id="28" name="TextBox 27"/>
          <p:cNvSpPr txBox="1"/>
          <p:nvPr/>
        </p:nvSpPr>
        <p:spPr>
          <a:xfrm>
            <a:off x="1440000" y="2916000"/>
            <a:ext cx="2520000" cy="360000"/>
          </a:xfrm>
          <a:prstGeom prst="rect">
            <a:avLst/>
          </a:prstGeom>
          <a:noFill/>
        </p:spPr>
        <p:txBody>
          <a:bodyPr wrap="square">
            <a:spAutoFit/>
          </a:bodyPr>
          <a:lstStyle/>
          <a:p>
            <a:pPr algn="l">
              <a:defRPr sz="1000" b="1">
                <a:solidFill>
                  <a:srgbClr val="333333"/>
                </a:solidFill>
                <a:latin typeface="Inter"/>
              </a:defRPr>
            </a:pPr>
            <a:r>
              <a:t>Carrelet vertical fond gauche support tiroir</a:t>
            </a:r>
          </a:p>
        </p:txBody>
      </p:sp>
      <p:sp>
        <p:nvSpPr>
          <p:cNvPr id="29" name="TextBox 28"/>
          <p:cNvSpPr txBox="1"/>
          <p:nvPr/>
        </p:nvSpPr>
        <p:spPr>
          <a:xfrm>
            <a:off x="1440000" y="3240000"/>
            <a:ext cx="2520000" cy="360000"/>
          </a:xfrm>
          <a:prstGeom prst="rect">
            <a:avLst/>
          </a:prstGeom>
          <a:noFill/>
        </p:spPr>
        <p:txBody>
          <a:bodyPr wrap="square">
            <a:spAutoFit/>
          </a:bodyPr>
          <a:lstStyle/>
          <a:p>
            <a:pPr algn="l">
              <a:defRPr sz="800" b="0">
                <a:solidFill>
                  <a:srgbClr val="666666"/>
                </a:solidFill>
                <a:latin typeface="Inter"/>
              </a:defRPr>
            </a:pPr>
            <a:r>
              <a:t>32 cm</a:t>
            </a:r>
          </a:p>
        </p:txBody>
      </p:sp>
      <p:sp>
        <p:nvSpPr>
          <p:cNvPr id="30" name="Rounded Rectangle 29"/>
          <p:cNvSpPr/>
          <p:nvPr/>
        </p:nvSpPr>
        <p:spPr>
          <a:xfrm>
            <a:off x="6120000" y="2808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28000" y="2988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28000" y="3096000"/>
            <a:ext cx="648000" cy="360000"/>
          </a:xfrm>
          <a:prstGeom prst="rect">
            <a:avLst/>
          </a:prstGeom>
          <a:noFill/>
        </p:spPr>
        <p:txBody>
          <a:bodyPr wrap="square">
            <a:spAutoFit/>
          </a:bodyPr>
          <a:lstStyle/>
          <a:p>
            <a:pPr algn="ctr">
              <a:defRPr sz="1200" b="1">
                <a:solidFill>
                  <a:srgbClr val="FFFFFF"/>
                </a:solidFill>
                <a:latin typeface="Inter"/>
              </a:defRPr>
            </a:pPr>
            <a:r>
              <a:t>B24</a:t>
            </a:r>
          </a:p>
        </p:txBody>
      </p:sp>
      <p:sp>
        <p:nvSpPr>
          <p:cNvPr id="33" name="TextBox 32"/>
          <p:cNvSpPr txBox="1"/>
          <p:nvPr/>
        </p:nvSpPr>
        <p:spPr>
          <a:xfrm>
            <a:off x="7020000" y="2916000"/>
            <a:ext cx="2520000" cy="360000"/>
          </a:xfrm>
          <a:prstGeom prst="rect">
            <a:avLst/>
          </a:prstGeom>
          <a:noFill/>
        </p:spPr>
        <p:txBody>
          <a:bodyPr wrap="square">
            <a:spAutoFit/>
          </a:bodyPr>
          <a:lstStyle/>
          <a:p>
            <a:pPr algn="l">
              <a:defRPr sz="1000" b="1">
                <a:solidFill>
                  <a:srgbClr val="333333"/>
                </a:solidFill>
                <a:latin typeface="Inter"/>
              </a:defRPr>
            </a:pPr>
            <a:r>
              <a:t>Carrelet vertical fond droit support tiroir</a:t>
            </a:r>
          </a:p>
        </p:txBody>
      </p:sp>
      <p:sp>
        <p:nvSpPr>
          <p:cNvPr id="34" name="TextBox 33"/>
          <p:cNvSpPr txBox="1"/>
          <p:nvPr/>
        </p:nvSpPr>
        <p:spPr>
          <a:xfrm>
            <a:off x="7020000" y="3240000"/>
            <a:ext cx="2520000" cy="360000"/>
          </a:xfrm>
          <a:prstGeom prst="rect">
            <a:avLst/>
          </a:prstGeom>
          <a:noFill/>
        </p:spPr>
        <p:txBody>
          <a:bodyPr wrap="square">
            <a:spAutoFit/>
          </a:bodyPr>
          <a:lstStyle/>
          <a:p>
            <a:pPr algn="l">
              <a:defRPr sz="800" b="0">
                <a:solidFill>
                  <a:srgbClr val="666666"/>
                </a:solidFill>
                <a:latin typeface="Inter"/>
              </a:defRPr>
            </a:pPr>
            <a:r>
              <a:t>33,5 cm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180000"/>
            <a:ext cx="9000000" cy="540000"/>
          </a:xfrm>
          <a:prstGeom prst="rect">
            <a:avLst/>
          </a:prstGeom>
          <a:noFill/>
        </p:spPr>
        <p:txBody>
          <a:bodyPr wrap="square">
            <a:spAutoFit/>
          </a:bodyPr>
          <a:lstStyle/>
          <a:p>
            <a:pPr algn="l">
              <a:defRPr sz="1800" b="1">
                <a:solidFill>
                  <a:srgbClr val="2B5EA7"/>
                </a:solidFill>
                <a:latin typeface="Inter"/>
              </a:defRPr>
            </a:pPr>
            <a:r>
              <a:t>Étapes de montage — Ossature carrelets (1/2)</a:t>
            </a:r>
          </a:p>
        </p:txBody>
      </p:sp>
      <p:sp>
        <p:nvSpPr>
          <p:cNvPr id="3" name="Oval 2"/>
          <p:cNvSpPr/>
          <p:nvPr/>
        </p:nvSpPr>
        <p:spPr>
          <a:xfrm>
            <a:off x="540000" y="864000"/>
            <a:ext cx="432000" cy="432000"/>
          </a:xfrm>
          <a:prstGeom prst="ellipse">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latin typeface="Inter"/>
              </a:defRPr>
            </a:pPr>
            <a:r>
              <a:t>1</a:t>
            </a:r>
          </a:p>
        </p:txBody>
      </p:sp>
      <p:sp>
        <p:nvSpPr>
          <p:cNvPr id="4" name="TextBox 3"/>
          <p:cNvSpPr txBox="1"/>
          <p:nvPr/>
        </p:nvSpPr>
        <p:spPr>
          <a:xfrm>
            <a:off x="1152000" y="792000"/>
            <a:ext cx="10080000" cy="360000"/>
          </a:xfrm>
          <a:prstGeom prst="rect">
            <a:avLst/>
          </a:prstGeom>
          <a:noFill/>
        </p:spPr>
        <p:txBody>
          <a:bodyPr wrap="square">
            <a:spAutoFit/>
          </a:bodyPr>
          <a:lstStyle/>
          <a:p>
            <a:pPr algn="l">
              <a:defRPr sz="1300" b="1">
                <a:solidFill>
                  <a:srgbClr val="333333"/>
                </a:solidFill>
                <a:latin typeface="Inter"/>
              </a:defRPr>
            </a:pPr>
            <a:r>
              <a:t>Cadre bas — carrelets de fond [B2, B3, B4, B8, B9]</a:t>
            </a:r>
          </a:p>
        </p:txBody>
      </p:sp>
      <p:sp>
        <p:nvSpPr>
          <p:cNvPr id="5" name="TextBox 4"/>
          <p:cNvSpPr txBox="1"/>
          <p:nvPr/>
        </p:nvSpPr>
        <p:spPr>
          <a:xfrm>
            <a:off x="1152000" y="1224000"/>
            <a:ext cx="10080000" cy="792000"/>
          </a:xfrm>
          <a:prstGeom prst="rect">
            <a:avLst/>
          </a:prstGeom>
          <a:noFill/>
        </p:spPr>
        <p:txBody>
          <a:bodyPr wrap="square">
            <a:spAutoFit/>
          </a:bodyPr>
          <a:lstStyle/>
          <a:p>
            <a:pPr algn="l">
              <a:defRPr sz="1000" b="0">
                <a:solidFill>
                  <a:srgbClr val="666666"/>
                </a:solidFill>
                <a:latin typeface="Inter"/>
              </a:defRPr>
            </a:pPr>
            <a:r>
              <a:t>Visse les carrelets horizontaux au fond de la base, le long des bords internes. B2 (face, 187 cm), B3+B4 (fond), B8+B9 (largeurs). 2 vis 3,5×25 mm par carrelet.</a:t>
            </a:r>
          </a:p>
        </p:txBody>
      </p:sp>
      <p:sp>
        <p:nvSpPr>
          <p:cNvPr id="6" name="Rectangle 5"/>
          <p:cNvSpPr/>
          <p:nvPr/>
        </p:nvSpPr>
        <p:spPr>
          <a:xfrm>
            <a:off x="1152000" y="2088000"/>
            <a:ext cx="10080000" cy="635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0000" y="2232000"/>
            <a:ext cx="432000" cy="432000"/>
          </a:xfrm>
          <a:prstGeom prst="ellipse">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latin typeface="Inter"/>
              </a:defRPr>
            </a:pPr>
            <a:r>
              <a:t>2</a:t>
            </a:r>
          </a:p>
        </p:txBody>
      </p:sp>
      <p:sp>
        <p:nvSpPr>
          <p:cNvPr id="8" name="TextBox 7"/>
          <p:cNvSpPr txBox="1"/>
          <p:nvPr/>
        </p:nvSpPr>
        <p:spPr>
          <a:xfrm>
            <a:off x="1152000" y="2160000"/>
            <a:ext cx="10080000" cy="360000"/>
          </a:xfrm>
          <a:prstGeom prst="rect">
            <a:avLst/>
          </a:prstGeom>
          <a:noFill/>
        </p:spPr>
        <p:txBody>
          <a:bodyPr wrap="square">
            <a:spAutoFit/>
          </a:bodyPr>
          <a:lstStyle/>
          <a:p>
            <a:pPr algn="l">
              <a:defRPr sz="1300" b="1">
                <a:solidFill>
                  <a:srgbClr val="333333"/>
                </a:solidFill>
                <a:latin typeface="Inter"/>
              </a:defRPr>
            </a:pPr>
            <a:r>
              <a:t>Montants verticaux [B11-B16]</a:t>
            </a:r>
          </a:p>
        </p:txBody>
      </p:sp>
      <p:sp>
        <p:nvSpPr>
          <p:cNvPr id="9" name="TextBox 8"/>
          <p:cNvSpPr txBox="1"/>
          <p:nvPr/>
        </p:nvSpPr>
        <p:spPr>
          <a:xfrm>
            <a:off x="1152000" y="2592000"/>
            <a:ext cx="10080000" cy="792000"/>
          </a:xfrm>
          <a:prstGeom prst="rect">
            <a:avLst/>
          </a:prstGeom>
          <a:noFill/>
        </p:spPr>
        <p:txBody>
          <a:bodyPr wrap="square">
            <a:spAutoFit/>
          </a:bodyPr>
          <a:lstStyle/>
          <a:p>
            <a:pPr algn="l">
              <a:defRPr sz="1000" b="0">
                <a:solidFill>
                  <a:srgbClr val="666666"/>
                </a:solidFill>
                <a:latin typeface="Inter"/>
              </a:defRPr>
            </a:pPr>
            <a:r>
              <a:t>Fixe les 6 carrelets verticaux dans les angles et jonctions internes. Ils portent les carrelets du haut. Visse par le bas dans le cadre + par le côté dans les planches.</a:t>
            </a:r>
          </a:p>
        </p:txBody>
      </p:sp>
      <p:sp>
        <p:nvSpPr>
          <p:cNvPr id="10" name="Rectangle 9"/>
          <p:cNvSpPr/>
          <p:nvPr/>
        </p:nvSpPr>
        <p:spPr>
          <a:xfrm>
            <a:off x="1152000" y="3456000"/>
            <a:ext cx="10080000" cy="635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0000" y="3600000"/>
            <a:ext cx="432000" cy="432000"/>
          </a:xfrm>
          <a:prstGeom prst="ellipse">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latin typeface="Inter"/>
              </a:defRPr>
            </a:pPr>
            <a:r>
              <a:t>3</a:t>
            </a:r>
          </a:p>
        </p:txBody>
      </p:sp>
      <p:sp>
        <p:nvSpPr>
          <p:cNvPr id="12" name="TextBox 11"/>
          <p:cNvSpPr txBox="1"/>
          <p:nvPr/>
        </p:nvSpPr>
        <p:spPr>
          <a:xfrm>
            <a:off x="1152000" y="3528000"/>
            <a:ext cx="10080000" cy="360000"/>
          </a:xfrm>
          <a:prstGeom prst="rect">
            <a:avLst/>
          </a:prstGeom>
          <a:noFill/>
        </p:spPr>
        <p:txBody>
          <a:bodyPr wrap="square">
            <a:spAutoFit/>
          </a:bodyPr>
          <a:lstStyle/>
          <a:p>
            <a:pPr algn="l">
              <a:defRPr sz="1300" b="1">
                <a:solidFill>
                  <a:srgbClr val="333333"/>
                </a:solidFill>
                <a:latin typeface="Inter"/>
              </a:defRPr>
            </a:pPr>
            <a:r>
              <a:t>Cadre haut [B1, B5, B6, B10]</a:t>
            </a:r>
          </a:p>
        </p:txBody>
      </p:sp>
      <p:sp>
        <p:nvSpPr>
          <p:cNvPr id="13" name="TextBox 12"/>
          <p:cNvSpPr txBox="1"/>
          <p:nvPr/>
        </p:nvSpPr>
        <p:spPr>
          <a:xfrm>
            <a:off x="1152000" y="3960000"/>
            <a:ext cx="10080000" cy="792000"/>
          </a:xfrm>
          <a:prstGeom prst="rect">
            <a:avLst/>
          </a:prstGeom>
          <a:noFill/>
        </p:spPr>
        <p:txBody>
          <a:bodyPr wrap="square">
            <a:spAutoFit/>
          </a:bodyPr>
          <a:lstStyle/>
          <a:p>
            <a:pPr algn="l">
              <a:defRPr sz="1000" b="0">
                <a:solidFill>
                  <a:srgbClr val="666666"/>
                </a:solidFill>
                <a:latin typeface="Inter"/>
              </a:defRPr>
            </a:pPr>
            <a:r>
              <a:t>Pose les carrelets horizontaux du haut sur les montants. B1 (187 cm, longueur gauche), B5+B6 (largeurs milieu), B10 (largeur droite). 2 vis par jonction.</a:t>
            </a:r>
          </a:p>
        </p:txBody>
      </p:sp>
      <p:sp>
        <p:nvSpPr>
          <p:cNvPr id="14" name="Rectangle 13"/>
          <p:cNvSpPr/>
          <p:nvPr/>
        </p:nvSpPr>
        <p:spPr>
          <a:xfrm>
            <a:off x="1152000" y="4824000"/>
            <a:ext cx="10080000" cy="635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40000" y="4968000"/>
            <a:ext cx="432000" cy="432000"/>
          </a:xfrm>
          <a:prstGeom prst="ellipse">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latin typeface="Inter"/>
              </a:defRPr>
            </a:pPr>
            <a:r>
              <a:t>4</a:t>
            </a:r>
          </a:p>
        </p:txBody>
      </p:sp>
      <p:sp>
        <p:nvSpPr>
          <p:cNvPr id="16" name="TextBox 15"/>
          <p:cNvSpPr txBox="1"/>
          <p:nvPr/>
        </p:nvSpPr>
        <p:spPr>
          <a:xfrm>
            <a:off x="1152000" y="4896000"/>
            <a:ext cx="10080000" cy="360000"/>
          </a:xfrm>
          <a:prstGeom prst="rect">
            <a:avLst/>
          </a:prstGeom>
          <a:noFill/>
        </p:spPr>
        <p:txBody>
          <a:bodyPr wrap="square">
            <a:spAutoFit/>
          </a:bodyPr>
          <a:lstStyle/>
          <a:p>
            <a:pPr algn="l">
              <a:defRPr sz="1300" b="1">
                <a:solidFill>
                  <a:srgbClr val="333333"/>
                </a:solidFill>
                <a:latin typeface="Inter"/>
              </a:defRPr>
            </a:pPr>
            <a:r>
              <a:t>Petits carrelets de renfort [B17, B18]</a:t>
            </a:r>
          </a:p>
        </p:txBody>
      </p:sp>
      <p:sp>
        <p:nvSpPr>
          <p:cNvPr id="17" name="TextBox 16"/>
          <p:cNvSpPr txBox="1"/>
          <p:nvPr/>
        </p:nvSpPr>
        <p:spPr>
          <a:xfrm>
            <a:off x="1152000" y="5328000"/>
            <a:ext cx="10080000" cy="792000"/>
          </a:xfrm>
          <a:prstGeom prst="rect">
            <a:avLst/>
          </a:prstGeom>
          <a:noFill/>
        </p:spPr>
        <p:txBody>
          <a:bodyPr wrap="square">
            <a:spAutoFit/>
          </a:bodyPr>
          <a:lstStyle/>
          <a:p>
            <a:pPr algn="l">
              <a:defRPr sz="1000" b="0">
                <a:solidFill>
                  <a:srgbClr val="666666"/>
                </a:solidFill>
                <a:latin typeface="Inter"/>
              </a:defRPr>
            </a:pPr>
            <a:r>
              <a:t>Fixe les 2 petits carrelets (14,5 cm) en bas à gauche (B17) et en haut à gauche (B18). Ils ferment le cadre dans la zone réduite.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180000"/>
            <a:ext cx="9000000" cy="540000"/>
          </a:xfrm>
          <a:prstGeom prst="rect">
            <a:avLst/>
          </a:prstGeom>
          <a:noFill/>
        </p:spPr>
        <p:txBody>
          <a:bodyPr wrap="square">
            <a:spAutoFit/>
          </a:bodyPr>
          <a:lstStyle/>
          <a:p>
            <a:pPr algn="l">
              <a:defRPr sz="1800" b="1">
                <a:solidFill>
                  <a:srgbClr val="2B5EA7"/>
                </a:solidFill>
                <a:latin typeface="Inter"/>
              </a:defRPr>
            </a:pPr>
            <a:r>
              <a:t>Étapes de montage — Ossature carrelets (2/2)</a:t>
            </a:r>
          </a:p>
        </p:txBody>
      </p:sp>
      <p:sp>
        <p:nvSpPr>
          <p:cNvPr id="3" name="Oval 2"/>
          <p:cNvSpPr/>
          <p:nvPr/>
        </p:nvSpPr>
        <p:spPr>
          <a:xfrm>
            <a:off x="540000" y="864000"/>
            <a:ext cx="432000" cy="432000"/>
          </a:xfrm>
          <a:prstGeom prst="ellipse">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latin typeface="Inter"/>
              </a:defRPr>
            </a:pPr>
            <a:r>
              <a:t>5</a:t>
            </a:r>
          </a:p>
        </p:txBody>
      </p:sp>
      <p:sp>
        <p:nvSpPr>
          <p:cNvPr id="4" name="TextBox 3"/>
          <p:cNvSpPr txBox="1"/>
          <p:nvPr/>
        </p:nvSpPr>
        <p:spPr>
          <a:xfrm>
            <a:off x="1152000" y="792000"/>
            <a:ext cx="10080000" cy="360000"/>
          </a:xfrm>
          <a:prstGeom prst="rect">
            <a:avLst/>
          </a:prstGeom>
          <a:noFill/>
        </p:spPr>
        <p:txBody>
          <a:bodyPr wrap="square">
            <a:spAutoFit/>
          </a:bodyPr>
          <a:lstStyle/>
          <a:p>
            <a:pPr algn="l">
              <a:defRPr sz="1300" b="1">
                <a:solidFill>
                  <a:srgbClr val="333333"/>
                </a:solidFill>
                <a:latin typeface="Inter"/>
              </a:defRPr>
            </a:pPr>
            <a:r>
              <a:t>Rails support tiroir [B19-B24]</a:t>
            </a:r>
          </a:p>
        </p:txBody>
      </p:sp>
      <p:sp>
        <p:nvSpPr>
          <p:cNvPr id="5" name="TextBox 4"/>
          <p:cNvSpPr txBox="1"/>
          <p:nvPr/>
        </p:nvSpPr>
        <p:spPr>
          <a:xfrm>
            <a:off x="1152000" y="1224000"/>
            <a:ext cx="10080000" cy="792000"/>
          </a:xfrm>
          <a:prstGeom prst="rect">
            <a:avLst/>
          </a:prstGeom>
          <a:noFill/>
        </p:spPr>
        <p:txBody>
          <a:bodyPr wrap="square">
            <a:spAutoFit/>
          </a:bodyPr>
          <a:lstStyle/>
          <a:p>
            <a:pPr algn="l">
              <a:defRPr sz="1000" b="0">
                <a:solidFill>
                  <a:srgbClr val="666666"/>
                </a:solidFill>
                <a:latin typeface="Inter"/>
              </a:defRPr>
            </a:pPr>
            <a:r>
              <a:t>Visse les 4 carrelets horizontaux (B19-B22, ~101 cm) parallèles deux à deux — ils forment les rails du tiroir. Puis les 2 montants verticaux (B23-B24) à l'arrière. Vérifie le parallélisme : le tiroir doit coulisser sans forcer.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0000" y="360000"/>
            <a:ext cx="1800000" cy="432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60000"/>
            <a:ext cx="1800000" cy="432000"/>
          </a:xfrm>
          <a:prstGeom prst="rect">
            <a:avLst/>
          </a:prstGeom>
          <a:noFill/>
        </p:spPr>
        <p:txBody>
          <a:bodyPr wrap="square">
            <a:spAutoFit/>
          </a:bodyPr>
          <a:lstStyle/>
          <a:p>
            <a:pPr algn="ctr">
              <a:defRPr sz="1100" b="1">
                <a:solidFill>
                  <a:srgbClr val="FFFFFF"/>
                </a:solidFill>
                <a:latin typeface="Inter"/>
              </a:defRPr>
            </a:pPr>
            <a:r>
              <a:t>BLOC 3/5</a:t>
            </a:r>
          </a:p>
        </p:txBody>
      </p:sp>
      <p:sp>
        <p:nvSpPr>
          <p:cNvPr id="4" name="TextBox 3"/>
          <p:cNvSpPr txBox="1"/>
          <p:nvPr/>
        </p:nvSpPr>
        <p:spPr>
          <a:xfrm>
            <a:off x="540000" y="1080000"/>
            <a:ext cx="7200000" cy="900000"/>
          </a:xfrm>
          <a:prstGeom prst="rect">
            <a:avLst/>
          </a:prstGeom>
          <a:noFill/>
        </p:spPr>
        <p:txBody>
          <a:bodyPr wrap="square">
            <a:spAutoFit/>
          </a:bodyPr>
          <a:lstStyle/>
          <a:p>
            <a:pPr algn="l">
              <a:defRPr sz="3200" b="1">
                <a:solidFill>
                  <a:srgbClr val="2B5EA7"/>
                </a:solidFill>
                <a:latin typeface="Inter"/>
              </a:defRPr>
            </a:pPr>
            <a:r>
              <a:t>Cloisons intérieures</a:t>
            </a:r>
          </a:p>
        </p:txBody>
      </p:sp>
      <p:sp>
        <p:nvSpPr>
          <p:cNvPr id="5" name="TextBox 4"/>
          <p:cNvSpPr txBox="1"/>
          <p:nvPr/>
        </p:nvSpPr>
        <p:spPr>
          <a:xfrm>
            <a:off x="540000" y="1980000"/>
            <a:ext cx="7200000" cy="540000"/>
          </a:xfrm>
          <a:prstGeom prst="rect">
            <a:avLst/>
          </a:prstGeom>
          <a:noFill/>
        </p:spPr>
        <p:txBody>
          <a:bodyPr wrap="square">
            <a:spAutoFit/>
          </a:bodyPr>
          <a:lstStyle/>
          <a:p>
            <a:pPr algn="l">
              <a:defRPr sz="1400" b="0">
                <a:solidFill>
                  <a:srgbClr val="666666"/>
                </a:solidFill>
                <a:latin typeface="Inter"/>
              </a:defRPr>
            </a:pPr>
            <a:r>
              <a:t>4 planches verticales qui créent les compartiments (rangement, boxio, tiroir)</a:t>
            </a:r>
          </a:p>
        </p:txBody>
      </p:sp>
      <p:sp>
        <p:nvSpPr>
          <p:cNvPr id="6" name="Rounded Rectangle 5"/>
          <p:cNvSpPr/>
          <p:nvPr/>
        </p:nvSpPr>
        <p:spPr>
          <a:xfrm>
            <a:off x="540000" y="3240000"/>
            <a:ext cx="2520000" cy="12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3384000"/>
            <a:ext cx="2520000" cy="360000"/>
          </a:xfrm>
          <a:prstGeom prst="rect">
            <a:avLst/>
          </a:prstGeom>
          <a:noFill/>
        </p:spPr>
        <p:txBody>
          <a:bodyPr wrap="square">
            <a:spAutoFit/>
          </a:bodyPr>
          <a:lstStyle/>
          <a:p>
            <a:pPr algn="ctr">
              <a:defRPr sz="900" b="0">
                <a:solidFill>
                  <a:srgbClr val="666666"/>
                </a:solidFill>
                <a:latin typeface="Inter"/>
              </a:defRPr>
            </a:pPr>
            <a:r>
              <a:t>Encombrement</a:t>
            </a:r>
          </a:p>
        </p:txBody>
      </p:sp>
      <p:sp>
        <p:nvSpPr>
          <p:cNvPr id="8" name="TextBox 7"/>
          <p:cNvSpPr txBox="1"/>
          <p:nvPr/>
        </p:nvSpPr>
        <p:spPr>
          <a:xfrm>
            <a:off x="540000" y="3743999"/>
            <a:ext cx="2520000" cy="540000"/>
          </a:xfrm>
          <a:prstGeom prst="rect">
            <a:avLst/>
          </a:prstGeom>
          <a:noFill/>
        </p:spPr>
        <p:txBody>
          <a:bodyPr wrap="square">
            <a:spAutoFit/>
          </a:bodyPr>
          <a:lstStyle/>
          <a:p>
            <a:pPr algn="ctr">
              <a:defRPr sz="1600" b="1">
                <a:solidFill>
                  <a:srgbClr val="333333"/>
                </a:solidFill>
                <a:latin typeface="Inter"/>
              </a:defRPr>
            </a:pPr>
            <a:r>
              <a:t>—</a:t>
            </a:r>
          </a:p>
        </p:txBody>
      </p:sp>
      <p:sp>
        <p:nvSpPr>
          <p:cNvPr id="9" name="Rounded Rectangle 8"/>
          <p:cNvSpPr/>
          <p:nvPr/>
        </p:nvSpPr>
        <p:spPr>
          <a:xfrm>
            <a:off x="3240000" y="3240000"/>
            <a:ext cx="2520000" cy="12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0000" y="3384000"/>
            <a:ext cx="2520000" cy="360000"/>
          </a:xfrm>
          <a:prstGeom prst="rect">
            <a:avLst/>
          </a:prstGeom>
          <a:noFill/>
        </p:spPr>
        <p:txBody>
          <a:bodyPr wrap="square">
            <a:spAutoFit/>
          </a:bodyPr>
          <a:lstStyle/>
          <a:p>
            <a:pPr algn="ctr">
              <a:defRPr sz="900" b="0">
                <a:solidFill>
                  <a:srgbClr val="666666"/>
                </a:solidFill>
                <a:latin typeface="Inter"/>
              </a:defRPr>
            </a:pPr>
            <a:r>
              <a:t>Matière</a:t>
            </a:r>
          </a:p>
        </p:txBody>
      </p:sp>
      <p:sp>
        <p:nvSpPr>
          <p:cNvPr id="11" name="TextBox 10"/>
          <p:cNvSpPr txBox="1"/>
          <p:nvPr/>
        </p:nvSpPr>
        <p:spPr>
          <a:xfrm>
            <a:off x="3240000" y="3743999"/>
            <a:ext cx="2520000" cy="540000"/>
          </a:xfrm>
          <a:prstGeom prst="rect">
            <a:avLst/>
          </a:prstGeom>
          <a:noFill/>
        </p:spPr>
        <p:txBody>
          <a:bodyPr wrap="square">
            <a:spAutoFit/>
          </a:bodyPr>
          <a:lstStyle/>
          <a:p>
            <a:pPr algn="ctr">
              <a:defRPr sz="1600" b="1">
                <a:solidFill>
                  <a:srgbClr val="333333"/>
                </a:solidFill>
                <a:latin typeface="Inter"/>
              </a:defRPr>
            </a:pPr>
            <a:r>
              <a:t>CP peuplier 15 mm</a:t>
            </a:r>
          </a:p>
        </p:txBody>
      </p:sp>
      <p:sp>
        <p:nvSpPr>
          <p:cNvPr id="12" name="Rounded Rectangle 11"/>
          <p:cNvSpPr/>
          <p:nvPr/>
        </p:nvSpPr>
        <p:spPr>
          <a:xfrm>
            <a:off x="5940000" y="3240000"/>
            <a:ext cx="2520000" cy="12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0000" y="3384000"/>
            <a:ext cx="2520000" cy="360000"/>
          </a:xfrm>
          <a:prstGeom prst="rect">
            <a:avLst/>
          </a:prstGeom>
          <a:noFill/>
        </p:spPr>
        <p:txBody>
          <a:bodyPr wrap="square">
            <a:spAutoFit/>
          </a:bodyPr>
          <a:lstStyle/>
          <a:p>
            <a:pPr algn="ctr">
              <a:defRPr sz="900" b="0">
                <a:solidFill>
                  <a:srgbClr val="666666"/>
                </a:solidFill>
                <a:latin typeface="Inter"/>
              </a:defRPr>
            </a:pPr>
            <a:r>
              <a:t>Panneaux à découper</a:t>
            </a:r>
          </a:p>
        </p:txBody>
      </p:sp>
      <p:sp>
        <p:nvSpPr>
          <p:cNvPr id="14" name="TextBox 13"/>
          <p:cNvSpPr txBox="1"/>
          <p:nvPr/>
        </p:nvSpPr>
        <p:spPr>
          <a:xfrm>
            <a:off x="5940000" y="3743999"/>
            <a:ext cx="2520000" cy="540000"/>
          </a:xfrm>
          <a:prstGeom prst="rect">
            <a:avLst/>
          </a:prstGeom>
          <a:noFill/>
        </p:spPr>
        <p:txBody>
          <a:bodyPr wrap="square">
            <a:spAutoFit/>
          </a:bodyPr>
          <a:lstStyle/>
          <a:p>
            <a:pPr algn="ctr">
              <a:defRPr sz="1600" b="1">
                <a:solidFill>
                  <a:srgbClr val="333333"/>
                </a:solidFill>
                <a:latin typeface="Inter"/>
              </a:defRPr>
            </a:pPr>
            <a:r>
              <a:t>4</a:t>
            </a:r>
          </a:p>
        </p:txBody>
      </p:sp>
      <p:sp>
        <p:nvSpPr>
          <p:cNvPr id="15" name="Rounded Rectangle 14"/>
          <p:cNvSpPr/>
          <p:nvPr/>
        </p:nvSpPr>
        <p:spPr>
          <a:xfrm>
            <a:off x="8640000" y="3240000"/>
            <a:ext cx="2520000" cy="12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0000" y="3384000"/>
            <a:ext cx="2520000" cy="360000"/>
          </a:xfrm>
          <a:prstGeom prst="rect">
            <a:avLst/>
          </a:prstGeom>
          <a:noFill/>
        </p:spPr>
        <p:txBody>
          <a:bodyPr wrap="square">
            <a:spAutoFit/>
          </a:bodyPr>
          <a:lstStyle/>
          <a:p>
            <a:pPr algn="ctr">
              <a:defRPr sz="900" b="0">
                <a:solidFill>
                  <a:srgbClr val="666666"/>
                </a:solidFill>
                <a:latin typeface="Inter"/>
              </a:defRPr>
            </a:pPr>
            <a:r>
              <a:t>Carrelets 15 × 15 mm</a:t>
            </a:r>
          </a:p>
        </p:txBody>
      </p:sp>
      <p:sp>
        <p:nvSpPr>
          <p:cNvPr id="17" name="TextBox 16"/>
          <p:cNvSpPr txBox="1"/>
          <p:nvPr/>
        </p:nvSpPr>
        <p:spPr>
          <a:xfrm>
            <a:off x="8640000" y="3743999"/>
            <a:ext cx="2520000" cy="540000"/>
          </a:xfrm>
          <a:prstGeom prst="rect">
            <a:avLst/>
          </a:prstGeom>
          <a:noFill/>
        </p:spPr>
        <p:txBody>
          <a:bodyPr wrap="square">
            <a:spAutoFit/>
          </a:bodyPr>
          <a:lstStyle/>
          <a:p>
            <a:pPr algn="ctr">
              <a:defRPr sz="1600" b="1">
                <a:solidFill>
                  <a:srgbClr val="333333"/>
                </a:solidFill>
                <a:latin typeface="Inter"/>
              </a:defRPr>
            </a:pPr>
            <a:r>
              <a:t>0</a:t>
            </a:r>
          </a:p>
        </p:txBody>
      </p:sp>
      <p:sp>
        <p:nvSpPr>
          <p:cNvPr id="18" name="TextBox 17"/>
          <p:cNvSpPr txBox="1"/>
          <p:nvPr/>
        </p:nvSpPr>
        <p:spPr>
          <a:xfrm>
            <a:off x="540000" y="6300000"/>
            <a:ext cx="10800000" cy="360000"/>
          </a:xfrm>
          <a:prstGeom prst="rect">
            <a:avLst/>
          </a:prstGeom>
          <a:noFill/>
        </p:spPr>
        <p:txBody>
          <a:bodyPr wrap="square">
            <a:spAutoFit/>
          </a:bodyPr>
          <a:lstStyle/>
          <a:p>
            <a:pPr algn="ctr">
              <a:defRPr sz="800" b="0">
                <a:solidFill>
                  <a:srgbClr val="AAAAAA"/>
                </a:solidFill>
                <a:latin typeface="Inter"/>
              </a:defRPr>
            </a:pPr>
            <a:r>
              <a:t>Guide VBA Construction — Bloc Lit Peigne — vanzonexplorer.com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288000"/>
            <a:ext cx="7200000" cy="540000"/>
          </a:xfrm>
          <a:prstGeom prst="rect">
            <a:avLst/>
          </a:prstGeom>
          <a:noFill/>
        </p:spPr>
        <p:txBody>
          <a:bodyPr wrap="square">
            <a:spAutoFit/>
          </a:bodyPr>
          <a:lstStyle/>
          <a:p>
            <a:pPr algn="l">
              <a:defRPr sz="2200" b="1">
                <a:solidFill>
                  <a:srgbClr val="2B5EA7"/>
                </a:solidFill>
                <a:latin typeface="Inter"/>
              </a:defRPr>
            </a:pPr>
            <a:r>
              <a:t>Liste de débit — Cloisons intérieures</a:t>
            </a:r>
          </a:p>
        </p:txBody>
      </p:sp>
      <p:graphicFrame>
        <p:nvGraphicFramePr>
          <p:cNvPr id="3" name="Table 2"/>
          <p:cNvGraphicFramePr>
            <a:graphicFrameLocks noGrp="1"/>
          </p:cNvGraphicFramePr>
          <p:nvPr/>
        </p:nvGraphicFramePr>
        <p:xfrm>
          <a:off x="540000" y="900000"/>
          <a:ext cx="10800000" cy="1440000"/>
        </p:xfrm>
        <a:graphic>
          <a:graphicData uri="http://schemas.openxmlformats.org/drawingml/2006/table">
            <a:tbl>
              <a:tblPr firstRow="1" bandRow="1">
                <a:tableStyleId>{5C22544A-7EE6-4342-B048-85BDC9FD1C3A}</a:tableStyleId>
              </a:tblPr>
              <a:tblGrid>
                <a:gridCol w="1080000"/>
                <a:gridCol w="5040000"/>
                <a:gridCol w="2880000"/>
                <a:gridCol w="1800000"/>
              </a:tblGrid>
              <a:tr h="288000">
                <a:tc>
                  <a:txBody>
                    <a:bodyPr/>
                    <a:lstStyle/>
                    <a:p>
                      <a:pPr algn="ctr">
                        <a:defRPr sz="1000" b="1">
                          <a:solidFill>
                            <a:srgbClr val="FFFFFF"/>
                          </a:solidFill>
                          <a:latin typeface="Inter"/>
                        </a:defRPr>
                      </a:pPr>
                      <a:r>
                        <a:t>Rép.</a:t>
                      </a:r>
                    </a:p>
                  </a:txBody>
                  <a:tcPr>
                    <a:solidFill>
                      <a:srgbClr val="2B5EA7"/>
                    </a:solidFill>
                  </a:tcPr>
                </a:tc>
                <a:tc>
                  <a:txBody>
                    <a:bodyPr/>
                    <a:lstStyle/>
                    <a:p>
                      <a:pPr algn="ctr">
                        <a:defRPr sz="1000" b="1">
                          <a:solidFill>
                            <a:srgbClr val="FFFFFF"/>
                          </a:solidFill>
                          <a:latin typeface="Inter"/>
                        </a:defRPr>
                      </a:pPr>
                      <a:r>
                        <a:t>Panneau (CP 15 mm)</a:t>
                      </a:r>
                    </a:p>
                  </a:txBody>
                  <a:tcPr>
                    <a:solidFill>
                      <a:srgbClr val="2B5EA7"/>
                    </a:solidFill>
                  </a:tcPr>
                </a:tc>
                <a:tc>
                  <a:txBody>
                    <a:bodyPr/>
                    <a:lstStyle/>
                    <a:p>
                      <a:pPr algn="ctr">
                        <a:defRPr sz="1000" b="1">
                          <a:solidFill>
                            <a:srgbClr val="FFFFFF"/>
                          </a:solidFill>
                          <a:latin typeface="Inter"/>
                        </a:defRPr>
                      </a:pPr>
                      <a:r>
                        <a:t>Dimensions</a:t>
                      </a:r>
                    </a:p>
                  </a:txBody>
                  <a:tcPr>
                    <a:solidFill>
                      <a:srgbClr val="2B5EA7"/>
                    </a:solidFill>
                  </a:tcPr>
                </a:tc>
                <a:tc>
                  <a:txBody>
                    <a:bodyPr/>
                    <a:lstStyle/>
                    <a:p>
                      <a:pPr algn="ctr">
                        <a:defRPr sz="1000" b="1">
                          <a:solidFill>
                            <a:srgbClr val="FFFFFF"/>
                          </a:solidFill>
                          <a:latin typeface="Inter"/>
                        </a:defRPr>
                      </a:pPr>
                      <a:r>
                        <a:t>Qté</a:t>
                      </a:r>
                    </a:p>
                  </a:txBody>
                  <a:tcPr>
                    <a:solidFill>
                      <a:srgbClr val="2B5EA7"/>
                    </a:solidFill>
                  </a:tcPr>
                </a:tc>
              </a:tr>
              <a:tr h="288000">
                <a:tc>
                  <a:txBody>
                    <a:bodyPr/>
                    <a:lstStyle/>
                    <a:p>
                      <a:pPr algn="ctr">
                        <a:defRPr sz="900">
                          <a:solidFill>
                            <a:srgbClr val="333333"/>
                          </a:solidFill>
                          <a:latin typeface="Inter"/>
                        </a:defRPr>
                      </a:pPr>
                      <a:r>
                        <a:t>C1</a:t>
                      </a:r>
                    </a:p>
                  </a:txBody>
                  <a:tcPr>
                    <a:solidFill>
                      <a:srgbClr val="FFFFFF"/>
                    </a:solidFill>
                  </a:tcPr>
                </a:tc>
                <a:tc>
                  <a:txBody>
                    <a:bodyPr/>
                    <a:lstStyle/>
                    <a:p>
                      <a:pPr algn="ctr">
                        <a:defRPr sz="900">
                          <a:solidFill>
                            <a:srgbClr val="333333"/>
                          </a:solidFill>
                          <a:latin typeface="Inter"/>
                        </a:defRPr>
                      </a:pPr>
                      <a:r>
                        <a:t>Planche support gauche glissière</a:t>
                      </a:r>
                    </a:p>
                  </a:txBody>
                  <a:tcPr>
                    <a:solidFill>
                      <a:srgbClr val="FFFFFF"/>
                    </a:solidFill>
                  </a:tcPr>
                </a:tc>
                <a:tc>
                  <a:txBody>
                    <a:bodyPr/>
                    <a:lstStyle/>
                    <a:p>
                      <a:pPr algn="ctr">
                        <a:defRPr sz="900">
                          <a:solidFill>
                            <a:srgbClr val="333333"/>
                          </a:solidFill>
                          <a:latin typeface="Inter"/>
                        </a:defRPr>
                      </a:pPr>
                      <a:r>
                        <a:t>101 × 35 cm</a:t>
                      </a:r>
                    </a:p>
                  </a:txBody>
                  <a:tcPr>
                    <a:solidFill>
                      <a:srgbClr val="FFFFFF"/>
                    </a:solidFill>
                  </a:tcPr>
                </a:tc>
                <a:tc>
                  <a:txBody>
                    <a:bodyPr/>
                    <a:lstStyle/>
                    <a:p>
                      <a:pPr algn="ctr">
                        <a:defRPr sz="900">
                          <a:solidFill>
                            <a:srgbClr val="333333"/>
                          </a:solidFill>
                          <a:latin typeface="Inter"/>
                        </a:defRPr>
                      </a:pPr>
                      <a:r>
                        <a:t>1</a:t>
                      </a:r>
                    </a:p>
                  </a:txBody>
                  <a:tcPr>
                    <a:solidFill>
                      <a:srgbClr val="FFFFFF"/>
                    </a:solidFill>
                  </a:tcPr>
                </a:tc>
              </a:tr>
              <a:tr h="288000">
                <a:tc>
                  <a:txBody>
                    <a:bodyPr/>
                    <a:lstStyle/>
                    <a:p>
                      <a:pPr algn="ctr">
                        <a:defRPr sz="900">
                          <a:solidFill>
                            <a:srgbClr val="333333"/>
                          </a:solidFill>
                          <a:latin typeface="Inter"/>
                        </a:defRPr>
                      </a:pPr>
                      <a:r>
                        <a:t>C2</a:t>
                      </a:r>
                    </a:p>
                  </a:txBody>
                  <a:tcPr>
                    <a:solidFill>
                      <a:srgbClr val="F5F5F5"/>
                    </a:solidFill>
                  </a:tcPr>
                </a:tc>
                <a:tc>
                  <a:txBody>
                    <a:bodyPr/>
                    <a:lstStyle/>
                    <a:p>
                      <a:pPr algn="ctr">
                        <a:defRPr sz="900">
                          <a:solidFill>
                            <a:srgbClr val="333333"/>
                          </a:solidFill>
                          <a:latin typeface="Inter"/>
                        </a:defRPr>
                      </a:pPr>
                      <a:r>
                        <a:t>Planche droite intérieur</a:t>
                      </a:r>
                    </a:p>
                  </a:txBody>
                  <a:tcPr>
                    <a:solidFill>
                      <a:srgbClr val="F5F5F5"/>
                    </a:solidFill>
                  </a:tcPr>
                </a:tc>
                <a:tc>
                  <a:txBody>
                    <a:bodyPr/>
                    <a:lstStyle/>
                    <a:p>
                      <a:pPr algn="ctr">
                        <a:defRPr sz="900">
                          <a:solidFill>
                            <a:srgbClr val="333333"/>
                          </a:solidFill>
                          <a:latin typeface="Inter"/>
                        </a:defRPr>
                      </a:pPr>
                      <a:r>
                        <a:t>101 × 35 cm</a:t>
                      </a:r>
                    </a:p>
                  </a:txBody>
                  <a:tcPr>
                    <a:solidFill>
                      <a:srgbClr val="F5F5F5"/>
                    </a:solidFill>
                  </a:tcPr>
                </a:tc>
                <a:tc>
                  <a:txBody>
                    <a:bodyPr/>
                    <a:lstStyle/>
                    <a:p>
                      <a:pPr algn="ctr">
                        <a:defRPr sz="900">
                          <a:solidFill>
                            <a:srgbClr val="333333"/>
                          </a:solidFill>
                          <a:latin typeface="Inter"/>
                        </a:defRPr>
                      </a:pPr>
                      <a:r>
                        <a:t>1</a:t>
                      </a:r>
                    </a:p>
                  </a:txBody>
                  <a:tcPr>
                    <a:solidFill>
                      <a:srgbClr val="F5F5F5"/>
                    </a:solidFill>
                  </a:tcPr>
                </a:tc>
              </a:tr>
              <a:tr h="288000">
                <a:tc>
                  <a:txBody>
                    <a:bodyPr/>
                    <a:lstStyle/>
                    <a:p>
                      <a:pPr algn="ctr">
                        <a:defRPr sz="900">
                          <a:solidFill>
                            <a:srgbClr val="333333"/>
                          </a:solidFill>
                          <a:latin typeface="Inter"/>
                        </a:defRPr>
                      </a:pPr>
                      <a:r>
                        <a:t>C3</a:t>
                      </a:r>
                    </a:p>
                  </a:txBody>
                  <a:tcPr>
                    <a:solidFill>
                      <a:srgbClr val="FFFFFF"/>
                    </a:solidFill>
                  </a:tcPr>
                </a:tc>
                <a:tc>
                  <a:txBody>
                    <a:bodyPr/>
                    <a:lstStyle/>
                    <a:p>
                      <a:pPr algn="ctr">
                        <a:defRPr sz="900">
                          <a:solidFill>
                            <a:srgbClr val="333333"/>
                          </a:solidFill>
                          <a:latin typeface="Inter"/>
                        </a:defRPr>
                      </a:pPr>
                      <a:r>
                        <a:t>Planche placard gauche</a:t>
                      </a:r>
                    </a:p>
                  </a:txBody>
                  <a:tcPr>
                    <a:solidFill>
                      <a:srgbClr val="FFFFFF"/>
                    </a:solidFill>
                  </a:tcPr>
                </a:tc>
                <a:tc>
                  <a:txBody>
                    <a:bodyPr/>
                    <a:lstStyle/>
                    <a:p>
                      <a:pPr algn="ctr">
                        <a:defRPr sz="900">
                          <a:solidFill>
                            <a:srgbClr val="333333"/>
                          </a:solidFill>
                          <a:latin typeface="Inter"/>
                        </a:defRPr>
                      </a:pPr>
                      <a:r>
                        <a:t>74,5 × 35 cm</a:t>
                      </a:r>
                    </a:p>
                  </a:txBody>
                  <a:tcPr>
                    <a:solidFill>
                      <a:srgbClr val="FFFFFF"/>
                    </a:solidFill>
                  </a:tcPr>
                </a:tc>
                <a:tc>
                  <a:txBody>
                    <a:bodyPr/>
                    <a:lstStyle/>
                    <a:p>
                      <a:pPr algn="ctr">
                        <a:defRPr sz="900">
                          <a:solidFill>
                            <a:srgbClr val="333333"/>
                          </a:solidFill>
                          <a:latin typeface="Inter"/>
                        </a:defRPr>
                      </a:pPr>
                      <a:r>
                        <a:t>1</a:t>
                      </a:r>
                    </a:p>
                  </a:txBody>
                  <a:tcPr>
                    <a:solidFill>
                      <a:srgbClr val="FFFFFF"/>
                    </a:solidFill>
                  </a:tcPr>
                </a:tc>
              </a:tr>
              <a:tr h="288000">
                <a:tc>
                  <a:txBody>
                    <a:bodyPr/>
                    <a:lstStyle/>
                    <a:p>
                      <a:pPr algn="ctr">
                        <a:defRPr sz="900">
                          <a:solidFill>
                            <a:srgbClr val="333333"/>
                          </a:solidFill>
                          <a:latin typeface="Inter"/>
                        </a:defRPr>
                      </a:pPr>
                      <a:r>
                        <a:t>C4</a:t>
                      </a:r>
                    </a:p>
                  </a:txBody>
                  <a:tcPr>
                    <a:solidFill>
                      <a:srgbClr val="F5F5F5"/>
                    </a:solidFill>
                  </a:tcPr>
                </a:tc>
                <a:tc>
                  <a:txBody>
                    <a:bodyPr/>
                    <a:lstStyle/>
                    <a:p>
                      <a:pPr algn="ctr">
                        <a:defRPr sz="900">
                          <a:solidFill>
                            <a:srgbClr val="333333"/>
                          </a:solidFill>
                          <a:latin typeface="Inter"/>
                        </a:defRPr>
                      </a:pPr>
                      <a:r>
                        <a:t>Planche séparation boxio / rangement</a:t>
                      </a:r>
                    </a:p>
                  </a:txBody>
                  <a:tcPr>
                    <a:solidFill>
                      <a:srgbClr val="F5F5F5"/>
                    </a:solidFill>
                  </a:tcPr>
                </a:tc>
                <a:tc>
                  <a:txBody>
                    <a:bodyPr/>
                    <a:lstStyle/>
                    <a:p>
                      <a:pPr algn="ctr">
                        <a:defRPr sz="900">
                          <a:solidFill>
                            <a:srgbClr val="333333"/>
                          </a:solidFill>
                          <a:latin typeface="Inter"/>
                        </a:defRPr>
                      </a:pPr>
                      <a:r>
                        <a:t>74,5 × 35 cm</a:t>
                      </a:r>
                    </a:p>
                  </a:txBody>
                  <a:tcPr>
                    <a:solidFill>
                      <a:srgbClr val="F5F5F5"/>
                    </a:solidFill>
                  </a:tcPr>
                </a:tc>
                <a:tc>
                  <a:txBody>
                    <a:bodyPr/>
                    <a:lstStyle/>
                    <a:p>
                      <a:pPr algn="ctr">
                        <a:defRPr sz="900">
                          <a:solidFill>
                            <a:srgbClr val="333333"/>
                          </a:solidFill>
                          <a:latin typeface="Inter"/>
                        </a:defRPr>
                      </a:pPr>
                      <a:r>
                        <a:t>1</a:t>
                      </a:r>
                    </a:p>
                  </a:txBody>
                  <a:tcPr>
                    <a:solidFill>
                      <a:srgbClr val="F5F5F5"/>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180000"/>
            <a:ext cx="9000000" cy="432000"/>
          </a:xfrm>
          <a:prstGeom prst="rect">
            <a:avLst/>
          </a:prstGeom>
          <a:noFill/>
        </p:spPr>
        <p:txBody>
          <a:bodyPr wrap="square">
            <a:spAutoFit/>
          </a:bodyPr>
          <a:lstStyle/>
          <a:p>
            <a:pPr algn="l">
              <a:defRPr sz="1800" b="1">
                <a:solidFill>
                  <a:srgbClr val="2B5EA7"/>
                </a:solidFill>
                <a:latin typeface="Inter"/>
              </a:defRPr>
            </a:pPr>
            <a:r>
              <a:t>Pièces à découper — Cloisons intérieures</a:t>
            </a:r>
          </a:p>
        </p:txBody>
      </p:sp>
      <p:sp>
        <p:nvSpPr>
          <p:cNvPr id="3" name="Rounded Rectangle 2"/>
          <p:cNvSpPr/>
          <p:nvPr/>
        </p:nvSpPr>
        <p:spPr>
          <a:xfrm>
            <a:off x="7920000" y="108000"/>
            <a:ext cx="3780000" cy="21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920000" y="900000"/>
            <a:ext cx="3780000" cy="540000"/>
          </a:xfrm>
          <a:prstGeom prst="rect">
            <a:avLst/>
          </a:prstGeom>
          <a:noFill/>
        </p:spPr>
        <p:txBody>
          <a:bodyPr wrap="square">
            <a:spAutoFit/>
          </a:bodyPr>
          <a:lstStyle/>
          <a:p>
            <a:pPr algn="ctr">
              <a:defRPr sz="900" b="0">
                <a:solidFill>
                  <a:srgbClr val="666666"/>
                </a:solidFill>
                <a:latin typeface="Inter"/>
              </a:defRPr>
            </a:pPr>
            <a:r>
              <a:t>Coller ici le screenshot</a:t>
            </a:r>
            <a:br/>
            <a:r>
              <a:t>de la vue éclatée</a:t>
            </a:r>
          </a:p>
        </p:txBody>
      </p:sp>
      <p:sp>
        <p:nvSpPr>
          <p:cNvPr id="5" name="Rounded Rectangle 4"/>
          <p:cNvSpPr/>
          <p:nvPr/>
        </p:nvSpPr>
        <p:spPr>
          <a:xfrm>
            <a:off x="540000" y="792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8000" y="972000"/>
            <a:ext cx="648000" cy="540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000" y="1080000"/>
            <a:ext cx="648000" cy="360000"/>
          </a:xfrm>
          <a:prstGeom prst="rect">
            <a:avLst/>
          </a:prstGeom>
          <a:noFill/>
        </p:spPr>
        <p:txBody>
          <a:bodyPr wrap="square">
            <a:spAutoFit/>
          </a:bodyPr>
          <a:lstStyle/>
          <a:p>
            <a:pPr algn="ctr">
              <a:defRPr sz="1200" b="1">
                <a:solidFill>
                  <a:srgbClr val="FFFFFF"/>
                </a:solidFill>
                <a:latin typeface="Inter"/>
              </a:defRPr>
            </a:pPr>
            <a:r>
              <a:t>C1</a:t>
            </a:r>
          </a:p>
        </p:txBody>
      </p:sp>
      <p:sp>
        <p:nvSpPr>
          <p:cNvPr id="8" name="TextBox 7"/>
          <p:cNvSpPr txBox="1"/>
          <p:nvPr/>
        </p:nvSpPr>
        <p:spPr>
          <a:xfrm>
            <a:off x="1440000" y="900000"/>
            <a:ext cx="2520000" cy="360000"/>
          </a:xfrm>
          <a:prstGeom prst="rect">
            <a:avLst/>
          </a:prstGeom>
          <a:noFill/>
        </p:spPr>
        <p:txBody>
          <a:bodyPr wrap="square">
            <a:spAutoFit/>
          </a:bodyPr>
          <a:lstStyle/>
          <a:p>
            <a:pPr algn="l">
              <a:defRPr sz="1000" b="1">
                <a:solidFill>
                  <a:srgbClr val="333333"/>
                </a:solidFill>
                <a:latin typeface="Inter"/>
              </a:defRPr>
            </a:pPr>
            <a:r>
              <a:t>Planche support gauche glissière</a:t>
            </a:r>
          </a:p>
        </p:txBody>
      </p:sp>
      <p:sp>
        <p:nvSpPr>
          <p:cNvPr id="9" name="TextBox 8"/>
          <p:cNvSpPr txBox="1"/>
          <p:nvPr/>
        </p:nvSpPr>
        <p:spPr>
          <a:xfrm>
            <a:off x="1440000" y="1224000"/>
            <a:ext cx="2520000" cy="360000"/>
          </a:xfrm>
          <a:prstGeom prst="rect">
            <a:avLst/>
          </a:prstGeom>
          <a:noFill/>
        </p:spPr>
        <p:txBody>
          <a:bodyPr wrap="square">
            <a:spAutoFit/>
          </a:bodyPr>
          <a:lstStyle/>
          <a:p>
            <a:pPr algn="l">
              <a:defRPr sz="800" b="0">
                <a:solidFill>
                  <a:srgbClr val="666666"/>
                </a:solidFill>
                <a:latin typeface="Inter"/>
              </a:defRPr>
            </a:pPr>
            <a:r>
              <a:t>101 × 35 cm</a:t>
            </a:r>
          </a:p>
        </p:txBody>
      </p:sp>
      <p:sp>
        <p:nvSpPr>
          <p:cNvPr id="10" name="Rounded Rectangle 9"/>
          <p:cNvSpPr/>
          <p:nvPr/>
        </p:nvSpPr>
        <p:spPr>
          <a:xfrm>
            <a:off x="6120000" y="792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28000" y="972000"/>
            <a:ext cx="648000" cy="540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8000" y="1080000"/>
            <a:ext cx="648000" cy="360000"/>
          </a:xfrm>
          <a:prstGeom prst="rect">
            <a:avLst/>
          </a:prstGeom>
          <a:noFill/>
        </p:spPr>
        <p:txBody>
          <a:bodyPr wrap="square">
            <a:spAutoFit/>
          </a:bodyPr>
          <a:lstStyle/>
          <a:p>
            <a:pPr algn="ctr">
              <a:defRPr sz="1200" b="1">
                <a:solidFill>
                  <a:srgbClr val="FFFFFF"/>
                </a:solidFill>
                <a:latin typeface="Inter"/>
              </a:defRPr>
            </a:pPr>
            <a:r>
              <a:t>C2</a:t>
            </a:r>
          </a:p>
        </p:txBody>
      </p:sp>
      <p:sp>
        <p:nvSpPr>
          <p:cNvPr id="13" name="TextBox 12"/>
          <p:cNvSpPr txBox="1"/>
          <p:nvPr/>
        </p:nvSpPr>
        <p:spPr>
          <a:xfrm>
            <a:off x="7020000" y="900000"/>
            <a:ext cx="2520000" cy="360000"/>
          </a:xfrm>
          <a:prstGeom prst="rect">
            <a:avLst/>
          </a:prstGeom>
          <a:noFill/>
        </p:spPr>
        <p:txBody>
          <a:bodyPr wrap="square">
            <a:spAutoFit/>
          </a:bodyPr>
          <a:lstStyle/>
          <a:p>
            <a:pPr algn="l">
              <a:defRPr sz="1000" b="1">
                <a:solidFill>
                  <a:srgbClr val="333333"/>
                </a:solidFill>
                <a:latin typeface="Inter"/>
              </a:defRPr>
            </a:pPr>
            <a:r>
              <a:t>Planche droite intérieur</a:t>
            </a:r>
          </a:p>
        </p:txBody>
      </p:sp>
      <p:sp>
        <p:nvSpPr>
          <p:cNvPr id="14" name="TextBox 13"/>
          <p:cNvSpPr txBox="1"/>
          <p:nvPr/>
        </p:nvSpPr>
        <p:spPr>
          <a:xfrm>
            <a:off x="7020000" y="1224000"/>
            <a:ext cx="2520000" cy="360000"/>
          </a:xfrm>
          <a:prstGeom prst="rect">
            <a:avLst/>
          </a:prstGeom>
          <a:noFill/>
        </p:spPr>
        <p:txBody>
          <a:bodyPr wrap="square">
            <a:spAutoFit/>
          </a:bodyPr>
          <a:lstStyle/>
          <a:p>
            <a:pPr algn="l">
              <a:defRPr sz="800" b="0">
                <a:solidFill>
                  <a:srgbClr val="666666"/>
                </a:solidFill>
                <a:latin typeface="Inter"/>
              </a:defRPr>
            </a:pPr>
            <a:r>
              <a:t>101 × 35 cm</a:t>
            </a:r>
          </a:p>
        </p:txBody>
      </p:sp>
      <p:sp>
        <p:nvSpPr>
          <p:cNvPr id="15" name="Rounded Rectangle 14"/>
          <p:cNvSpPr/>
          <p:nvPr/>
        </p:nvSpPr>
        <p:spPr>
          <a:xfrm>
            <a:off x="540000" y="1800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8000" y="1980000"/>
            <a:ext cx="648000" cy="540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8000" y="2088000"/>
            <a:ext cx="648000" cy="360000"/>
          </a:xfrm>
          <a:prstGeom prst="rect">
            <a:avLst/>
          </a:prstGeom>
          <a:noFill/>
        </p:spPr>
        <p:txBody>
          <a:bodyPr wrap="square">
            <a:spAutoFit/>
          </a:bodyPr>
          <a:lstStyle/>
          <a:p>
            <a:pPr algn="ctr">
              <a:defRPr sz="1200" b="1">
                <a:solidFill>
                  <a:srgbClr val="FFFFFF"/>
                </a:solidFill>
                <a:latin typeface="Inter"/>
              </a:defRPr>
            </a:pPr>
            <a:r>
              <a:t>C3</a:t>
            </a:r>
          </a:p>
        </p:txBody>
      </p:sp>
      <p:sp>
        <p:nvSpPr>
          <p:cNvPr id="18" name="TextBox 17"/>
          <p:cNvSpPr txBox="1"/>
          <p:nvPr/>
        </p:nvSpPr>
        <p:spPr>
          <a:xfrm>
            <a:off x="1440000" y="1908000"/>
            <a:ext cx="2520000" cy="360000"/>
          </a:xfrm>
          <a:prstGeom prst="rect">
            <a:avLst/>
          </a:prstGeom>
          <a:noFill/>
        </p:spPr>
        <p:txBody>
          <a:bodyPr wrap="square">
            <a:spAutoFit/>
          </a:bodyPr>
          <a:lstStyle/>
          <a:p>
            <a:pPr algn="l">
              <a:defRPr sz="1000" b="1">
                <a:solidFill>
                  <a:srgbClr val="333333"/>
                </a:solidFill>
                <a:latin typeface="Inter"/>
              </a:defRPr>
            </a:pPr>
            <a:r>
              <a:t>Planche placard gauche</a:t>
            </a:r>
          </a:p>
        </p:txBody>
      </p:sp>
      <p:sp>
        <p:nvSpPr>
          <p:cNvPr id="19" name="TextBox 18"/>
          <p:cNvSpPr txBox="1"/>
          <p:nvPr/>
        </p:nvSpPr>
        <p:spPr>
          <a:xfrm>
            <a:off x="1440000" y="2232000"/>
            <a:ext cx="2520000" cy="360000"/>
          </a:xfrm>
          <a:prstGeom prst="rect">
            <a:avLst/>
          </a:prstGeom>
          <a:noFill/>
        </p:spPr>
        <p:txBody>
          <a:bodyPr wrap="square">
            <a:spAutoFit/>
          </a:bodyPr>
          <a:lstStyle/>
          <a:p>
            <a:pPr algn="l">
              <a:defRPr sz="800" b="0">
                <a:solidFill>
                  <a:srgbClr val="666666"/>
                </a:solidFill>
                <a:latin typeface="Inter"/>
              </a:defRPr>
            </a:pPr>
            <a:r>
              <a:t>74,5 × 35 cm</a:t>
            </a:r>
          </a:p>
        </p:txBody>
      </p:sp>
      <p:sp>
        <p:nvSpPr>
          <p:cNvPr id="20" name="Rounded Rectangle 19"/>
          <p:cNvSpPr/>
          <p:nvPr/>
        </p:nvSpPr>
        <p:spPr>
          <a:xfrm>
            <a:off x="6120000" y="1800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28000" y="1980000"/>
            <a:ext cx="648000" cy="540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28000" y="2088000"/>
            <a:ext cx="648000" cy="360000"/>
          </a:xfrm>
          <a:prstGeom prst="rect">
            <a:avLst/>
          </a:prstGeom>
          <a:noFill/>
        </p:spPr>
        <p:txBody>
          <a:bodyPr wrap="square">
            <a:spAutoFit/>
          </a:bodyPr>
          <a:lstStyle/>
          <a:p>
            <a:pPr algn="ctr">
              <a:defRPr sz="1200" b="1">
                <a:solidFill>
                  <a:srgbClr val="FFFFFF"/>
                </a:solidFill>
                <a:latin typeface="Inter"/>
              </a:defRPr>
            </a:pPr>
            <a:r>
              <a:t>C4</a:t>
            </a:r>
          </a:p>
        </p:txBody>
      </p:sp>
      <p:sp>
        <p:nvSpPr>
          <p:cNvPr id="23" name="TextBox 22"/>
          <p:cNvSpPr txBox="1"/>
          <p:nvPr/>
        </p:nvSpPr>
        <p:spPr>
          <a:xfrm>
            <a:off x="7020000" y="1908000"/>
            <a:ext cx="2520000" cy="360000"/>
          </a:xfrm>
          <a:prstGeom prst="rect">
            <a:avLst/>
          </a:prstGeom>
          <a:noFill/>
        </p:spPr>
        <p:txBody>
          <a:bodyPr wrap="square">
            <a:spAutoFit/>
          </a:bodyPr>
          <a:lstStyle/>
          <a:p>
            <a:pPr algn="l">
              <a:defRPr sz="1000" b="1">
                <a:solidFill>
                  <a:srgbClr val="333333"/>
                </a:solidFill>
                <a:latin typeface="Inter"/>
              </a:defRPr>
            </a:pPr>
            <a:r>
              <a:t>Planche séparation boxio / rangement</a:t>
            </a:r>
          </a:p>
        </p:txBody>
      </p:sp>
      <p:sp>
        <p:nvSpPr>
          <p:cNvPr id="24" name="TextBox 23"/>
          <p:cNvSpPr txBox="1"/>
          <p:nvPr/>
        </p:nvSpPr>
        <p:spPr>
          <a:xfrm>
            <a:off x="7020000" y="2232000"/>
            <a:ext cx="2520000" cy="360000"/>
          </a:xfrm>
          <a:prstGeom prst="rect">
            <a:avLst/>
          </a:prstGeom>
          <a:noFill/>
        </p:spPr>
        <p:txBody>
          <a:bodyPr wrap="square">
            <a:spAutoFit/>
          </a:bodyPr>
          <a:lstStyle/>
          <a:p>
            <a:pPr algn="l">
              <a:defRPr sz="800" b="0">
                <a:solidFill>
                  <a:srgbClr val="666666"/>
                </a:solidFill>
                <a:latin typeface="Inter"/>
              </a:defRPr>
            </a:pPr>
            <a:r>
              <a:t>74,5 × 35 cm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180000"/>
            <a:ext cx="9000000" cy="540000"/>
          </a:xfrm>
          <a:prstGeom prst="rect">
            <a:avLst/>
          </a:prstGeom>
          <a:noFill/>
        </p:spPr>
        <p:txBody>
          <a:bodyPr wrap="square">
            <a:spAutoFit/>
          </a:bodyPr>
          <a:lstStyle/>
          <a:p>
            <a:pPr algn="l">
              <a:defRPr sz="1800" b="1">
                <a:solidFill>
                  <a:srgbClr val="2B5EA7"/>
                </a:solidFill>
                <a:latin typeface="Inter"/>
              </a:defRPr>
            </a:pPr>
            <a:r>
              <a:t>Étapes de montage — Cloisons intérieures</a:t>
            </a:r>
          </a:p>
        </p:txBody>
      </p:sp>
      <p:sp>
        <p:nvSpPr>
          <p:cNvPr id="3" name="Oval 2"/>
          <p:cNvSpPr/>
          <p:nvPr/>
        </p:nvSpPr>
        <p:spPr>
          <a:xfrm>
            <a:off x="540000" y="864000"/>
            <a:ext cx="432000" cy="432000"/>
          </a:xfrm>
          <a:prstGeom prst="ellipse">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latin typeface="Inter"/>
              </a:defRPr>
            </a:pPr>
            <a:r>
              <a:t>1</a:t>
            </a:r>
          </a:p>
        </p:txBody>
      </p:sp>
      <p:sp>
        <p:nvSpPr>
          <p:cNvPr id="4" name="TextBox 3"/>
          <p:cNvSpPr txBox="1"/>
          <p:nvPr/>
        </p:nvSpPr>
        <p:spPr>
          <a:xfrm>
            <a:off x="1152000" y="792000"/>
            <a:ext cx="10080000" cy="360000"/>
          </a:xfrm>
          <a:prstGeom prst="rect">
            <a:avLst/>
          </a:prstGeom>
          <a:noFill/>
        </p:spPr>
        <p:txBody>
          <a:bodyPr wrap="square">
            <a:spAutoFit/>
          </a:bodyPr>
          <a:lstStyle/>
          <a:p>
            <a:pPr algn="l">
              <a:defRPr sz="1300" b="1">
                <a:solidFill>
                  <a:srgbClr val="333333"/>
                </a:solidFill>
                <a:latin typeface="Inter"/>
              </a:defRPr>
            </a:pPr>
            <a:r>
              <a:t>Cloisons longitudinales [C1] et [C2]</a:t>
            </a:r>
          </a:p>
        </p:txBody>
      </p:sp>
      <p:sp>
        <p:nvSpPr>
          <p:cNvPr id="5" name="TextBox 4"/>
          <p:cNvSpPr txBox="1"/>
          <p:nvPr/>
        </p:nvSpPr>
        <p:spPr>
          <a:xfrm>
            <a:off x="1152000" y="1224000"/>
            <a:ext cx="10080000" cy="792000"/>
          </a:xfrm>
          <a:prstGeom prst="rect">
            <a:avLst/>
          </a:prstGeom>
          <a:noFill/>
        </p:spPr>
        <p:txBody>
          <a:bodyPr wrap="square">
            <a:spAutoFit/>
          </a:bodyPr>
          <a:lstStyle/>
          <a:p>
            <a:pPr algn="l">
              <a:defRPr sz="1000" b="0">
                <a:solidFill>
                  <a:srgbClr val="666666"/>
                </a:solidFill>
                <a:latin typeface="Inter"/>
              </a:defRPr>
            </a:pPr>
            <a:r>
              <a:t>Visse les planches C1 (support glissière gauche) et C2 (droite intérieur) verticalement sur les carrelets. Elles séparent le tiroir des zones latérales. 4 vis 3,5×30 mm par planche.</a:t>
            </a:r>
          </a:p>
        </p:txBody>
      </p:sp>
      <p:sp>
        <p:nvSpPr>
          <p:cNvPr id="6" name="Rectangle 5"/>
          <p:cNvSpPr/>
          <p:nvPr/>
        </p:nvSpPr>
        <p:spPr>
          <a:xfrm>
            <a:off x="1152000" y="2088000"/>
            <a:ext cx="10080000" cy="635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0000" y="2232000"/>
            <a:ext cx="432000" cy="432000"/>
          </a:xfrm>
          <a:prstGeom prst="ellipse">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latin typeface="Inter"/>
              </a:defRPr>
            </a:pPr>
            <a:r>
              <a:t>2</a:t>
            </a:r>
          </a:p>
        </p:txBody>
      </p:sp>
      <p:sp>
        <p:nvSpPr>
          <p:cNvPr id="8" name="TextBox 7"/>
          <p:cNvSpPr txBox="1"/>
          <p:nvPr/>
        </p:nvSpPr>
        <p:spPr>
          <a:xfrm>
            <a:off x="1152000" y="2160000"/>
            <a:ext cx="10080000" cy="360000"/>
          </a:xfrm>
          <a:prstGeom prst="rect">
            <a:avLst/>
          </a:prstGeom>
          <a:noFill/>
        </p:spPr>
        <p:txBody>
          <a:bodyPr wrap="square">
            <a:spAutoFit/>
          </a:bodyPr>
          <a:lstStyle/>
          <a:p>
            <a:pPr algn="l">
              <a:defRPr sz="1300" b="1">
                <a:solidFill>
                  <a:srgbClr val="333333"/>
                </a:solidFill>
                <a:latin typeface="Inter"/>
              </a:defRPr>
            </a:pPr>
            <a:r>
              <a:t>Cloisons transversales [C3] et [C4]</a:t>
            </a:r>
          </a:p>
        </p:txBody>
      </p:sp>
      <p:sp>
        <p:nvSpPr>
          <p:cNvPr id="9" name="TextBox 8"/>
          <p:cNvSpPr txBox="1"/>
          <p:nvPr/>
        </p:nvSpPr>
        <p:spPr>
          <a:xfrm>
            <a:off x="1152000" y="2592000"/>
            <a:ext cx="10080000" cy="792000"/>
          </a:xfrm>
          <a:prstGeom prst="rect">
            <a:avLst/>
          </a:prstGeom>
          <a:noFill/>
        </p:spPr>
        <p:txBody>
          <a:bodyPr wrap="square">
            <a:spAutoFit/>
          </a:bodyPr>
          <a:lstStyle/>
          <a:p>
            <a:pPr algn="l">
              <a:defRPr sz="1000" b="0">
                <a:solidFill>
                  <a:srgbClr val="666666"/>
                </a:solidFill>
                <a:latin typeface="Inter"/>
              </a:defRPr>
            </a:pPr>
            <a:r>
              <a:t>Fixe la planche placard gauche [C3] et la séparation boxio [C4] perpendiculairement. C4 délimite l'espace boxio du rangement. Visse dans les carrelets + dans les cloisons longitudinales.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0000" y="360000"/>
            <a:ext cx="1800000" cy="432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60000"/>
            <a:ext cx="1800000" cy="432000"/>
          </a:xfrm>
          <a:prstGeom prst="rect">
            <a:avLst/>
          </a:prstGeom>
          <a:noFill/>
        </p:spPr>
        <p:txBody>
          <a:bodyPr wrap="square">
            <a:spAutoFit/>
          </a:bodyPr>
          <a:lstStyle/>
          <a:p>
            <a:pPr algn="ctr">
              <a:defRPr sz="1100" b="1">
                <a:solidFill>
                  <a:srgbClr val="FFFFFF"/>
                </a:solidFill>
                <a:latin typeface="Inter"/>
              </a:defRPr>
            </a:pPr>
            <a:r>
              <a:t>BLOC 4/5</a:t>
            </a:r>
          </a:p>
        </p:txBody>
      </p:sp>
      <p:sp>
        <p:nvSpPr>
          <p:cNvPr id="4" name="TextBox 3"/>
          <p:cNvSpPr txBox="1"/>
          <p:nvPr/>
        </p:nvSpPr>
        <p:spPr>
          <a:xfrm>
            <a:off x="540000" y="1080000"/>
            <a:ext cx="7200000" cy="900000"/>
          </a:xfrm>
          <a:prstGeom prst="rect">
            <a:avLst/>
          </a:prstGeom>
          <a:noFill/>
        </p:spPr>
        <p:txBody>
          <a:bodyPr wrap="square">
            <a:spAutoFit/>
          </a:bodyPr>
          <a:lstStyle/>
          <a:p>
            <a:pPr algn="l">
              <a:defRPr sz="3200" b="1">
                <a:solidFill>
                  <a:srgbClr val="2B5EA7"/>
                </a:solidFill>
                <a:latin typeface="Inter"/>
              </a:defRPr>
            </a:pPr>
            <a:r>
              <a:t>Tiroir coulissant</a:t>
            </a:r>
          </a:p>
        </p:txBody>
      </p:sp>
      <p:sp>
        <p:nvSpPr>
          <p:cNvPr id="5" name="TextBox 4"/>
          <p:cNvSpPr txBox="1"/>
          <p:nvPr/>
        </p:nvSpPr>
        <p:spPr>
          <a:xfrm>
            <a:off x="540000" y="1980000"/>
            <a:ext cx="7200000" cy="540000"/>
          </a:xfrm>
          <a:prstGeom prst="rect">
            <a:avLst/>
          </a:prstGeom>
          <a:noFill/>
        </p:spPr>
        <p:txBody>
          <a:bodyPr wrap="square">
            <a:spAutoFit/>
          </a:bodyPr>
          <a:lstStyle/>
          <a:p>
            <a:pPr algn="l">
              <a:defRPr sz="1400" b="0">
                <a:solidFill>
                  <a:srgbClr val="666666"/>
                </a:solidFill>
                <a:latin typeface="Inter"/>
              </a:defRPr>
            </a:pPr>
            <a:r>
              <a:t>Caisson intérieur monté sur glissières — rangement accessible par l'extérieur</a:t>
            </a:r>
          </a:p>
        </p:txBody>
      </p:sp>
      <p:sp>
        <p:nvSpPr>
          <p:cNvPr id="6" name="Rounded Rectangle 5"/>
          <p:cNvSpPr/>
          <p:nvPr/>
        </p:nvSpPr>
        <p:spPr>
          <a:xfrm>
            <a:off x="540000" y="3240000"/>
            <a:ext cx="2520000" cy="12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3384000"/>
            <a:ext cx="2520000" cy="360000"/>
          </a:xfrm>
          <a:prstGeom prst="rect">
            <a:avLst/>
          </a:prstGeom>
          <a:noFill/>
        </p:spPr>
        <p:txBody>
          <a:bodyPr wrap="square">
            <a:spAutoFit/>
          </a:bodyPr>
          <a:lstStyle/>
          <a:p>
            <a:pPr algn="ctr">
              <a:defRPr sz="900" b="0">
                <a:solidFill>
                  <a:srgbClr val="666666"/>
                </a:solidFill>
                <a:latin typeface="Inter"/>
              </a:defRPr>
            </a:pPr>
            <a:r>
              <a:t>Encombrement</a:t>
            </a:r>
          </a:p>
        </p:txBody>
      </p:sp>
      <p:sp>
        <p:nvSpPr>
          <p:cNvPr id="8" name="TextBox 7"/>
          <p:cNvSpPr txBox="1"/>
          <p:nvPr/>
        </p:nvSpPr>
        <p:spPr>
          <a:xfrm>
            <a:off x="540000" y="3743999"/>
            <a:ext cx="2520000" cy="540000"/>
          </a:xfrm>
          <a:prstGeom prst="rect">
            <a:avLst/>
          </a:prstGeom>
          <a:noFill/>
        </p:spPr>
        <p:txBody>
          <a:bodyPr wrap="square">
            <a:spAutoFit/>
          </a:bodyPr>
          <a:lstStyle/>
          <a:p>
            <a:pPr algn="ctr">
              <a:defRPr sz="1600" b="1">
                <a:solidFill>
                  <a:srgbClr val="333333"/>
                </a:solidFill>
                <a:latin typeface="Inter"/>
              </a:defRPr>
            </a:pPr>
            <a:r>
              <a:t>98,5 × 41 × 31 cm</a:t>
            </a:r>
          </a:p>
        </p:txBody>
      </p:sp>
      <p:sp>
        <p:nvSpPr>
          <p:cNvPr id="9" name="Rounded Rectangle 8"/>
          <p:cNvSpPr/>
          <p:nvPr/>
        </p:nvSpPr>
        <p:spPr>
          <a:xfrm>
            <a:off x="3240000" y="3240000"/>
            <a:ext cx="2520000" cy="12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0000" y="3384000"/>
            <a:ext cx="2520000" cy="360000"/>
          </a:xfrm>
          <a:prstGeom prst="rect">
            <a:avLst/>
          </a:prstGeom>
          <a:noFill/>
        </p:spPr>
        <p:txBody>
          <a:bodyPr wrap="square">
            <a:spAutoFit/>
          </a:bodyPr>
          <a:lstStyle/>
          <a:p>
            <a:pPr algn="ctr">
              <a:defRPr sz="900" b="0">
                <a:solidFill>
                  <a:srgbClr val="666666"/>
                </a:solidFill>
                <a:latin typeface="Inter"/>
              </a:defRPr>
            </a:pPr>
            <a:r>
              <a:t>Matière</a:t>
            </a:r>
          </a:p>
        </p:txBody>
      </p:sp>
      <p:sp>
        <p:nvSpPr>
          <p:cNvPr id="11" name="TextBox 10"/>
          <p:cNvSpPr txBox="1"/>
          <p:nvPr/>
        </p:nvSpPr>
        <p:spPr>
          <a:xfrm>
            <a:off x="3240000" y="3743999"/>
            <a:ext cx="2520000" cy="540000"/>
          </a:xfrm>
          <a:prstGeom prst="rect">
            <a:avLst/>
          </a:prstGeom>
          <a:noFill/>
        </p:spPr>
        <p:txBody>
          <a:bodyPr wrap="square">
            <a:spAutoFit/>
          </a:bodyPr>
          <a:lstStyle/>
          <a:p>
            <a:pPr algn="ctr">
              <a:defRPr sz="1600" b="1">
                <a:solidFill>
                  <a:srgbClr val="333333"/>
                </a:solidFill>
                <a:latin typeface="Inter"/>
              </a:defRPr>
            </a:pPr>
            <a:r>
              <a:t>CP peuplier 15 mm</a:t>
            </a:r>
          </a:p>
        </p:txBody>
      </p:sp>
      <p:sp>
        <p:nvSpPr>
          <p:cNvPr id="12" name="Rounded Rectangle 11"/>
          <p:cNvSpPr/>
          <p:nvPr/>
        </p:nvSpPr>
        <p:spPr>
          <a:xfrm>
            <a:off x="5940000" y="3240000"/>
            <a:ext cx="2520000" cy="12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0000" y="3384000"/>
            <a:ext cx="2520000" cy="360000"/>
          </a:xfrm>
          <a:prstGeom prst="rect">
            <a:avLst/>
          </a:prstGeom>
          <a:noFill/>
        </p:spPr>
        <p:txBody>
          <a:bodyPr wrap="square">
            <a:spAutoFit/>
          </a:bodyPr>
          <a:lstStyle/>
          <a:p>
            <a:pPr algn="ctr">
              <a:defRPr sz="900" b="0">
                <a:solidFill>
                  <a:srgbClr val="666666"/>
                </a:solidFill>
                <a:latin typeface="Inter"/>
              </a:defRPr>
            </a:pPr>
            <a:r>
              <a:t>Panneaux à découper</a:t>
            </a:r>
          </a:p>
        </p:txBody>
      </p:sp>
      <p:sp>
        <p:nvSpPr>
          <p:cNvPr id="14" name="TextBox 13"/>
          <p:cNvSpPr txBox="1"/>
          <p:nvPr/>
        </p:nvSpPr>
        <p:spPr>
          <a:xfrm>
            <a:off x="5940000" y="3743999"/>
            <a:ext cx="2520000" cy="540000"/>
          </a:xfrm>
          <a:prstGeom prst="rect">
            <a:avLst/>
          </a:prstGeom>
          <a:noFill/>
        </p:spPr>
        <p:txBody>
          <a:bodyPr wrap="square">
            <a:spAutoFit/>
          </a:bodyPr>
          <a:lstStyle/>
          <a:p>
            <a:pPr algn="ctr">
              <a:defRPr sz="1600" b="1">
                <a:solidFill>
                  <a:srgbClr val="333333"/>
                </a:solidFill>
                <a:latin typeface="Inter"/>
              </a:defRPr>
            </a:pPr>
            <a:r>
              <a:t>5</a:t>
            </a:r>
          </a:p>
        </p:txBody>
      </p:sp>
      <p:sp>
        <p:nvSpPr>
          <p:cNvPr id="15" name="Rounded Rectangle 14"/>
          <p:cNvSpPr/>
          <p:nvPr/>
        </p:nvSpPr>
        <p:spPr>
          <a:xfrm>
            <a:off x="8640000" y="3240000"/>
            <a:ext cx="2520000" cy="12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0000" y="3384000"/>
            <a:ext cx="2520000" cy="360000"/>
          </a:xfrm>
          <a:prstGeom prst="rect">
            <a:avLst/>
          </a:prstGeom>
          <a:noFill/>
        </p:spPr>
        <p:txBody>
          <a:bodyPr wrap="square">
            <a:spAutoFit/>
          </a:bodyPr>
          <a:lstStyle/>
          <a:p>
            <a:pPr algn="ctr">
              <a:defRPr sz="900" b="0">
                <a:solidFill>
                  <a:srgbClr val="666666"/>
                </a:solidFill>
                <a:latin typeface="Inter"/>
              </a:defRPr>
            </a:pPr>
            <a:r>
              <a:t>Carrelets 15 × 15 mm</a:t>
            </a:r>
          </a:p>
        </p:txBody>
      </p:sp>
      <p:sp>
        <p:nvSpPr>
          <p:cNvPr id="17" name="TextBox 16"/>
          <p:cNvSpPr txBox="1"/>
          <p:nvPr/>
        </p:nvSpPr>
        <p:spPr>
          <a:xfrm>
            <a:off x="8640000" y="3743999"/>
            <a:ext cx="2520000" cy="540000"/>
          </a:xfrm>
          <a:prstGeom prst="rect">
            <a:avLst/>
          </a:prstGeom>
          <a:noFill/>
        </p:spPr>
        <p:txBody>
          <a:bodyPr wrap="square">
            <a:spAutoFit/>
          </a:bodyPr>
          <a:lstStyle/>
          <a:p>
            <a:pPr algn="ctr">
              <a:defRPr sz="1600" b="1">
                <a:solidFill>
                  <a:srgbClr val="333333"/>
                </a:solidFill>
                <a:latin typeface="Inter"/>
              </a:defRPr>
            </a:pPr>
            <a:r>
              <a:t>8</a:t>
            </a:r>
          </a:p>
        </p:txBody>
      </p:sp>
      <p:sp>
        <p:nvSpPr>
          <p:cNvPr id="18" name="TextBox 17"/>
          <p:cNvSpPr txBox="1"/>
          <p:nvPr/>
        </p:nvSpPr>
        <p:spPr>
          <a:xfrm>
            <a:off x="540000" y="6300000"/>
            <a:ext cx="10800000" cy="360000"/>
          </a:xfrm>
          <a:prstGeom prst="rect">
            <a:avLst/>
          </a:prstGeom>
          <a:noFill/>
        </p:spPr>
        <p:txBody>
          <a:bodyPr wrap="square">
            <a:spAutoFit/>
          </a:bodyPr>
          <a:lstStyle/>
          <a:p>
            <a:pPr algn="ctr">
              <a:defRPr sz="800" b="0">
                <a:solidFill>
                  <a:srgbClr val="AAAAAA"/>
                </a:solidFill>
                <a:latin typeface="Inter"/>
              </a:defRPr>
            </a:pPr>
            <a:r>
              <a:t>Guide VBA Construction — Bloc Lit Peigne — vanzonexplorer.com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288000"/>
            <a:ext cx="7200000" cy="540000"/>
          </a:xfrm>
          <a:prstGeom prst="rect">
            <a:avLst/>
          </a:prstGeom>
          <a:noFill/>
        </p:spPr>
        <p:txBody>
          <a:bodyPr wrap="square">
            <a:spAutoFit/>
          </a:bodyPr>
          <a:lstStyle/>
          <a:p>
            <a:pPr algn="l">
              <a:defRPr sz="2200" b="1">
                <a:solidFill>
                  <a:srgbClr val="2B5EA7"/>
                </a:solidFill>
                <a:latin typeface="Inter"/>
              </a:defRPr>
            </a:pPr>
            <a:r>
              <a:t>Liste de débit — Tiroir coulissant</a:t>
            </a:r>
          </a:p>
        </p:txBody>
      </p:sp>
      <p:graphicFrame>
        <p:nvGraphicFramePr>
          <p:cNvPr id="3" name="Table 2"/>
          <p:cNvGraphicFramePr>
            <a:graphicFrameLocks noGrp="1"/>
          </p:cNvGraphicFramePr>
          <p:nvPr/>
        </p:nvGraphicFramePr>
        <p:xfrm>
          <a:off x="540000" y="900000"/>
          <a:ext cx="10800000" cy="1728000"/>
        </p:xfrm>
        <a:graphic>
          <a:graphicData uri="http://schemas.openxmlformats.org/drawingml/2006/table">
            <a:tbl>
              <a:tblPr firstRow="1" bandRow="1">
                <a:tableStyleId>{5C22544A-7EE6-4342-B048-85BDC9FD1C3A}</a:tableStyleId>
              </a:tblPr>
              <a:tblGrid>
                <a:gridCol w="1080000"/>
                <a:gridCol w="5040000"/>
                <a:gridCol w="2880000"/>
                <a:gridCol w="1800000"/>
              </a:tblGrid>
              <a:tr h="288000">
                <a:tc>
                  <a:txBody>
                    <a:bodyPr/>
                    <a:lstStyle/>
                    <a:p>
                      <a:pPr algn="ctr">
                        <a:defRPr sz="1000" b="1">
                          <a:solidFill>
                            <a:srgbClr val="FFFFFF"/>
                          </a:solidFill>
                          <a:latin typeface="Inter"/>
                        </a:defRPr>
                      </a:pPr>
                      <a:r>
                        <a:t>Rép.</a:t>
                      </a:r>
                    </a:p>
                  </a:txBody>
                  <a:tcPr>
                    <a:solidFill>
                      <a:srgbClr val="2B5EA7"/>
                    </a:solidFill>
                  </a:tcPr>
                </a:tc>
                <a:tc>
                  <a:txBody>
                    <a:bodyPr/>
                    <a:lstStyle/>
                    <a:p>
                      <a:pPr algn="ctr">
                        <a:defRPr sz="1000" b="1">
                          <a:solidFill>
                            <a:srgbClr val="FFFFFF"/>
                          </a:solidFill>
                          <a:latin typeface="Inter"/>
                        </a:defRPr>
                      </a:pPr>
                      <a:r>
                        <a:t>Panneau (CP 15 mm)</a:t>
                      </a:r>
                    </a:p>
                  </a:txBody>
                  <a:tcPr>
                    <a:solidFill>
                      <a:srgbClr val="2B5EA7"/>
                    </a:solidFill>
                  </a:tcPr>
                </a:tc>
                <a:tc>
                  <a:txBody>
                    <a:bodyPr/>
                    <a:lstStyle/>
                    <a:p>
                      <a:pPr algn="ctr">
                        <a:defRPr sz="1000" b="1">
                          <a:solidFill>
                            <a:srgbClr val="FFFFFF"/>
                          </a:solidFill>
                          <a:latin typeface="Inter"/>
                        </a:defRPr>
                      </a:pPr>
                      <a:r>
                        <a:t>Dimensions</a:t>
                      </a:r>
                    </a:p>
                  </a:txBody>
                  <a:tcPr>
                    <a:solidFill>
                      <a:srgbClr val="2B5EA7"/>
                    </a:solidFill>
                  </a:tcPr>
                </a:tc>
                <a:tc>
                  <a:txBody>
                    <a:bodyPr/>
                    <a:lstStyle/>
                    <a:p>
                      <a:pPr algn="ctr">
                        <a:defRPr sz="1000" b="1">
                          <a:solidFill>
                            <a:srgbClr val="FFFFFF"/>
                          </a:solidFill>
                          <a:latin typeface="Inter"/>
                        </a:defRPr>
                      </a:pPr>
                      <a:r>
                        <a:t>Qté</a:t>
                      </a:r>
                    </a:p>
                  </a:txBody>
                  <a:tcPr>
                    <a:solidFill>
                      <a:srgbClr val="2B5EA7"/>
                    </a:solidFill>
                  </a:tcPr>
                </a:tc>
              </a:tr>
              <a:tr h="288000">
                <a:tc>
                  <a:txBody>
                    <a:bodyPr/>
                    <a:lstStyle/>
                    <a:p>
                      <a:pPr algn="ctr">
                        <a:defRPr sz="900">
                          <a:solidFill>
                            <a:srgbClr val="333333"/>
                          </a:solidFill>
                          <a:latin typeface="Inter"/>
                        </a:defRPr>
                      </a:pPr>
                      <a:r>
                        <a:t>D1</a:t>
                      </a:r>
                    </a:p>
                  </a:txBody>
                  <a:tcPr>
                    <a:solidFill>
                      <a:srgbClr val="FFFFFF"/>
                    </a:solidFill>
                  </a:tcPr>
                </a:tc>
                <a:tc>
                  <a:txBody>
                    <a:bodyPr/>
                    <a:lstStyle/>
                    <a:p>
                      <a:pPr algn="ctr">
                        <a:defRPr sz="900">
                          <a:solidFill>
                            <a:srgbClr val="333333"/>
                          </a:solidFill>
                          <a:latin typeface="Inter"/>
                        </a:defRPr>
                      </a:pPr>
                      <a:r>
                        <a:t>Planche bas tiroir</a:t>
                      </a:r>
                    </a:p>
                  </a:txBody>
                  <a:tcPr>
                    <a:solidFill>
                      <a:srgbClr val="FFFFFF"/>
                    </a:solidFill>
                  </a:tcPr>
                </a:tc>
                <a:tc>
                  <a:txBody>
                    <a:bodyPr/>
                    <a:lstStyle/>
                    <a:p>
                      <a:pPr algn="ctr">
                        <a:defRPr sz="900">
                          <a:solidFill>
                            <a:srgbClr val="333333"/>
                          </a:solidFill>
                          <a:latin typeface="Inter"/>
                        </a:defRPr>
                      </a:pPr>
                      <a:r>
                        <a:t>98,5 × 41 cm</a:t>
                      </a:r>
                    </a:p>
                  </a:txBody>
                  <a:tcPr>
                    <a:solidFill>
                      <a:srgbClr val="FFFFFF"/>
                    </a:solidFill>
                  </a:tcPr>
                </a:tc>
                <a:tc>
                  <a:txBody>
                    <a:bodyPr/>
                    <a:lstStyle/>
                    <a:p>
                      <a:pPr algn="ctr">
                        <a:defRPr sz="900">
                          <a:solidFill>
                            <a:srgbClr val="333333"/>
                          </a:solidFill>
                          <a:latin typeface="Inter"/>
                        </a:defRPr>
                      </a:pPr>
                      <a:r>
                        <a:t>1</a:t>
                      </a:r>
                    </a:p>
                  </a:txBody>
                  <a:tcPr>
                    <a:solidFill>
                      <a:srgbClr val="FFFFFF"/>
                    </a:solidFill>
                  </a:tcPr>
                </a:tc>
              </a:tr>
              <a:tr h="288000">
                <a:tc>
                  <a:txBody>
                    <a:bodyPr/>
                    <a:lstStyle/>
                    <a:p>
                      <a:pPr algn="ctr">
                        <a:defRPr sz="900">
                          <a:solidFill>
                            <a:srgbClr val="333333"/>
                          </a:solidFill>
                          <a:latin typeface="Inter"/>
                        </a:defRPr>
                      </a:pPr>
                      <a:r>
                        <a:t>D2</a:t>
                      </a:r>
                    </a:p>
                  </a:txBody>
                  <a:tcPr>
                    <a:solidFill>
                      <a:srgbClr val="F5F5F5"/>
                    </a:solidFill>
                  </a:tcPr>
                </a:tc>
                <a:tc>
                  <a:txBody>
                    <a:bodyPr/>
                    <a:lstStyle/>
                    <a:p>
                      <a:pPr algn="ctr">
                        <a:defRPr sz="900">
                          <a:solidFill>
                            <a:srgbClr val="333333"/>
                          </a:solidFill>
                          <a:latin typeface="Inter"/>
                        </a:defRPr>
                      </a:pPr>
                      <a:r>
                        <a:t>Planche fond tiroir</a:t>
                      </a:r>
                    </a:p>
                  </a:txBody>
                  <a:tcPr>
                    <a:solidFill>
                      <a:srgbClr val="F5F5F5"/>
                    </a:solidFill>
                  </a:tcPr>
                </a:tc>
                <a:tc>
                  <a:txBody>
                    <a:bodyPr/>
                    <a:lstStyle/>
                    <a:p>
                      <a:pPr algn="ctr">
                        <a:defRPr sz="900">
                          <a:solidFill>
                            <a:srgbClr val="333333"/>
                          </a:solidFill>
                          <a:latin typeface="Inter"/>
                        </a:defRPr>
                      </a:pPr>
                      <a:r>
                        <a:t>44 × 31 cm</a:t>
                      </a:r>
                    </a:p>
                  </a:txBody>
                  <a:tcPr>
                    <a:solidFill>
                      <a:srgbClr val="F5F5F5"/>
                    </a:solidFill>
                  </a:tcPr>
                </a:tc>
                <a:tc>
                  <a:txBody>
                    <a:bodyPr/>
                    <a:lstStyle/>
                    <a:p>
                      <a:pPr algn="ctr">
                        <a:defRPr sz="900">
                          <a:solidFill>
                            <a:srgbClr val="333333"/>
                          </a:solidFill>
                          <a:latin typeface="Inter"/>
                        </a:defRPr>
                      </a:pPr>
                      <a:r>
                        <a:t>1</a:t>
                      </a:r>
                    </a:p>
                  </a:txBody>
                  <a:tcPr>
                    <a:solidFill>
                      <a:srgbClr val="F5F5F5"/>
                    </a:solidFill>
                  </a:tcPr>
                </a:tc>
              </a:tr>
              <a:tr h="288000">
                <a:tc>
                  <a:txBody>
                    <a:bodyPr/>
                    <a:lstStyle/>
                    <a:p>
                      <a:pPr algn="ctr">
                        <a:defRPr sz="900">
                          <a:solidFill>
                            <a:srgbClr val="333333"/>
                          </a:solidFill>
                          <a:latin typeface="Inter"/>
                        </a:defRPr>
                      </a:pPr>
                      <a:r>
                        <a:t>D3</a:t>
                      </a:r>
                    </a:p>
                  </a:txBody>
                  <a:tcPr>
                    <a:solidFill>
                      <a:srgbClr val="FFFFFF"/>
                    </a:solidFill>
                  </a:tcPr>
                </a:tc>
                <a:tc>
                  <a:txBody>
                    <a:bodyPr/>
                    <a:lstStyle/>
                    <a:p>
                      <a:pPr algn="ctr">
                        <a:defRPr sz="900">
                          <a:solidFill>
                            <a:srgbClr val="333333"/>
                          </a:solidFill>
                          <a:latin typeface="Inter"/>
                        </a:defRPr>
                      </a:pPr>
                      <a:r>
                        <a:t>Planche face tiroir</a:t>
                      </a:r>
                    </a:p>
                  </a:txBody>
                  <a:tcPr>
                    <a:solidFill>
                      <a:srgbClr val="FFFFFF"/>
                    </a:solidFill>
                  </a:tcPr>
                </a:tc>
                <a:tc>
                  <a:txBody>
                    <a:bodyPr/>
                    <a:lstStyle/>
                    <a:p>
                      <a:pPr algn="ctr">
                        <a:defRPr sz="900">
                          <a:solidFill>
                            <a:srgbClr val="333333"/>
                          </a:solidFill>
                          <a:latin typeface="Inter"/>
                        </a:defRPr>
                      </a:pPr>
                      <a:r>
                        <a:t>44 × 31 cm</a:t>
                      </a:r>
                    </a:p>
                  </a:txBody>
                  <a:tcPr>
                    <a:solidFill>
                      <a:srgbClr val="FFFFFF"/>
                    </a:solidFill>
                  </a:tcPr>
                </a:tc>
                <a:tc>
                  <a:txBody>
                    <a:bodyPr/>
                    <a:lstStyle/>
                    <a:p>
                      <a:pPr algn="ctr">
                        <a:defRPr sz="900">
                          <a:solidFill>
                            <a:srgbClr val="333333"/>
                          </a:solidFill>
                          <a:latin typeface="Inter"/>
                        </a:defRPr>
                      </a:pPr>
                      <a:r>
                        <a:t>1</a:t>
                      </a:r>
                    </a:p>
                  </a:txBody>
                  <a:tcPr>
                    <a:solidFill>
                      <a:srgbClr val="FFFFFF"/>
                    </a:solidFill>
                  </a:tcPr>
                </a:tc>
              </a:tr>
              <a:tr h="288000">
                <a:tc>
                  <a:txBody>
                    <a:bodyPr/>
                    <a:lstStyle/>
                    <a:p>
                      <a:pPr algn="ctr">
                        <a:defRPr sz="900">
                          <a:solidFill>
                            <a:srgbClr val="333333"/>
                          </a:solidFill>
                          <a:latin typeface="Inter"/>
                        </a:defRPr>
                      </a:pPr>
                      <a:r>
                        <a:t>D4</a:t>
                      </a:r>
                    </a:p>
                  </a:txBody>
                  <a:tcPr>
                    <a:solidFill>
                      <a:srgbClr val="F5F5F5"/>
                    </a:solidFill>
                  </a:tcPr>
                </a:tc>
                <a:tc>
                  <a:txBody>
                    <a:bodyPr/>
                    <a:lstStyle/>
                    <a:p>
                      <a:pPr algn="ctr">
                        <a:defRPr sz="900">
                          <a:solidFill>
                            <a:srgbClr val="333333"/>
                          </a:solidFill>
                          <a:latin typeface="Inter"/>
                        </a:defRPr>
                      </a:pPr>
                      <a:r>
                        <a:t>Planche droite tiroir</a:t>
                      </a:r>
                    </a:p>
                  </a:txBody>
                  <a:tcPr>
                    <a:solidFill>
                      <a:srgbClr val="F5F5F5"/>
                    </a:solidFill>
                  </a:tcPr>
                </a:tc>
                <a:tc>
                  <a:txBody>
                    <a:bodyPr/>
                    <a:lstStyle/>
                    <a:p>
                      <a:pPr algn="ctr">
                        <a:defRPr sz="900">
                          <a:solidFill>
                            <a:srgbClr val="333333"/>
                          </a:solidFill>
                          <a:latin typeface="Inter"/>
                        </a:defRPr>
                      </a:pPr>
                      <a:r>
                        <a:t>98,5 × 31 cm</a:t>
                      </a:r>
                    </a:p>
                  </a:txBody>
                  <a:tcPr>
                    <a:solidFill>
                      <a:srgbClr val="F5F5F5"/>
                    </a:solidFill>
                  </a:tcPr>
                </a:tc>
                <a:tc>
                  <a:txBody>
                    <a:bodyPr/>
                    <a:lstStyle/>
                    <a:p>
                      <a:pPr algn="ctr">
                        <a:defRPr sz="900">
                          <a:solidFill>
                            <a:srgbClr val="333333"/>
                          </a:solidFill>
                          <a:latin typeface="Inter"/>
                        </a:defRPr>
                      </a:pPr>
                      <a:r>
                        <a:t>1</a:t>
                      </a:r>
                    </a:p>
                  </a:txBody>
                  <a:tcPr>
                    <a:solidFill>
                      <a:srgbClr val="F5F5F5"/>
                    </a:solidFill>
                  </a:tcPr>
                </a:tc>
              </a:tr>
              <a:tr h="288000">
                <a:tc>
                  <a:txBody>
                    <a:bodyPr/>
                    <a:lstStyle/>
                    <a:p>
                      <a:pPr algn="ctr">
                        <a:defRPr sz="900">
                          <a:solidFill>
                            <a:srgbClr val="333333"/>
                          </a:solidFill>
                          <a:latin typeface="Inter"/>
                        </a:defRPr>
                      </a:pPr>
                      <a:r>
                        <a:t>D5</a:t>
                      </a:r>
                    </a:p>
                  </a:txBody>
                  <a:tcPr>
                    <a:solidFill>
                      <a:srgbClr val="FFFFFF"/>
                    </a:solidFill>
                  </a:tcPr>
                </a:tc>
                <a:tc>
                  <a:txBody>
                    <a:bodyPr/>
                    <a:lstStyle/>
                    <a:p>
                      <a:pPr algn="ctr">
                        <a:defRPr sz="900">
                          <a:solidFill>
                            <a:srgbClr val="333333"/>
                          </a:solidFill>
                          <a:latin typeface="Inter"/>
                        </a:defRPr>
                      </a:pPr>
                      <a:r>
                        <a:t>Planche gauche tiroir</a:t>
                      </a:r>
                    </a:p>
                  </a:txBody>
                  <a:tcPr>
                    <a:solidFill>
                      <a:srgbClr val="FFFFFF"/>
                    </a:solidFill>
                  </a:tcPr>
                </a:tc>
                <a:tc>
                  <a:txBody>
                    <a:bodyPr/>
                    <a:lstStyle/>
                    <a:p>
                      <a:pPr algn="ctr">
                        <a:defRPr sz="900">
                          <a:solidFill>
                            <a:srgbClr val="333333"/>
                          </a:solidFill>
                          <a:latin typeface="Inter"/>
                        </a:defRPr>
                      </a:pPr>
                      <a:r>
                        <a:t>98,5 × 31 cm</a:t>
                      </a:r>
                    </a:p>
                  </a:txBody>
                  <a:tcPr>
                    <a:solidFill>
                      <a:srgbClr val="FFFFFF"/>
                    </a:solidFill>
                  </a:tcPr>
                </a:tc>
                <a:tc>
                  <a:txBody>
                    <a:bodyPr/>
                    <a:lstStyle/>
                    <a:p>
                      <a:pPr algn="ctr">
                        <a:defRPr sz="900">
                          <a:solidFill>
                            <a:srgbClr val="333333"/>
                          </a:solidFill>
                          <a:latin typeface="Inter"/>
                        </a:defRPr>
                      </a:pPr>
                      <a:r>
                        <a:t>1</a:t>
                      </a:r>
                    </a:p>
                  </a:txBody>
                  <a:tcPr>
                    <a:solidFill>
                      <a:srgbClr val="FFFFFF"/>
                    </a:solidFill>
                  </a:tcPr>
                </a:tc>
              </a:tr>
            </a:tbl>
          </a:graphicData>
        </a:graphic>
      </p:graphicFrame>
      <p:graphicFrame>
        <p:nvGraphicFramePr>
          <p:cNvPr id="4" name="Table 3"/>
          <p:cNvGraphicFramePr>
            <a:graphicFrameLocks noGrp="1"/>
          </p:cNvGraphicFramePr>
          <p:nvPr/>
        </p:nvGraphicFramePr>
        <p:xfrm>
          <a:off x="540000" y="2916000"/>
          <a:ext cx="10800000" cy="2267991"/>
        </p:xfrm>
        <a:graphic>
          <a:graphicData uri="http://schemas.openxmlformats.org/drawingml/2006/table">
            <a:tbl>
              <a:tblPr firstRow="1" bandRow="1">
                <a:tableStyleId>{5C22544A-7EE6-4342-B048-85BDC9FD1C3A}</a:tableStyleId>
              </a:tblPr>
              <a:tblGrid>
                <a:gridCol w="1080000"/>
                <a:gridCol w="5040000"/>
                <a:gridCol w="2880000"/>
                <a:gridCol w="1800000"/>
              </a:tblGrid>
              <a:tr h="251999">
                <a:tc>
                  <a:txBody>
                    <a:bodyPr/>
                    <a:lstStyle/>
                    <a:p>
                      <a:pPr algn="ctr">
                        <a:defRPr sz="1000" b="1">
                          <a:solidFill>
                            <a:srgbClr val="FFFFFF"/>
                          </a:solidFill>
                          <a:latin typeface="Inter"/>
                        </a:defRPr>
                      </a:pPr>
                      <a:r>
                        <a:t>Rép.</a:t>
                      </a:r>
                    </a:p>
                  </a:txBody>
                  <a:tcPr>
                    <a:solidFill>
                      <a:srgbClr val="B9945F"/>
                    </a:solidFill>
                  </a:tcPr>
                </a:tc>
                <a:tc>
                  <a:txBody>
                    <a:bodyPr/>
                    <a:lstStyle/>
                    <a:p>
                      <a:pPr algn="ctr">
                        <a:defRPr sz="1000" b="1">
                          <a:solidFill>
                            <a:srgbClr val="FFFFFF"/>
                          </a:solidFill>
                          <a:latin typeface="Inter"/>
                        </a:defRPr>
                      </a:pPr>
                      <a:r>
                        <a:t>Carrelet (15 × 15 mm)</a:t>
                      </a:r>
                    </a:p>
                  </a:txBody>
                  <a:tcPr>
                    <a:solidFill>
                      <a:srgbClr val="B9945F"/>
                    </a:solidFill>
                  </a:tcPr>
                </a:tc>
                <a:tc>
                  <a:txBody>
                    <a:bodyPr/>
                    <a:lstStyle/>
                    <a:p>
                      <a:pPr algn="ctr">
                        <a:defRPr sz="1000" b="1">
                          <a:solidFill>
                            <a:srgbClr val="FFFFFF"/>
                          </a:solidFill>
                          <a:latin typeface="Inter"/>
                        </a:defRPr>
                      </a:pPr>
                      <a:r>
                        <a:t>Longueur</a:t>
                      </a:r>
                    </a:p>
                  </a:txBody>
                  <a:tcPr>
                    <a:solidFill>
                      <a:srgbClr val="B9945F"/>
                    </a:solidFill>
                  </a:tcPr>
                </a:tc>
                <a:tc>
                  <a:txBody>
                    <a:bodyPr/>
                    <a:lstStyle/>
                    <a:p>
                      <a:pPr algn="ctr">
                        <a:defRPr sz="1000" b="1">
                          <a:solidFill>
                            <a:srgbClr val="FFFFFF"/>
                          </a:solidFill>
                          <a:latin typeface="Inter"/>
                        </a:defRPr>
                      </a:pPr>
                      <a:r>
                        <a:t>Qté</a:t>
                      </a:r>
                    </a:p>
                  </a:txBody>
                  <a:tcPr>
                    <a:solidFill>
                      <a:srgbClr val="B9945F"/>
                    </a:solidFill>
                  </a:tcPr>
                </a:tc>
              </a:tr>
              <a:tr h="251999">
                <a:tc>
                  <a:txBody>
                    <a:bodyPr/>
                    <a:lstStyle/>
                    <a:p>
                      <a:pPr algn="ctr">
                        <a:defRPr sz="800">
                          <a:solidFill>
                            <a:srgbClr val="333333"/>
                          </a:solidFill>
                          <a:latin typeface="Inter"/>
                        </a:defRPr>
                      </a:pPr>
                      <a:r>
                        <a:t>D6</a:t>
                      </a:r>
                    </a:p>
                  </a:txBody>
                  <a:tcPr>
                    <a:solidFill>
                      <a:srgbClr val="FFFFFF"/>
                    </a:solidFill>
                  </a:tcPr>
                </a:tc>
                <a:tc>
                  <a:txBody>
                    <a:bodyPr/>
                    <a:lstStyle/>
                    <a:p>
                      <a:pPr algn="ctr">
                        <a:defRPr sz="800">
                          <a:solidFill>
                            <a:srgbClr val="333333"/>
                          </a:solidFill>
                          <a:latin typeface="Inter"/>
                        </a:defRPr>
                      </a:pPr>
                      <a:r>
                        <a:t>Carrelet longueur gauche tiroir</a:t>
                      </a:r>
                    </a:p>
                  </a:txBody>
                  <a:tcPr>
                    <a:solidFill>
                      <a:srgbClr val="FFFFFF"/>
                    </a:solidFill>
                  </a:tcPr>
                </a:tc>
                <a:tc>
                  <a:txBody>
                    <a:bodyPr/>
                    <a:lstStyle/>
                    <a:p>
                      <a:pPr algn="ctr">
                        <a:defRPr sz="800">
                          <a:solidFill>
                            <a:srgbClr val="333333"/>
                          </a:solidFill>
                          <a:latin typeface="Inter"/>
                        </a:defRPr>
                      </a:pPr>
                      <a:r>
                        <a:t>98,5 cm</a:t>
                      </a:r>
                    </a:p>
                  </a:txBody>
                  <a:tcPr>
                    <a:solidFill>
                      <a:srgbClr val="FFFFFF"/>
                    </a:solidFill>
                  </a:tcPr>
                </a:tc>
                <a:tc>
                  <a:txBody>
                    <a:bodyPr/>
                    <a:lstStyle/>
                    <a:p>
                      <a:pPr algn="ctr">
                        <a:defRPr sz="800">
                          <a:solidFill>
                            <a:srgbClr val="333333"/>
                          </a:solidFill>
                          <a:latin typeface="Inter"/>
                        </a:defRPr>
                      </a:pPr>
                      <a:r>
                        <a:t>1</a:t>
                      </a:r>
                    </a:p>
                  </a:txBody>
                  <a:tcPr>
                    <a:solidFill>
                      <a:srgbClr val="FFFFFF"/>
                    </a:solidFill>
                  </a:tcPr>
                </a:tc>
              </a:tr>
              <a:tr h="251999">
                <a:tc>
                  <a:txBody>
                    <a:bodyPr/>
                    <a:lstStyle/>
                    <a:p>
                      <a:pPr algn="ctr">
                        <a:defRPr sz="800">
                          <a:solidFill>
                            <a:srgbClr val="333333"/>
                          </a:solidFill>
                          <a:latin typeface="Inter"/>
                        </a:defRPr>
                      </a:pPr>
                      <a:r>
                        <a:t>D7</a:t>
                      </a:r>
                    </a:p>
                  </a:txBody>
                  <a:tcPr>
                    <a:solidFill>
                      <a:srgbClr val="F5F5F5"/>
                    </a:solidFill>
                  </a:tcPr>
                </a:tc>
                <a:tc>
                  <a:txBody>
                    <a:bodyPr/>
                    <a:lstStyle/>
                    <a:p>
                      <a:pPr algn="ctr">
                        <a:defRPr sz="800">
                          <a:solidFill>
                            <a:srgbClr val="333333"/>
                          </a:solidFill>
                          <a:latin typeface="Inter"/>
                        </a:defRPr>
                      </a:pPr>
                      <a:r>
                        <a:t>Carrelet longueur droit tiroir</a:t>
                      </a:r>
                    </a:p>
                  </a:txBody>
                  <a:tcPr>
                    <a:solidFill>
                      <a:srgbClr val="F5F5F5"/>
                    </a:solidFill>
                  </a:tcPr>
                </a:tc>
                <a:tc>
                  <a:txBody>
                    <a:bodyPr/>
                    <a:lstStyle/>
                    <a:p>
                      <a:pPr algn="ctr">
                        <a:defRPr sz="800">
                          <a:solidFill>
                            <a:srgbClr val="333333"/>
                          </a:solidFill>
                          <a:latin typeface="Inter"/>
                        </a:defRPr>
                      </a:pPr>
                      <a:r>
                        <a:t>98,5 cm</a:t>
                      </a:r>
                    </a:p>
                  </a:txBody>
                  <a:tcPr>
                    <a:solidFill>
                      <a:srgbClr val="F5F5F5"/>
                    </a:solidFill>
                  </a:tcPr>
                </a:tc>
                <a:tc>
                  <a:txBody>
                    <a:bodyPr/>
                    <a:lstStyle/>
                    <a:p>
                      <a:pPr algn="ctr">
                        <a:defRPr sz="800">
                          <a:solidFill>
                            <a:srgbClr val="333333"/>
                          </a:solidFill>
                          <a:latin typeface="Inter"/>
                        </a:defRPr>
                      </a:pPr>
                      <a:r>
                        <a:t>1</a:t>
                      </a:r>
                    </a:p>
                  </a:txBody>
                  <a:tcPr>
                    <a:solidFill>
                      <a:srgbClr val="F5F5F5"/>
                    </a:solidFill>
                  </a:tcPr>
                </a:tc>
              </a:tr>
              <a:tr h="251999">
                <a:tc>
                  <a:txBody>
                    <a:bodyPr/>
                    <a:lstStyle/>
                    <a:p>
                      <a:pPr algn="ctr">
                        <a:defRPr sz="800">
                          <a:solidFill>
                            <a:srgbClr val="333333"/>
                          </a:solidFill>
                          <a:latin typeface="Inter"/>
                        </a:defRPr>
                      </a:pPr>
                      <a:r>
                        <a:t>D8</a:t>
                      </a:r>
                    </a:p>
                  </a:txBody>
                  <a:tcPr>
                    <a:solidFill>
                      <a:srgbClr val="FFFFFF"/>
                    </a:solidFill>
                  </a:tcPr>
                </a:tc>
                <a:tc>
                  <a:txBody>
                    <a:bodyPr/>
                    <a:lstStyle/>
                    <a:p>
                      <a:pPr algn="ctr">
                        <a:defRPr sz="800">
                          <a:solidFill>
                            <a:srgbClr val="333333"/>
                          </a:solidFill>
                          <a:latin typeface="Inter"/>
                        </a:defRPr>
                      </a:pPr>
                      <a:r>
                        <a:t>Carrelet fond gauche vertical</a:t>
                      </a:r>
                    </a:p>
                  </a:txBody>
                  <a:tcPr>
                    <a:solidFill>
                      <a:srgbClr val="FFFFFF"/>
                    </a:solidFill>
                  </a:tcPr>
                </a:tc>
                <a:tc>
                  <a:txBody>
                    <a:bodyPr/>
                    <a:lstStyle/>
                    <a:p>
                      <a:pPr algn="ctr">
                        <a:defRPr sz="800">
                          <a:solidFill>
                            <a:srgbClr val="333333"/>
                          </a:solidFill>
                          <a:latin typeface="Inter"/>
                        </a:defRPr>
                      </a:pPr>
                      <a:r>
                        <a:t>28 cm</a:t>
                      </a:r>
                    </a:p>
                  </a:txBody>
                  <a:tcPr>
                    <a:solidFill>
                      <a:srgbClr val="FFFFFF"/>
                    </a:solidFill>
                  </a:tcPr>
                </a:tc>
                <a:tc>
                  <a:txBody>
                    <a:bodyPr/>
                    <a:lstStyle/>
                    <a:p>
                      <a:pPr algn="ctr">
                        <a:defRPr sz="800">
                          <a:solidFill>
                            <a:srgbClr val="333333"/>
                          </a:solidFill>
                          <a:latin typeface="Inter"/>
                        </a:defRPr>
                      </a:pPr>
                      <a:r>
                        <a:t>1</a:t>
                      </a:r>
                    </a:p>
                  </a:txBody>
                  <a:tcPr>
                    <a:solidFill>
                      <a:srgbClr val="FFFFFF"/>
                    </a:solidFill>
                  </a:tcPr>
                </a:tc>
              </a:tr>
              <a:tr h="251999">
                <a:tc>
                  <a:txBody>
                    <a:bodyPr/>
                    <a:lstStyle/>
                    <a:p>
                      <a:pPr algn="ctr">
                        <a:defRPr sz="800">
                          <a:solidFill>
                            <a:srgbClr val="333333"/>
                          </a:solidFill>
                          <a:latin typeface="Inter"/>
                        </a:defRPr>
                      </a:pPr>
                      <a:r>
                        <a:t>D9</a:t>
                      </a:r>
                    </a:p>
                  </a:txBody>
                  <a:tcPr>
                    <a:solidFill>
                      <a:srgbClr val="F5F5F5"/>
                    </a:solidFill>
                  </a:tcPr>
                </a:tc>
                <a:tc>
                  <a:txBody>
                    <a:bodyPr/>
                    <a:lstStyle/>
                    <a:p>
                      <a:pPr algn="ctr">
                        <a:defRPr sz="800">
                          <a:solidFill>
                            <a:srgbClr val="333333"/>
                          </a:solidFill>
                          <a:latin typeface="Inter"/>
                        </a:defRPr>
                      </a:pPr>
                      <a:r>
                        <a:t>Carrelet fond droit vertical</a:t>
                      </a:r>
                    </a:p>
                  </a:txBody>
                  <a:tcPr>
                    <a:solidFill>
                      <a:srgbClr val="F5F5F5"/>
                    </a:solidFill>
                  </a:tcPr>
                </a:tc>
                <a:tc>
                  <a:txBody>
                    <a:bodyPr/>
                    <a:lstStyle/>
                    <a:p>
                      <a:pPr algn="ctr">
                        <a:defRPr sz="800">
                          <a:solidFill>
                            <a:srgbClr val="333333"/>
                          </a:solidFill>
                          <a:latin typeface="Inter"/>
                        </a:defRPr>
                      </a:pPr>
                      <a:r>
                        <a:t>28 cm</a:t>
                      </a:r>
                    </a:p>
                  </a:txBody>
                  <a:tcPr>
                    <a:solidFill>
                      <a:srgbClr val="F5F5F5"/>
                    </a:solidFill>
                  </a:tcPr>
                </a:tc>
                <a:tc>
                  <a:txBody>
                    <a:bodyPr/>
                    <a:lstStyle/>
                    <a:p>
                      <a:pPr algn="ctr">
                        <a:defRPr sz="800">
                          <a:solidFill>
                            <a:srgbClr val="333333"/>
                          </a:solidFill>
                          <a:latin typeface="Inter"/>
                        </a:defRPr>
                      </a:pPr>
                      <a:r>
                        <a:t>1</a:t>
                      </a:r>
                    </a:p>
                  </a:txBody>
                  <a:tcPr>
                    <a:solidFill>
                      <a:srgbClr val="F5F5F5"/>
                    </a:solidFill>
                  </a:tcPr>
                </a:tc>
              </a:tr>
              <a:tr h="251999">
                <a:tc>
                  <a:txBody>
                    <a:bodyPr/>
                    <a:lstStyle/>
                    <a:p>
                      <a:pPr algn="ctr">
                        <a:defRPr sz="800">
                          <a:solidFill>
                            <a:srgbClr val="333333"/>
                          </a:solidFill>
                          <a:latin typeface="Inter"/>
                        </a:defRPr>
                      </a:pPr>
                      <a:r>
                        <a:t>D10</a:t>
                      </a:r>
                    </a:p>
                  </a:txBody>
                  <a:tcPr>
                    <a:solidFill>
                      <a:srgbClr val="FFFFFF"/>
                    </a:solidFill>
                  </a:tcPr>
                </a:tc>
                <a:tc>
                  <a:txBody>
                    <a:bodyPr/>
                    <a:lstStyle/>
                    <a:p>
                      <a:pPr algn="ctr">
                        <a:defRPr sz="800">
                          <a:solidFill>
                            <a:srgbClr val="333333"/>
                          </a:solidFill>
                          <a:latin typeface="Inter"/>
                        </a:defRPr>
                      </a:pPr>
                      <a:r>
                        <a:t>Carrelet vertical avant gauche</a:t>
                      </a:r>
                    </a:p>
                  </a:txBody>
                  <a:tcPr>
                    <a:solidFill>
                      <a:srgbClr val="FFFFFF"/>
                    </a:solidFill>
                  </a:tcPr>
                </a:tc>
                <a:tc>
                  <a:txBody>
                    <a:bodyPr/>
                    <a:lstStyle/>
                    <a:p>
                      <a:pPr algn="ctr">
                        <a:defRPr sz="800">
                          <a:solidFill>
                            <a:srgbClr val="333333"/>
                          </a:solidFill>
                          <a:latin typeface="Inter"/>
                        </a:defRPr>
                      </a:pPr>
                      <a:r>
                        <a:t>28 cm</a:t>
                      </a:r>
                    </a:p>
                  </a:txBody>
                  <a:tcPr>
                    <a:solidFill>
                      <a:srgbClr val="FFFFFF"/>
                    </a:solidFill>
                  </a:tcPr>
                </a:tc>
                <a:tc>
                  <a:txBody>
                    <a:bodyPr/>
                    <a:lstStyle/>
                    <a:p>
                      <a:pPr algn="ctr">
                        <a:defRPr sz="800">
                          <a:solidFill>
                            <a:srgbClr val="333333"/>
                          </a:solidFill>
                          <a:latin typeface="Inter"/>
                        </a:defRPr>
                      </a:pPr>
                      <a:r>
                        <a:t>1</a:t>
                      </a:r>
                    </a:p>
                  </a:txBody>
                  <a:tcPr>
                    <a:solidFill>
                      <a:srgbClr val="FFFFFF"/>
                    </a:solidFill>
                  </a:tcPr>
                </a:tc>
              </a:tr>
              <a:tr h="251999">
                <a:tc>
                  <a:txBody>
                    <a:bodyPr/>
                    <a:lstStyle/>
                    <a:p>
                      <a:pPr algn="ctr">
                        <a:defRPr sz="800">
                          <a:solidFill>
                            <a:srgbClr val="333333"/>
                          </a:solidFill>
                          <a:latin typeface="Inter"/>
                        </a:defRPr>
                      </a:pPr>
                      <a:r>
                        <a:t>D11</a:t>
                      </a:r>
                    </a:p>
                  </a:txBody>
                  <a:tcPr>
                    <a:solidFill>
                      <a:srgbClr val="F5F5F5"/>
                    </a:solidFill>
                  </a:tcPr>
                </a:tc>
                <a:tc>
                  <a:txBody>
                    <a:bodyPr/>
                    <a:lstStyle/>
                    <a:p>
                      <a:pPr algn="ctr">
                        <a:defRPr sz="800">
                          <a:solidFill>
                            <a:srgbClr val="333333"/>
                          </a:solidFill>
                          <a:latin typeface="Inter"/>
                        </a:defRPr>
                      </a:pPr>
                      <a:r>
                        <a:t>Carrelet vertical avant droit</a:t>
                      </a:r>
                    </a:p>
                  </a:txBody>
                  <a:tcPr>
                    <a:solidFill>
                      <a:srgbClr val="F5F5F5"/>
                    </a:solidFill>
                  </a:tcPr>
                </a:tc>
                <a:tc>
                  <a:txBody>
                    <a:bodyPr/>
                    <a:lstStyle/>
                    <a:p>
                      <a:pPr algn="ctr">
                        <a:defRPr sz="800">
                          <a:solidFill>
                            <a:srgbClr val="333333"/>
                          </a:solidFill>
                          <a:latin typeface="Inter"/>
                        </a:defRPr>
                      </a:pPr>
                      <a:r>
                        <a:t>28 cm</a:t>
                      </a:r>
                    </a:p>
                  </a:txBody>
                  <a:tcPr>
                    <a:solidFill>
                      <a:srgbClr val="F5F5F5"/>
                    </a:solidFill>
                  </a:tcPr>
                </a:tc>
                <a:tc>
                  <a:txBody>
                    <a:bodyPr/>
                    <a:lstStyle/>
                    <a:p>
                      <a:pPr algn="ctr">
                        <a:defRPr sz="800">
                          <a:solidFill>
                            <a:srgbClr val="333333"/>
                          </a:solidFill>
                          <a:latin typeface="Inter"/>
                        </a:defRPr>
                      </a:pPr>
                      <a:r>
                        <a:t>1</a:t>
                      </a:r>
                    </a:p>
                  </a:txBody>
                  <a:tcPr>
                    <a:solidFill>
                      <a:srgbClr val="F5F5F5"/>
                    </a:solidFill>
                  </a:tcPr>
                </a:tc>
              </a:tr>
              <a:tr h="251999">
                <a:tc>
                  <a:txBody>
                    <a:bodyPr/>
                    <a:lstStyle/>
                    <a:p>
                      <a:pPr algn="ctr">
                        <a:defRPr sz="800">
                          <a:solidFill>
                            <a:srgbClr val="333333"/>
                          </a:solidFill>
                          <a:latin typeface="Inter"/>
                        </a:defRPr>
                      </a:pPr>
                      <a:r>
                        <a:t>D12</a:t>
                      </a:r>
                    </a:p>
                  </a:txBody>
                  <a:tcPr>
                    <a:solidFill>
                      <a:srgbClr val="FFFFFF"/>
                    </a:solidFill>
                  </a:tcPr>
                </a:tc>
                <a:tc>
                  <a:txBody>
                    <a:bodyPr/>
                    <a:lstStyle/>
                    <a:p>
                      <a:pPr algn="ctr">
                        <a:defRPr sz="800">
                          <a:solidFill>
                            <a:srgbClr val="333333"/>
                          </a:solidFill>
                          <a:latin typeface="Inter"/>
                        </a:defRPr>
                      </a:pPr>
                      <a:r>
                        <a:t>Carrelet fond largeur</a:t>
                      </a:r>
                    </a:p>
                  </a:txBody>
                  <a:tcPr>
                    <a:solidFill>
                      <a:srgbClr val="FFFFFF"/>
                    </a:solidFill>
                  </a:tcPr>
                </a:tc>
                <a:tc>
                  <a:txBody>
                    <a:bodyPr/>
                    <a:lstStyle/>
                    <a:p>
                      <a:pPr algn="ctr">
                        <a:defRPr sz="800">
                          <a:solidFill>
                            <a:srgbClr val="333333"/>
                          </a:solidFill>
                          <a:latin typeface="Inter"/>
                        </a:defRPr>
                      </a:pPr>
                      <a:r>
                        <a:t>38 cm</a:t>
                      </a:r>
                    </a:p>
                  </a:txBody>
                  <a:tcPr>
                    <a:solidFill>
                      <a:srgbClr val="FFFFFF"/>
                    </a:solidFill>
                  </a:tcPr>
                </a:tc>
                <a:tc>
                  <a:txBody>
                    <a:bodyPr/>
                    <a:lstStyle/>
                    <a:p>
                      <a:pPr algn="ctr">
                        <a:defRPr sz="800">
                          <a:solidFill>
                            <a:srgbClr val="333333"/>
                          </a:solidFill>
                          <a:latin typeface="Inter"/>
                        </a:defRPr>
                      </a:pPr>
                      <a:r>
                        <a:t>1</a:t>
                      </a:r>
                    </a:p>
                  </a:txBody>
                  <a:tcPr>
                    <a:solidFill>
                      <a:srgbClr val="FFFFFF"/>
                    </a:solidFill>
                  </a:tcPr>
                </a:tc>
              </a:tr>
              <a:tr h="251999">
                <a:tc>
                  <a:txBody>
                    <a:bodyPr/>
                    <a:lstStyle/>
                    <a:p>
                      <a:pPr algn="ctr">
                        <a:defRPr sz="800">
                          <a:solidFill>
                            <a:srgbClr val="333333"/>
                          </a:solidFill>
                          <a:latin typeface="Inter"/>
                        </a:defRPr>
                      </a:pPr>
                      <a:r>
                        <a:t>D13</a:t>
                      </a:r>
                    </a:p>
                  </a:txBody>
                  <a:tcPr>
                    <a:solidFill>
                      <a:srgbClr val="F5F5F5"/>
                    </a:solidFill>
                  </a:tcPr>
                </a:tc>
                <a:tc>
                  <a:txBody>
                    <a:bodyPr/>
                    <a:lstStyle/>
                    <a:p>
                      <a:pPr algn="ctr">
                        <a:defRPr sz="800">
                          <a:solidFill>
                            <a:srgbClr val="333333"/>
                          </a:solidFill>
                          <a:latin typeface="Inter"/>
                        </a:defRPr>
                      </a:pPr>
                      <a:r>
                        <a:t>Carrelet largeur bas face</a:t>
                      </a:r>
                    </a:p>
                  </a:txBody>
                  <a:tcPr>
                    <a:solidFill>
                      <a:srgbClr val="F5F5F5"/>
                    </a:solidFill>
                  </a:tcPr>
                </a:tc>
                <a:tc>
                  <a:txBody>
                    <a:bodyPr/>
                    <a:lstStyle/>
                    <a:p>
                      <a:pPr algn="ctr">
                        <a:defRPr sz="800">
                          <a:solidFill>
                            <a:srgbClr val="333333"/>
                          </a:solidFill>
                          <a:latin typeface="Inter"/>
                        </a:defRPr>
                      </a:pPr>
                      <a:r>
                        <a:t>38 cm</a:t>
                      </a:r>
                    </a:p>
                  </a:txBody>
                  <a:tcPr>
                    <a:solidFill>
                      <a:srgbClr val="F5F5F5"/>
                    </a:solidFill>
                  </a:tcPr>
                </a:tc>
                <a:tc>
                  <a:txBody>
                    <a:bodyPr/>
                    <a:lstStyle/>
                    <a:p>
                      <a:pPr algn="ctr">
                        <a:defRPr sz="800">
                          <a:solidFill>
                            <a:srgbClr val="333333"/>
                          </a:solidFill>
                          <a:latin typeface="Inter"/>
                        </a:defRPr>
                      </a:pPr>
                      <a:r>
                        <a:t>1</a:t>
                      </a:r>
                    </a:p>
                  </a:txBody>
                  <a:tcPr>
                    <a:solidFill>
                      <a:srgbClr val="F5F5F5"/>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180000"/>
            <a:ext cx="9000000" cy="432000"/>
          </a:xfrm>
          <a:prstGeom prst="rect">
            <a:avLst/>
          </a:prstGeom>
          <a:noFill/>
        </p:spPr>
        <p:txBody>
          <a:bodyPr wrap="square">
            <a:spAutoFit/>
          </a:bodyPr>
          <a:lstStyle/>
          <a:p>
            <a:pPr algn="l">
              <a:defRPr sz="1800" b="1">
                <a:solidFill>
                  <a:srgbClr val="2B5EA7"/>
                </a:solidFill>
                <a:latin typeface="Inter"/>
              </a:defRPr>
            </a:pPr>
            <a:r>
              <a:t>Pièces à découper — Tiroir — planches</a:t>
            </a:r>
          </a:p>
        </p:txBody>
      </p:sp>
      <p:sp>
        <p:nvSpPr>
          <p:cNvPr id="3" name="Rounded Rectangle 2"/>
          <p:cNvSpPr/>
          <p:nvPr/>
        </p:nvSpPr>
        <p:spPr>
          <a:xfrm>
            <a:off x="7920000" y="108000"/>
            <a:ext cx="3780000" cy="21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920000" y="900000"/>
            <a:ext cx="3780000" cy="540000"/>
          </a:xfrm>
          <a:prstGeom prst="rect">
            <a:avLst/>
          </a:prstGeom>
          <a:noFill/>
        </p:spPr>
        <p:txBody>
          <a:bodyPr wrap="square">
            <a:spAutoFit/>
          </a:bodyPr>
          <a:lstStyle/>
          <a:p>
            <a:pPr algn="ctr">
              <a:defRPr sz="900" b="0">
                <a:solidFill>
                  <a:srgbClr val="666666"/>
                </a:solidFill>
                <a:latin typeface="Inter"/>
              </a:defRPr>
            </a:pPr>
            <a:r>
              <a:t>Coller ici le screenshot</a:t>
            </a:r>
            <a:br/>
            <a:r>
              <a:t>de la vue éclatée</a:t>
            </a:r>
          </a:p>
        </p:txBody>
      </p:sp>
      <p:sp>
        <p:nvSpPr>
          <p:cNvPr id="5" name="Rounded Rectangle 4"/>
          <p:cNvSpPr/>
          <p:nvPr/>
        </p:nvSpPr>
        <p:spPr>
          <a:xfrm>
            <a:off x="540000" y="792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8000" y="972000"/>
            <a:ext cx="648000" cy="540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000" y="1080000"/>
            <a:ext cx="648000" cy="360000"/>
          </a:xfrm>
          <a:prstGeom prst="rect">
            <a:avLst/>
          </a:prstGeom>
          <a:noFill/>
        </p:spPr>
        <p:txBody>
          <a:bodyPr wrap="square">
            <a:spAutoFit/>
          </a:bodyPr>
          <a:lstStyle/>
          <a:p>
            <a:pPr algn="ctr">
              <a:defRPr sz="1200" b="1">
                <a:solidFill>
                  <a:srgbClr val="FFFFFF"/>
                </a:solidFill>
                <a:latin typeface="Inter"/>
              </a:defRPr>
            </a:pPr>
            <a:r>
              <a:t>D1</a:t>
            </a:r>
          </a:p>
        </p:txBody>
      </p:sp>
      <p:sp>
        <p:nvSpPr>
          <p:cNvPr id="8" name="TextBox 7"/>
          <p:cNvSpPr txBox="1"/>
          <p:nvPr/>
        </p:nvSpPr>
        <p:spPr>
          <a:xfrm>
            <a:off x="1440000" y="900000"/>
            <a:ext cx="2520000" cy="360000"/>
          </a:xfrm>
          <a:prstGeom prst="rect">
            <a:avLst/>
          </a:prstGeom>
          <a:noFill/>
        </p:spPr>
        <p:txBody>
          <a:bodyPr wrap="square">
            <a:spAutoFit/>
          </a:bodyPr>
          <a:lstStyle/>
          <a:p>
            <a:pPr algn="l">
              <a:defRPr sz="1000" b="1">
                <a:solidFill>
                  <a:srgbClr val="333333"/>
                </a:solidFill>
                <a:latin typeface="Inter"/>
              </a:defRPr>
            </a:pPr>
            <a:r>
              <a:t>Planche bas tiroir</a:t>
            </a:r>
          </a:p>
        </p:txBody>
      </p:sp>
      <p:sp>
        <p:nvSpPr>
          <p:cNvPr id="9" name="TextBox 8"/>
          <p:cNvSpPr txBox="1"/>
          <p:nvPr/>
        </p:nvSpPr>
        <p:spPr>
          <a:xfrm>
            <a:off x="1440000" y="1224000"/>
            <a:ext cx="2520000" cy="360000"/>
          </a:xfrm>
          <a:prstGeom prst="rect">
            <a:avLst/>
          </a:prstGeom>
          <a:noFill/>
        </p:spPr>
        <p:txBody>
          <a:bodyPr wrap="square">
            <a:spAutoFit/>
          </a:bodyPr>
          <a:lstStyle/>
          <a:p>
            <a:pPr algn="l">
              <a:defRPr sz="800" b="0">
                <a:solidFill>
                  <a:srgbClr val="666666"/>
                </a:solidFill>
                <a:latin typeface="Inter"/>
              </a:defRPr>
            </a:pPr>
            <a:r>
              <a:t>98,5 × 41 cm</a:t>
            </a:r>
          </a:p>
        </p:txBody>
      </p:sp>
      <p:sp>
        <p:nvSpPr>
          <p:cNvPr id="10" name="Rounded Rectangle 9"/>
          <p:cNvSpPr/>
          <p:nvPr/>
        </p:nvSpPr>
        <p:spPr>
          <a:xfrm>
            <a:off x="6120000" y="792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28000" y="972000"/>
            <a:ext cx="648000" cy="540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8000" y="1080000"/>
            <a:ext cx="648000" cy="360000"/>
          </a:xfrm>
          <a:prstGeom prst="rect">
            <a:avLst/>
          </a:prstGeom>
          <a:noFill/>
        </p:spPr>
        <p:txBody>
          <a:bodyPr wrap="square">
            <a:spAutoFit/>
          </a:bodyPr>
          <a:lstStyle/>
          <a:p>
            <a:pPr algn="ctr">
              <a:defRPr sz="1200" b="1">
                <a:solidFill>
                  <a:srgbClr val="FFFFFF"/>
                </a:solidFill>
                <a:latin typeface="Inter"/>
              </a:defRPr>
            </a:pPr>
            <a:r>
              <a:t>D2</a:t>
            </a:r>
          </a:p>
        </p:txBody>
      </p:sp>
      <p:sp>
        <p:nvSpPr>
          <p:cNvPr id="13" name="TextBox 12"/>
          <p:cNvSpPr txBox="1"/>
          <p:nvPr/>
        </p:nvSpPr>
        <p:spPr>
          <a:xfrm>
            <a:off x="7020000" y="900000"/>
            <a:ext cx="2520000" cy="360000"/>
          </a:xfrm>
          <a:prstGeom prst="rect">
            <a:avLst/>
          </a:prstGeom>
          <a:noFill/>
        </p:spPr>
        <p:txBody>
          <a:bodyPr wrap="square">
            <a:spAutoFit/>
          </a:bodyPr>
          <a:lstStyle/>
          <a:p>
            <a:pPr algn="l">
              <a:defRPr sz="1000" b="1">
                <a:solidFill>
                  <a:srgbClr val="333333"/>
                </a:solidFill>
                <a:latin typeface="Inter"/>
              </a:defRPr>
            </a:pPr>
            <a:r>
              <a:t>Planche fond tiroir</a:t>
            </a:r>
          </a:p>
        </p:txBody>
      </p:sp>
      <p:sp>
        <p:nvSpPr>
          <p:cNvPr id="14" name="TextBox 13"/>
          <p:cNvSpPr txBox="1"/>
          <p:nvPr/>
        </p:nvSpPr>
        <p:spPr>
          <a:xfrm>
            <a:off x="7020000" y="1224000"/>
            <a:ext cx="2520000" cy="360000"/>
          </a:xfrm>
          <a:prstGeom prst="rect">
            <a:avLst/>
          </a:prstGeom>
          <a:noFill/>
        </p:spPr>
        <p:txBody>
          <a:bodyPr wrap="square">
            <a:spAutoFit/>
          </a:bodyPr>
          <a:lstStyle/>
          <a:p>
            <a:pPr algn="l">
              <a:defRPr sz="800" b="0">
                <a:solidFill>
                  <a:srgbClr val="666666"/>
                </a:solidFill>
                <a:latin typeface="Inter"/>
              </a:defRPr>
            </a:pPr>
            <a:r>
              <a:t>44 × 31 cm</a:t>
            </a:r>
          </a:p>
        </p:txBody>
      </p:sp>
      <p:sp>
        <p:nvSpPr>
          <p:cNvPr id="15" name="Rounded Rectangle 14"/>
          <p:cNvSpPr/>
          <p:nvPr/>
        </p:nvSpPr>
        <p:spPr>
          <a:xfrm>
            <a:off x="540000" y="1800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8000" y="1980000"/>
            <a:ext cx="648000" cy="540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8000" y="2088000"/>
            <a:ext cx="648000" cy="360000"/>
          </a:xfrm>
          <a:prstGeom prst="rect">
            <a:avLst/>
          </a:prstGeom>
          <a:noFill/>
        </p:spPr>
        <p:txBody>
          <a:bodyPr wrap="square">
            <a:spAutoFit/>
          </a:bodyPr>
          <a:lstStyle/>
          <a:p>
            <a:pPr algn="ctr">
              <a:defRPr sz="1200" b="1">
                <a:solidFill>
                  <a:srgbClr val="FFFFFF"/>
                </a:solidFill>
                <a:latin typeface="Inter"/>
              </a:defRPr>
            </a:pPr>
            <a:r>
              <a:t>D3</a:t>
            </a:r>
          </a:p>
        </p:txBody>
      </p:sp>
      <p:sp>
        <p:nvSpPr>
          <p:cNvPr id="18" name="TextBox 17"/>
          <p:cNvSpPr txBox="1"/>
          <p:nvPr/>
        </p:nvSpPr>
        <p:spPr>
          <a:xfrm>
            <a:off x="1440000" y="1908000"/>
            <a:ext cx="2520000" cy="360000"/>
          </a:xfrm>
          <a:prstGeom prst="rect">
            <a:avLst/>
          </a:prstGeom>
          <a:noFill/>
        </p:spPr>
        <p:txBody>
          <a:bodyPr wrap="square">
            <a:spAutoFit/>
          </a:bodyPr>
          <a:lstStyle/>
          <a:p>
            <a:pPr algn="l">
              <a:defRPr sz="1000" b="1">
                <a:solidFill>
                  <a:srgbClr val="333333"/>
                </a:solidFill>
                <a:latin typeface="Inter"/>
              </a:defRPr>
            </a:pPr>
            <a:r>
              <a:t>Planche face tiroir</a:t>
            </a:r>
          </a:p>
        </p:txBody>
      </p:sp>
      <p:sp>
        <p:nvSpPr>
          <p:cNvPr id="19" name="TextBox 18"/>
          <p:cNvSpPr txBox="1"/>
          <p:nvPr/>
        </p:nvSpPr>
        <p:spPr>
          <a:xfrm>
            <a:off x="1440000" y="2232000"/>
            <a:ext cx="2520000" cy="360000"/>
          </a:xfrm>
          <a:prstGeom prst="rect">
            <a:avLst/>
          </a:prstGeom>
          <a:noFill/>
        </p:spPr>
        <p:txBody>
          <a:bodyPr wrap="square">
            <a:spAutoFit/>
          </a:bodyPr>
          <a:lstStyle/>
          <a:p>
            <a:pPr algn="l">
              <a:defRPr sz="800" b="0">
                <a:solidFill>
                  <a:srgbClr val="666666"/>
                </a:solidFill>
                <a:latin typeface="Inter"/>
              </a:defRPr>
            </a:pPr>
            <a:r>
              <a:t>44 × 31 cm</a:t>
            </a:r>
          </a:p>
        </p:txBody>
      </p:sp>
      <p:sp>
        <p:nvSpPr>
          <p:cNvPr id="20" name="Rounded Rectangle 19"/>
          <p:cNvSpPr/>
          <p:nvPr/>
        </p:nvSpPr>
        <p:spPr>
          <a:xfrm>
            <a:off x="6120000" y="1800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28000" y="1980000"/>
            <a:ext cx="648000" cy="540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28000" y="2088000"/>
            <a:ext cx="648000" cy="360000"/>
          </a:xfrm>
          <a:prstGeom prst="rect">
            <a:avLst/>
          </a:prstGeom>
          <a:noFill/>
        </p:spPr>
        <p:txBody>
          <a:bodyPr wrap="square">
            <a:spAutoFit/>
          </a:bodyPr>
          <a:lstStyle/>
          <a:p>
            <a:pPr algn="ctr">
              <a:defRPr sz="1200" b="1">
                <a:solidFill>
                  <a:srgbClr val="FFFFFF"/>
                </a:solidFill>
                <a:latin typeface="Inter"/>
              </a:defRPr>
            </a:pPr>
            <a:r>
              <a:t>D4</a:t>
            </a:r>
          </a:p>
        </p:txBody>
      </p:sp>
      <p:sp>
        <p:nvSpPr>
          <p:cNvPr id="23" name="TextBox 22"/>
          <p:cNvSpPr txBox="1"/>
          <p:nvPr/>
        </p:nvSpPr>
        <p:spPr>
          <a:xfrm>
            <a:off x="7020000" y="1908000"/>
            <a:ext cx="2520000" cy="360000"/>
          </a:xfrm>
          <a:prstGeom prst="rect">
            <a:avLst/>
          </a:prstGeom>
          <a:noFill/>
        </p:spPr>
        <p:txBody>
          <a:bodyPr wrap="square">
            <a:spAutoFit/>
          </a:bodyPr>
          <a:lstStyle/>
          <a:p>
            <a:pPr algn="l">
              <a:defRPr sz="1000" b="1">
                <a:solidFill>
                  <a:srgbClr val="333333"/>
                </a:solidFill>
                <a:latin typeface="Inter"/>
              </a:defRPr>
            </a:pPr>
            <a:r>
              <a:t>Planche droite tiroir</a:t>
            </a:r>
          </a:p>
        </p:txBody>
      </p:sp>
      <p:sp>
        <p:nvSpPr>
          <p:cNvPr id="24" name="TextBox 23"/>
          <p:cNvSpPr txBox="1"/>
          <p:nvPr/>
        </p:nvSpPr>
        <p:spPr>
          <a:xfrm>
            <a:off x="7020000" y="2232000"/>
            <a:ext cx="2520000" cy="360000"/>
          </a:xfrm>
          <a:prstGeom prst="rect">
            <a:avLst/>
          </a:prstGeom>
          <a:noFill/>
        </p:spPr>
        <p:txBody>
          <a:bodyPr wrap="square">
            <a:spAutoFit/>
          </a:bodyPr>
          <a:lstStyle/>
          <a:p>
            <a:pPr algn="l">
              <a:defRPr sz="800" b="0">
                <a:solidFill>
                  <a:srgbClr val="666666"/>
                </a:solidFill>
                <a:latin typeface="Inter"/>
              </a:defRPr>
            </a:pPr>
            <a:r>
              <a:t>98,5 × 31 cm</a:t>
            </a:r>
          </a:p>
        </p:txBody>
      </p:sp>
      <p:sp>
        <p:nvSpPr>
          <p:cNvPr id="25" name="Rounded Rectangle 24"/>
          <p:cNvSpPr/>
          <p:nvPr/>
        </p:nvSpPr>
        <p:spPr>
          <a:xfrm>
            <a:off x="540000" y="2808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8000" y="2988000"/>
            <a:ext cx="648000" cy="540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8000" y="3096000"/>
            <a:ext cx="648000" cy="360000"/>
          </a:xfrm>
          <a:prstGeom prst="rect">
            <a:avLst/>
          </a:prstGeom>
          <a:noFill/>
        </p:spPr>
        <p:txBody>
          <a:bodyPr wrap="square">
            <a:spAutoFit/>
          </a:bodyPr>
          <a:lstStyle/>
          <a:p>
            <a:pPr algn="ctr">
              <a:defRPr sz="1200" b="1">
                <a:solidFill>
                  <a:srgbClr val="FFFFFF"/>
                </a:solidFill>
                <a:latin typeface="Inter"/>
              </a:defRPr>
            </a:pPr>
            <a:r>
              <a:t>D5</a:t>
            </a:r>
          </a:p>
        </p:txBody>
      </p:sp>
      <p:sp>
        <p:nvSpPr>
          <p:cNvPr id="28" name="TextBox 27"/>
          <p:cNvSpPr txBox="1"/>
          <p:nvPr/>
        </p:nvSpPr>
        <p:spPr>
          <a:xfrm>
            <a:off x="1440000" y="2916000"/>
            <a:ext cx="2520000" cy="360000"/>
          </a:xfrm>
          <a:prstGeom prst="rect">
            <a:avLst/>
          </a:prstGeom>
          <a:noFill/>
        </p:spPr>
        <p:txBody>
          <a:bodyPr wrap="square">
            <a:spAutoFit/>
          </a:bodyPr>
          <a:lstStyle/>
          <a:p>
            <a:pPr algn="l">
              <a:defRPr sz="1000" b="1">
                <a:solidFill>
                  <a:srgbClr val="333333"/>
                </a:solidFill>
                <a:latin typeface="Inter"/>
              </a:defRPr>
            </a:pPr>
            <a:r>
              <a:t>Planche gauche tiroir</a:t>
            </a:r>
          </a:p>
        </p:txBody>
      </p:sp>
      <p:sp>
        <p:nvSpPr>
          <p:cNvPr id="29" name="TextBox 28"/>
          <p:cNvSpPr txBox="1"/>
          <p:nvPr/>
        </p:nvSpPr>
        <p:spPr>
          <a:xfrm>
            <a:off x="1440000" y="3240000"/>
            <a:ext cx="2520000" cy="360000"/>
          </a:xfrm>
          <a:prstGeom prst="rect">
            <a:avLst/>
          </a:prstGeom>
          <a:noFill/>
        </p:spPr>
        <p:txBody>
          <a:bodyPr wrap="square">
            <a:spAutoFit/>
          </a:bodyPr>
          <a:lstStyle/>
          <a:p>
            <a:pPr algn="l">
              <a:defRPr sz="800" b="0">
                <a:solidFill>
                  <a:srgbClr val="666666"/>
                </a:solidFill>
                <a:latin typeface="Inter"/>
              </a:defRPr>
            </a:pPr>
            <a:r>
              <a:t>98,5 × 31 cm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180000"/>
            <a:ext cx="9000000" cy="432000"/>
          </a:xfrm>
          <a:prstGeom prst="rect">
            <a:avLst/>
          </a:prstGeom>
          <a:noFill/>
        </p:spPr>
        <p:txBody>
          <a:bodyPr wrap="square">
            <a:spAutoFit/>
          </a:bodyPr>
          <a:lstStyle/>
          <a:p>
            <a:pPr algn="l">
              <a:defRPr sz="1800" b="1">
                <a:solidFill>
                  <a:srgbClr val="2B5EA7"/>
                </a:solidFill>
                <a:latin typeface="Inter"/>
              </a:defRPr>
            </a:pPr>
            <a:r>
              <a:t>Pièces à découper — Tiroir — carrelets (1/2)</a:t>
            </a:r>
          </a:p>
        </p:txBody>
      </p:sp>
      <p:sp>
        <p:nvSpPr>
          <p:cNvPr id="3" name="Rounded Rectangle 2"/>
          <p:cNvSpPr/>
          <p:nvPr/>
        </p:nvSpPr>
        <p:spPr>
          <a:xfrm>
            <a:off x="7920000" y="108000"/>
            <a:ext cx="3780000" cy="21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920000" y="900000"/>
            <a:ext cx="3780000" cy="540000"/>
          </a:xfrm>
          <a:prstGeom prst="rect">
            <a:avLst/>
          </a:prstGeom>
          <a:noFill/>
        </p:spPr>
        <p:txBody>
          <a:bodyPr wrap="square">
            <a:spAutoFit/>
          </a:bodyPr>
          <a:lstStyle/>
          <a:p>
            <a:pPr algn="ctr">
              <a:defRPr sz="900" b="0">
                <a:solidFill>
                  <a:srgbClr val="666666"/>
                </a:solidFill>
                <a:latin typeface="Inter"/>
              </a:defRPr>
            </a:pPr>
            <a:r>
              <a:t>Coller ici le screenshot</a:t>
            </a:r>
            <a:br/>
            <a:r>
              <a:t>de la vue éclatée</a:t>
            </a:r>
          </a:p>
        </p:txBody>
      </p:sp>
      <p:sp>
        <p:nvSpPr>
          <p:cNvPr id="5" name="Rounded Rectangle 4"/>
          <p:cNvSpPr/>
          <p:nvPr/>
        </p:nvSpPr>
        <p:spPr>
          <a:xfrm>
            <a:off x="540000" y="792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8000" y="972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000" y="1080000"/>
            <a:ext cx="648000" cy="360000"/>
          </a:xfrm>
          <a:prstGeom prst="rect">
            <a:avLst/>
          </a:prstGeom>
          <a:noFill/>
        </p:spPr>
        <p:txBody>
          <a:bodyPr wrap="square">
            <a:spAutoFit/>
          </a:bodyPr>
          <a:lstStyle/>
          <a:p>
            <a:pPr algn="ctr">
              <a:defRPr sz="1200" b="1">
                <a:solidFill>
                  <a:srgbClr val="FFFFFF"/>
                </a:solidFill>
                <a:latin typeface="Inter"/>
              </a:defRPr>
            </a:pPr>
            <a:r>
              <a:t>D6</a:t>
            </a:r>
          </a:p>
        </p:txBody>
      </p:sp>
      <p:sp>
        <p:nvSpPr>
          <p:cNvPr id="8" name="TextBox 7"/>
          <p:cNvSpPr txBox="1"/>
          <p:nvPr/>
        </p:nvSpPr>
        <p:spPr>
          <a:xfrm>
            <a:off x="1440000" y="900000"/>
            <a:ext cx="2520000" cy="360000"/>
          </a:xfrm>
          <a:prstGeom prst="rect">
            <a:avLst/>
          </a:prstGeom>
          <a:noFill/>
        </p:spPr>
        <p:txBody>
          <a:bodyPr wrap="square">
            <a:spAutoFit/>
          </a:bodyPr>
          <a:lstStyle/>
          <a:p>
            <a:pPr algn="l">
              <a:defRPr sz="1000" b="1">
                <a:solidFill>
                  <a:srgbClr val="333333"/>
                </a:solidFill>
                <a:latin typeface="Inter"/>
              </a:defRPr>
            </a:pPr>
            <a:r>
              <a:t>Carrelet longueur gauche tiroir</a:t>
            </a:r>
          </a:p>
        </p:txBody>
      </p:sp>
      <p:sp>
        <p:nvSpPr>
          <p:cNvPr id="9" name="TextBox 8"/>
          <p:cNvSpPr txBox="1"/>
          <p:nvPr/>
        </p:nvSpPr>
        <p:spPr>
          <a:xfrm>
            <a:off x="1440000" y="1224000"/>
            <a:ext cx="2520000" cy="360000"/>
          </a:xfrm>
          <a:prstGeom prst="rect">
            <a:avLst/>
          </a:prstGeom>
          <a:noFill/>
        </p:spPr>
        <p:txBody>
          <a:bodyPr wrap="square">
            <a:spAutoFit/>
          </a:bodyPr>
          <a:lstStyle/>
          <a:p>
            <a:pPr algn="l">
              <a:defRPr sz="800" b="0">
                <a:solidFill>
                  <a:srgbClr val="666666"/>
                </a:solidFill>
                <a:latin typeface="Inter"/>
              </a:defRPr>
            </a:pPr>
            <a:r>
              <a:t>98,5 cm</a:t>
            </a:r>
          </a:p>
        </p:txBody>
      </p:sp>
      <p:sp>
        <p:nvSpPr>
          <p:cNvPr id="10" name="Rounded Rectangle 9"/>
          <p:cNvSpPr/>
          <p:nvPr/>
        </p:nvSpPr>
        <p:spPr>
          <a:xfrm>
            <a:off x="6120000" y="792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28000" y="972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8000" y="1080000"/>
            <a:ext cx="648000" cy="360000"/>
          </a:xfrm>
          <a:prstGeom prst="rect">
            <a:avLst/>
          </a:prstGeom>
          <a:noFill/>
        </p:spPr>
        <p:txBody>
          <a:bodyPr wrap="square">
            <a:spAutoFit/>
          </a:bodyPr>
          <a:lstStyle/>
          <a:p>
            <a:pPr algn="ctr">
              <a:defRPr sz="1200" b="1">
                <a:solidFill>
                  <a:srgbClr val="FFFFFF"/>
                </a:solidFill>
                <a:latin typeface="Inter"/>
              </a:defRPr>
            </a:pPr>
            <a:r>
              <a:t>D7</a:t>
            </a:r>
          </a:p>
        </p:txBody>
      </p:sp>
      <p:sp>
        <p:nvSpPr>
          <p:cNvPr id="13" name="TextBox 12"/>
          <p:cNvSpPr txBox="1"/>
          <p:nvPr/>
        </p:nvSpPr>
        <p:spPr>
          <a:xfrm>
            <a:off x="7020000" y="900000"/>
            <a:ext cx="2520000" cy="360000"/>
          </a:xfrm>
          <a:prstGeom prst="rect">
            <a:avLst/>
          </a:prstGeom>
          <a:noFill/>
        </p:spPr>
        <p:txBody>
          <a:bodyPr wrap="square">
            <a:spAutoFit/>
          </a:bodyPr>
          <a:lstStyle/>
          <a:p>
            <a:pPr algn="l">
              <a:defRPr sz="1000" b="1">
                <a:solidFill>
                  <a:srgbClr val="333333"/>
                </a:solidFill>
                <a:latin typeface="Inter"/>
              </a:defRPr>
            </a:pPr>
            <a:r>
              <a:t>Carrelet longueur droit tiroir</a:t>
            </a:r>
          </a:p>
        </p:txBody>
      </p:sp>
      <p:sp>
        <p:nvSpPr>
          <p:cNvPr id="14" name="TextBox 13"/>
          <p:cNvSpPr txBox="1"/>
          <p:nvPr/>
        </p:nvSpPr>
        <p:spPr>
          <a:xfrm>
            <a:off x="7020000" y="1224000"/>
            <a:ext cx="2520000" cy="360000"/>
          </a:xfrm>
          <a:prstGeom prst="rect">
            <a:avLst/>
          </a:prstGeom>
          <a:noFill/>
        </p:spPr>
        <p:txBody>
          <a:bodyPr wrap="square">
            <a:spAutoFit/>
          </a:bodyPr>
          <a:lstStyle/>
          <a:p>
            <a:pPr algn="l">
              <a:defRPr sz="800" b="0">
                <a:solidFill>
                  <a:srgbClr val="666666"/>
                </a:solidFill>
                <a:latin typeface="Inter"/>
              </a:defRPr>
            </a:pPr>
            <a:r>
              <a:t>98,5 cm</a:t>
            </a:r>
          </a:p>
        </p:txBody>
      </p:sp>
      <p:sp>
        <p:nvSpPr>
          <p:cNvPr id="15" name="Rounded Rectangle 14"/>
          <p:cNvSpPr/>
          <p:nvPr/>
        </p:nvSpPr>
        <p:spPr>
          <a:xfrm>
            <a:off x="540000" y="1800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8000" y="1980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8000" y="2088000"/>
            <a:ext cx="648000" cy="360000"/>
          </a:xfrm>
          <a:prstGeom prst="rect">
            <a:avLst/>
          </a:prstGeom>
          <a:noFill/>
        </p:spPr>
        <p:txBody>
          <a:bodyPr wrap="square">
            <a:spAutoFit/>
          </a:bodyPr>
          <a:lstStyle/>
          <a:p>
            <a:pPr algn="ctr">
              <a:defRPr sz="1200" b="1">
                <a:solidFill>
                  <a:srgbClr val="FFFFFF"/>
                </a:solidFill>
                <a:latin typeface="Inter"/>
              </a:defRPr>
            </a:pPr>
            <a:r>
              <a:t>D8</a:t>
            </a:r>
          </a:p>
        </p:txBody>
      </p:sp>
      <p:sp>
        <p:nvSpPr>
          <p:cNvPr id="18" name="TextBox 17"/>
          <p:cNvSpPr txBox="1"/>
          <p:nvPr/>
        </p:nvSpPr>
        <p:spPr>
          <a:xfrm>
            <a:off x="1440000" y="1908000"/>
            <a:ext cx="2520000" cy="360000"/>
          </a:xfrm>
          <a:prstGeom prst="rect">
            <a:avLst/>
          </a:prstGeom>
          <a:noFill/>
        </p:spPr>
        <p:txBody>
          <a:bodyPr wrap="square">
            <a:spAutoFit/>
          </a:bodyPr>
          <a:lstStyle/>
          <a:p>
            <a:pPr algn="l">
              <a:defRPr sz="1000" b="1">
                <a:solidFill>
                  <a:srgbClr val="333333"/>
                </a:solidFill>
                <a:latin typeface="Inter"/>
              </a:defRPr>
            </a:pPr>
            <a:r>
              <a:t>Carrelet fond gauche vertical</a:t>
            </a:r>
          </a:p>
        </p:txBody>
      </p:sp>
      <p:sp>
        <p:nvSpPr>
          <p:cNvPr id="19" name="TextBox 18"/>
          <p:cNvSpPr txBox="1"/>
          <p:nvPr/>
        </p:nvSpPr>
        <p:spPr>
          <a:xfrm>
            <a:off x="1440000" y="2232000"/>
            <a:ext cx="2520000" cy="360000"/>
          </a:xfrm>
          <a:prstGeom prst="rect">
            <a:avLst/>
          </a:prstGeom>
          <a:noFill/>
        </p:spPr>
        <p:txBody>
          <a:bodyPr wrap="square">
            <a:spAutoFit/>
          </a:bodyPr>
          <a:lstStyle/>
          <a:p>
            <a:pPr algn="l">
              <a:defRPr sz="800" b="0">
                <a:solidFill>
                  <a:srgbClr val="666666"/>
                </a:solidFill>
                <a:latin typeface="Inter"/>
              </a:defRPr>
            </a:pPr>
            <a:r>
              <a:t>28 cm</a:t>
            </a:r>
          </a:p>
        </p:txBody>
      </p:sp>
      <p:sp>
        <p:nvSpPr>
          <p:cNvPr id="20" name="Rounded Rectangle 19"/>
          <p:cNvSpPr/>
          <p:nvPr/>
        </p:nvSpPr>
        <p:spPr>
          <a:xfrm>
            <a:off x="6120000" y="1800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28000" y="1980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28000" y="2088000"/>
            <a:ext cx="648000" cy="360000"/>
          </a:xfrm>
          <a:prstGeom prst="rect">
            <a:avLst/>
          </a:prstGeom>
          <a:noFill/>
        </p:spPr>
        <p:txBody>
          <a:bodyPr wrap="square">
            <a:spAutoFit/>
          </a:bodyPr>
          <a:lstStyle/>
          <a:p>
            <a:pPr algn="ctr">
              <a:defRPr sz="1200" b="1">
                <a:solidFill>
                  <a:srgbClr val="FFFFFF"/>
                </a:solidFill>
                <a:latin typeface="Inter"/>
              </a:defRPr>
            </a:pPr>
            <a:r>
              <a:t>D9</a:t>
            </a:r>
          </a:p>
        </p:txBody>
      </p:sp>
      <p:sp>
        <p:nvSpPr>
          <p:cNvPr id="23" name="TextBox 22"/>
          <p:cNvSpPr txBox="1"/>
          <p:nvPr/>
        </p:nvSpPr>
        <p:spPr>
          <a:xfrm>
            <a:off x="7020000" y="1908000"/>
            <a:ext cx="2520000" cy="360000"/>
          </a:xfrm>
          <a:prstGeom prst="rect">
            <a:avLst/>
          </a:prstGeom>
          <a:noFill/>
        </p:spPr>
        <p:txBody>
          <a:bodyPr wrap="square">
            <a:spAutoFit/>
          </a:bodyPr>
          <a:lstStyle/>
          <a:p>
            <a:pPr algn="l">
              <a:defRPr sz="1000" b="1">
                <a:solidFill>
                  <a:srgbClr val="333333"/>
                </a:solidFill>
                <a:latin typeface="Inter"/>
              </a:defRPr>
            </a:pPr>
            <a:r>
              <a:t>Carrelet fond droit vertical</a:t>
            </a:r>
          </a:p>
        </p:txBody>
      </p:sp>
      <p:sp>
        <p:nvSpPr>
          <p:cNvPr id="24" name="TextBox 23"/>
          <p:cNvSpPr txBox="1"/>
          <p:nvPr/>
        </p:nvSpPr>
        <p:spPr>
          <a:xfrm>
            <a:off x="7020000" y="2232000"/>
            <a:ext cx="2520000" cy="360000"/>
          </a:xfrm>
          <a:prstGeom prst="rect">
            <a:avLst/>
          </a:prstGeom>
          <a:noFill/>
        </p:spPr>
        <p:txBody>
          <a:bodyPr wrap="square">
            <a:spAutoFit/>
          </a:bodyPr>
          <a:lstStyle/>
          <a:p>
            <a:pPr algn="l">
              <a:defRPr sz="800" b="0">
                <a:solidFill>
                  <a:srgbClr val="666666"/>
                </a:solidFill>
                <a:latin typeface="Inter"/>
              </a:defRPr>
            </a:pPr>
            <a:r>
              <a:t>28 cm</a:t>
            </a:r>
          </a:p>
        </p:txBody>
      </p:sp>
      <p:sp>
        <p:nvSpPr>
          <p:cNvPr id="25" name="Rounded Rectangle 24"/>
          <p:cNvSpPr/>
          <p:nvPr/>
        </p:nvSpPr>
        <p:spPr>
          <a:xfrm>
            <a:off x="540000" y="2808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8000" y="2988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8000" y="3096000"/>
            <a:ext cx="648000" cy="360000"/>
          </a:xfrm>
          <a:prstGeom prst="rect">
            <a:avLst/>
          </a:prstGeom>
          <a:noFill/>
        </p:spPr>
        <p:txBody>
          <a:bodyPr wrap="square">
            <a:spAutoFit/>
          </a:bodyPr>
          <a:lstStyle/>
          <a:p>
            <a:pPr algn="ctr">
              <a:defRPr sz="1200" b="1">
                <a:solidFill>
                  <a:srgbClr val="FFFFFF"/>
                </a:solidFill>
                <a:latin typeface="Inter"/>
              </a:defRPr>
            </a:pPr>
            <a:r>
              <a:t>D10</a:t>
            </a:r>
          </a:p>
        </p:txBody>
      </p:sp>
      <p:sp>
        <p:nvSpPr>
          <p:cNvPr id="28" name="TextBox 27"/>
          <p:cNvSpPr txBox="1"/>
          <p:nvPr/>
        </p:nvSpPr>
        <p:spPr>
          <a:xfrm>
            <a:off x="1440000" y="2916000"/>
            <a:ext cx="2520000" cy="360000"/>
          </a:xfrm>
          <a:prstGeom prst="rect">
            <a:avLst/>
          </a:prstGeom>
          <a:noFill/>
        </p:spPr>
        <p:txBody>
          <a:bodyPr wrap="square">
            <a:spAutoFit/>
          </a:bodyPr>
          <a:lstStyle/>
          <a:p>
            <a:pPr algn="l">
              <a:defRPr sz="1000" b="1">
                <a:solidFill>
                  <a:srgbClr val="333333"/>
                </a:solidFill>
                <a:latin typeface="Inter"/>
              </a:defRPr>
            </a:pPr>
            <a:r>
              <a:t>Carrelet vertical avant gauche</a:t>
            </a:r>
          </a:p>
        </p:txBody>
      </p:sp>
      <p:sp>
        <p:nvSpPr>
          <p:cNvPr id="29" name="TextBox 28"/>
          <p:cNvSpPr txBox="1"/>
          <p:nvPr/>
        </p:nvSpPr>
        <p:spPr>
          <a:xfrm>
            <a:off x="1440000" y="3240000"/>
            <a:ext cx="2520000" cy="360000"/>
          </a:xfrm>
          <a:prstGeom prst="rect">
            <a:avLst/>
          </a:prstGeom>
          <a:noFill/>
        </p:spPr>
        <p:txBody>
          <a:bodyPr wrap="square">
            <a:spAutoFit/>
          </a:bodyPr>
          <a:lstStyle/>
          <a:p>
            <a:pPr algn="l">
              <a:defRPr sz="800" b="0">
                <a:solidFill>
                  <a:srgbClr val="666666"/>
                </a:solidFill>
                <a:latin typeface="Inter"/>
              </a:defRPr>
            </a:pPr>
            <a:r>
              <a:t>28 cm</a:t>
            </a:r>
          </a:p>
        </p:txBody>
      </p:sp>
      <p:sp>
        <p:nvSpPr>
          <p:cNvPr id="30" name="Rounded Rectangle 29"/>
          <p:cNvSpPr/>
          <p:nvPr/>
        </p:nvSpPr>
        <p:spPr>
          <a:xfrm>
            <a:off x="6120000" y="2808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28000" y="2988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28000" y="3096000"/>
            <a:ext cx="648000" cy="360000"/>
          </a:xfrm>
          <a:prstGeom prst="rect">
            <a:avLst/>
          </a:prstGeom>
          <a:noFill/>
        </p:spPr>
        <p:txBody>
          <a:bodyPr wrap="square">
            <a:spAutoFit/>
          </a:bodyPr>
          <a:lstStyle/>
          <a:p>
            <a:pPr algn="ctr">
              <a:defRPr sz="1200" b="1">
                <a:solidFill>
                  <a:srgbClr val="FFFFFF"/>
                </a:solidFill>
                <a:latin typeface="Inter"/>
              </a:defRPr>
            </a:pPr>
            <a:r>
              <a:t>D11</a:t>
            </a:r>
          </a:p>
        </p:txBody>
      </p:sp>
      <p:sp>
        <p:nvSpPr>
          <p:cNvPr id="33" name="TextBox 32"/>
          <p:cNvSpPr txBox="1"/>
          <p:nvPr/>
        </p:nvSpPr>
        <p:spPr>
          <a:xfrm>
            <a:off x="7020000" y="2916000"/>
            <a:ext cx="2520000" cy="360000"/>
          </a:xfrm>
          <a:prstGeom prst="rect">
            <a:avLst/>
          </a:prstGeom>
          <a:noFill/>
        </p:spPr>
        <p:txBody>
          <a:bodyPr wrap="square">
            <a:spAutoFit/>
          </a:bodyPr>
          <a:lstStyle/>
          <a:p>
            <a:pPr algn="l">
              <a:defRPr sz="1000" b="1">
                <a:solidFill>
                  <a:srgbClr val="333333"/>
                </a:solidFill>
                <a:latin typeface="Inter"/>
              </a:defRPr>
            </a:pPr>
            <a:r>
              <a:t>Carrelet vertical avant droit</a:t>
            </a:r>
          </a:p>
        </p:txBody>
      </p:sp>
      <p:sp>
        <p:nvSpPr>
          <p:cNvPr id="34" name="TextBox 33"/>
          <p:cNvSpPr txBox="1"/>
          <p:nvPr/>
        </p:nvSpPr>
        <p:spPr>
          <a:xfrm>
            <a:off x="7020000" y="3240000"/>
            <a:ext cx="2520000" cy="360000"/>
          </a:xfrm>
          <a:prstGeom prst="rect">
            <a:avLst/>
          </a:prstGeom>
          <a:noFill/>
        </p:spPr>
        <p:txBody>
          <a:bodyPr wrap="square">
            <a:spAutoFit/>
          </a:bodyPr>
          <a:lstStyle/>
          <a:p>
            <a:pPr algn="l">
              <a:defRPr sz="800" b="0">
                <a:solidFill>
                  <a:srgbClr val="666666"/>
                </a:solidFill>
                <a:latin typeface="Inter"/>
              </a:defRPr>
            </a:pPr>
            <a:r>
              <a:t>28 cm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180000"/>
            <a:ext cx="9000000" cy="432000"/>
          </a:xfrm>
          <a:prstGeom prst="rect">
            <a:avLst/>
          </a:prstGeom>
          <a:noFill/>
        </p:spPr>
        <p:txBody>
          <a:bodyPr wrap="square">
            <a:spAutoFit/>
          </a:bodyPr>
          <a:lstStyle/>
          <a:p>
            <a:pPr algn="l">
              <a:defRPr sz="1800" b="1">
                <a:solidFill>
                  <a:srgbClr val="2B5EA7"/>
                </a:solidFill>
                <a:latin typeface="Inter"/>
              </a:defRPr>
            </a:pPr>
            <a:r>
              <a:t>Pièces à découper — Tiroir — carrelets (2/2)</a:t>
            </a:r>
          </a:p>
        </p:txBody>
      </p:sp>
      <p:sp>
        <p:nvSpPr>
          <p:cNvPr id="3" name="Rounded Rectangle 2"/>
          <p:cNvSpPr/>
          <p:nvPr/>
        </p:nvSpPr>
        <p:spPr>
          <a:xfrm>
            <a:off x="540000" y="792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8000" y="972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8000" y="1080000"/>
            <a:ext cx="648000" cy="360000"/>
          </a:xfrm>
          <a:prstGeom prst="rect">
            <a:avLst/>
          </a:prstGeom>
          <a:noFill/>
        </p:spPr>
        <p:txBody>
          <a:bodyPr wrap="square">
            <a:spAutoFit/>
          </a:bodyPr>
          <a:lstStyle/>
          <a:p>
            <a:pPr algn="ctr">
              <a:defRPr sz="1200" b="1">
                <a:solidFill>
                  <a:srgbClr val="FFFFFF"/>
                </a:solidFill>
                <a:latin typeface="Inter"/>
              </a:defRPr>
            </a:pPr>
            <a:r>
              <a:t>D12</a:t>
            </a:r>
          </a:p>
        </p:txBody>
      </p:sp>
      <p:sp>
        <p:nvSpPr>
          <p:cNvPr id="6" name="TextBox 5"/>
          <p:cNvSpPr txBox="1"/>
          <p:nvPr/>
        </p:nvSpPr>
        <p:spPr>
          <a:xfrm>
            <a:off x="1440000" y="900000"/>
            <a:ext cx="2520000" cy="360000"/>
          </a:xfrm>
          <a:prstGeom prst="rect">
            <a:avLst/>
          </a:prstGeom>
          <a:noFill/>
        </p:spPr>
        <p:txBody>
          <a:bodyPr wrap="square">
            <a:spAutoFit/>
          </a:bodyPr>
          <a:lstStyle/>
          <a:p>
            <a:pPr algn="l">
              <a:defRPr sz="1000" b="1">
                <a:solidFill>
                  <a:srgbClr val="333333"/>
                </a:solidFill>
                <a:latin typeface="Inter"/>
              </a:defRPr>
            </a:pPr>
            <a:r>
              <a:t>Carrelet fond largeur</a:t>
            </a:r>
          </a:p>
        </p:txBody>
      </p:sp>
      <p:sp>
        <p:nvSpPr>
          <p:cNvPr id="7" name="TextBox 6"/>
          <p:cNvSpPr txBox="1"/>
          <p:nvPr/>
        </p:nvSpPr>
        <p:spPr>
          <a:xfrm>
            <a:off x="1440000" y="1224000"/>
            <a:ext cx="2520000" cy="360000"/>
          </a:xfrm>
          <a:prstGeom prst="rect">
            <a:avLst/>
          </a:prstGeom>
          <a:noFill/>
        </p:spPr>
        <p:txBody>
          <a:bodyPr wrap="square">
            <a:spAutoFit/>
          </a:bodyPr>
          <a:lstStyle/>
          <a:p>
            <a:pPr algn="l">
              <a:defRPr sz="800" b="0">
                <a:solidFill>
                  <a:srgbClr val="666666"/>
                </a:solidFill>
                <a:latin typeface="Inter"/>
              </a:defRPr>
            </a:pPr>
            <a:r>
              <a:t>38 cm</a:t>
            </a:r>
          </a:p>
        </p:txBody>
      </p:sp>
      <p:sp>
        <p:nvSpPr>
          <p:cNvPr id="8" name="Rounded Rectangle 7"/>
          <p:cNvSpPr/>
          <p:nvPr/>
        </p:nvSpPr>
        <p:spPr>
          <a:xfrm>
            <a:off x="6120000" y="792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28000" y="972000"/>
            <a:ext cx="648000" cy="540000"/>
          </a:xfrm>
          <a:prstGeom prst="roundRect">
            <a:avLst>
              <a:gd name="adj" fmla="val 5000"/>
            </a:avLst>
          </a:prstGeom>
          <a:solidFill>
            <a:srgbClr val="B994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28000" y="1080000"/>
            <a:ext cx="648000" cy="360000"/>
          </a:xfrm>
          <a:prstGeom prst="rect">
            <a:avLst/>
          </a:prstGeom>
          <a:noFill/>
        </p:spPr>
        <p:txBody>
          <a:bodyPr wrap="square">
            <a:spAutoFit/>
          </a:bodyPr>
          <a:lstStyle/>
          <a:p>
            <a:pPr algn="ctr">
              <a:defRPr sz="1200" b="1">
                <a:solidFill>
                  <a:srgbClr val="FFFFFF"/>
                </a:solidFill>
                <a:latin typeface="Inter"/>
              </a:defRPr>
            </a:pPr>
            <a:r>
              <a:t>D13</a:t>
            </a:r>
          </a:p>
        </p:txBody>
      </p:sp>
      <p:sp>
        <p:nvSpPr>
          <p:cNvPr id="11" name="TextBox 10"/>
          <p:cNvSpPr txBox="1"/>
          <p:nvPr/>
        </p:nvSpPr>
        <p:spPr>
          <a:xfrm>
            <a:off x="7020000" y="900000"/>
            <a:ext cx="2520000" cy="360000"/>
          </a:xfrm>
          <a:prstGeom prst="rect">
            <a:avLst/>
          </a:prstGeom>
          <a:noFill/>
        </p:spPr>
        <p:txBody>
          <a:bodyPr wrap="square">
            <a:spAutoFit/>
          </a:bodyPr>
          <a:lstStyle/>
          <a:p>
            <a:pPr algn="l">
              <a:defRPr sz="1000" b="1">
                <a:solidFill>
                  <a:srgbClr val="333333"/>
                </a:solidFill>
                <a:latin typeface="Inter"/>
              </a:defRPr>
            </a:pPr>
            <a:r>
              <a:t>Carrelet largeur bas face</a:t>
            </a:r>
          </a:p>
        </p:txBody>
      </p:sp>
      <p:sp>
        <p:nvSpPr>
          <p:cNvPr id="12" name="TextBox 11"/>
          <p:cNvSpPr txBox="1"/>
          <p:nvPr/>
        </p:nvSpPr>
        <p:spPr>
          <a:xfrm>
            <a:off x="7020000" y="1224000"/>
            <a:ext cx="2520000" cy="360000"/>
          </a:xfrm>
          <a:prstGeom prst="rect">
            <a:avLst/>
          </a:prstGeom>
          <a:noFill/>
        </p:spPr>
        <p:txBody>
          <a:bodyPr wrap="square">
            <a:spAutoFit/>
          </a:bodyPr>
          <a:lstStyle/>
          <a:p>
            <a:pPr algn="l">
              <a:defRPr sz="800" b="0">
                <a:solidFill>
                  <a:srgbClr val="666666"/>
                </a:solidFill>
                <a:latin typeface="Inter"/>
              </a:defRPr>
            </a:pPr>
            <a:r>
              <a:t>38 cm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180000"/>
            <a:ext cx="9000000" cy="540000"/>
          </a:xfrm>
          <a:prstGeom prst="rect">
            <a:avLst/>
          </a:prstGeom>
          <a:noFill/>
        </p:spPr>
        <p:txBody>
          <a:bodyPr wrap="square">
            <a:spAutoFit/>
          </a:bodyPr>
          <a:lstStyle/>
          <a:p>
            <a:pPr algn="l">
              <a:defRPr sz="1800" b="1">
                <a:solidFill>
                  <a:srgbClr val="2B5EA7"/>
                </a:solidFill>
                <a:latin typeface="Inter"/>
              </a:defRPr>
            </a:pPr>
            <a:r>
              <a:t>Étapes de montage — Tiroir coulissant</a:t>
            </a:r>
          </a:p>
        </p:txBody>
      </p:sp>
      <p:sp>
        <p:nvSpPr>
          <p:cNvPr id="3" name="Oval 2"/>
          <p:cNvSpPr/>
          <p:nvPr/>
        </p:nvSpPr>
        <p:spPr>
          <a:xfrm>
            <a:off x="540000" y="864000"/>
            <a:ext cx="432000" cy="432000"/>
          </a:xfrm>
          <a:prstGeom prst="ellipse">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latin typeface="Inter"/>
              </a:defRPr>
            </a:pPr>
            <a:r>
              <a:t>1</a:t>
            </a:r>
          </a:p>
        </p:txBody>
      </p:sp>
      <p:sp>
        <p:nvSpPr>
          <p:cNvPr id="4" name="TextBox 3"/>
          <p:cNvSpPr txBox="1"/>
          <p:nvPr/>
        </p:nvSpPr>
        <p:spPr>
          <a:xfrm>
            <a:off x="1152000" y="792000"/>
            <a:ext cx="10080000" cy="360000"/>
          </a:xfrm>
          <a:prstGeom prst="rect">
            <a:avLst/>
          </a:prstGeom>
          <a:noFill/>
        </p:spPr>
        <p:txBody>
          <a:bodyPr wrap="square">
            <a:spAutoFit/>
          </a:bodyPr>
          <a:lstStyle/>
          <a:p>
            <a:pPr algn="l">
              <a:defRPr sz="1300" b="1">
                <a:solidFill>
                  <a:srgbClr val="333333"/>
                </a:solidFill>
                <a:latin typeface="Inter"/>
              </a:defRPr>
            </a:pPr>
            <a:r>
              <a:t>Ossature tiroir — carrelets [D6-D13]</a:t>
            </a:r>
          </a:p>
        </p:txBody>
      </p:sp>
      <p:sp>
        <p:nvSpPr>
          <p:cNvPr id="5" name="TextBox 4"/>
          <p:cNvSpPr txBox="1"/>
          <p:nvPr/>
        </p:nvSpPr>
        <p:spPr>
          <a:xfrm>
            <a:off x="1152000" y="1224000"/>
            <a:ext cx="10080000" cy="792000"/>
          </a:xfrm>
          <a:prstGeom prst="rect">
            <a:avLst/>
          </a:prstGeom>
          <a:noFill/>
        </p:spPr>
        <p:txBody>
          <a:bodyPr wrap="square">
            <a:spAutoFit/>
          </a:bodyPr>
          <a:lstStyle/>
          <a:p>
            <a:pPr algn="l">
              <a:defRPr sz="1000" b="0">
                <a:solidFill>
                  <a:srgbClr val="666666"/>
                </a:solidFill>
                <a:latin typeface="Inter"/>
              </a:defRPr>
            </a:pPr>
            <a:r>
              <a:t>Assemble les 8 carrelets en cadre rectangulaire : 2 longueurs (D6, D7 — 98,5 cm) + 2 largeurs (D12, D13 — 38 cm) en bas, puis 4 montants verticaux (D8-D11 — 28 cm) aux angles. Vis 3,5×25 mm.</a:t>
            </a:r>
          </a:p>
        </p:txBody>
      </p:sp>
      <p:sp>
        <p:nvSpPr>
          <p:cNvPr id="6" name="Rectangle 5"/>
          <p:cNvSpPr/>
          <p:nvPr/>
        </p:nvSpPr>
        <p:spPr>
          <a:xfrm>
            <a:off x="1152000" y="2088000"/>
            <a:ext cx="10080000" cy="635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0000" y="2232000"/>
            <a:ext cx="432000" cy="432000"/>
          </a:xfrm>
          <a:prstGeom prst="ellipse">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latin typeface="Inter"/>
              </a:defRPr>
            </a:pPr>
            <a:r>
              <a:t>2</a:t>
            </a:r>
          </a:p>
        </p:txBody>
      </p:sp>
      <p:sp>
        <p:nvSpPr>
          <p:cNvPr id="8" name="TextBox 7"/>
          <p:cNvSpPr txBox="1"/>
          <p:nvPr/>
        </p:nvSpPr>
        <p:spPr>
          <a:xfrm>
            <a:off x="1152000" y="2160000"/>
            <a:ext cx="10080000" cy="360000"/>
          </a:xfrm>
          <a:prstGeom prst="rect">
            <a:avLst/>
          </a:prstGeom>
          <a:noFill/>
        </p:spPr>
        <p:txBody>
          <a:bodyPr wrap="square">
            <a:spAutoFit/>
          </a:bodyPr>
          <a:lstStyle/>
          <a:p>
            <a:pPr algn="l">
              <a:defRPr sz="1300" b="1">
                <a:solidFill>
                  <a:srgbClr val="333333"/>
                </a:solidFill>
                <a:latin typeface="Inter"/>
              </a:defRPr>
            </a:pPr>
            <a:r>
              <a:t>Poser les planches du caisson [D1-D5]</a:t>
            </a:r>
          </a:p>
        </p:txBody>
      </p:sp>
      <p:sp>
        <p:nvSpPr>
          <p:cNvPr id="9" name="TextBox 8"/>
          <p:cNvSpPr txBox="1"/>
          <p:nvPr/>
        </p:nvSpPr>
        <p:spPr>
          <a:xfrm>
            <a:off x="1152000" y="2592000"/>
            <a:ext cx="10080000" cy="792000"/>
          </a:xfrm>
          <a:prstGeom prst="rect">
            <a:avLst/>
          </a:prstGeom>
          <a:noFill/>
        </p:spPr>
        <p:txBody>
          <a:bodyPr wrap="square">
            <a:spAutoFit/>
          </a:bodyPr>
          <a:lstStyle/>
          <a:p>
            <a:pPr algn="l">
              <a:defRPr sz="1000" b="0">
                <a:solidFill>
                  <a:srgbClr val="666666"/>
                </a:solidFill>
                <a:latin typeface="Inter"/>
              </a:defRPr>
            </a:pPr>
            <a:r>
              <a:t>Visse la planche bas [D1] sous l'ossature. Puis les 4 côtés : fond [D2], face [D3], droite [D4], gauche [D5]. Pré-perce systématiquement. 3 vis par planche.</a:t>
            </a:r>
          </a:p>
        </p:txBody>
      </p:sp>
      <p:sp>
        <p:nvSpPr>
          <p:cNvPr id="10" name="Rectangle 9"/>
          <p:cNvSpPr/>
          <p:nvPr/>
        </p:nvSpPr>
        <p:spPr>
          <a:xfrm>
            <a:off x="1152000" y="3456000"/>
            <a:ext cx="10080000" cy="635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0000" y="3600000"/>
            <a:ext cx="432000" cy="432000"/>
          </a:xfrm>
          <a:prstGeom prst="ellipse">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latin typeface="Inter"/>
              </a:defRPr>
            </a:pPr>
            <a:r>
              <a:t>3</a:t>
            </a:r>
          </a:p>
        </p:txBody>
      </p:sp>
      <p:sp>
        <p:nvSpPr>
          <p:cNvPr id="12" name="TextBox 11"/>
          <p:cNvSpPr txBox="1"/>
          <p:nvPr/>
        </p:nvSpPr>
        <p:spPr>
          <a:xfrm>
            <a:off x="1152000" y="3528000"/>
            <a:ext cx="10080000" cy="360000"/>
          </a:xfrm>
          <a:prstGeom prst="rect">
            <a:avLst/>
          </a:prstGeom>
          <a:noFill/>
        </p:spPr>
        <p:txBody>
          <a:bodyPr wrap="square">
            <a:spAutoFit/>
          </a:bodyPr>
          <a:lstStyle/>
          <a:p>
            <a:pPr algn="l">
              <a:defRPr sz="1300" b="1">
                <a:solidFill>
                  <a:srgbClr val="333333"/>
                </a:solidFill>
                <a:latin typeface="Inter"/>
              </a:defRPr>
            </a:pPr>
            <a:r>
              <a:t>Monter les glissières</a:t>
            </a:r>
          </a:p>
        </p:txBody>
      </p:sp>
      <p:sp>
        <p:nvSpPr>
          <p:cNvPr id="13" name="TextBox 12"/>
          <p:cNvSpPr txBox="1"/>
          <p:nvPr/>
        </p:nvSpPr>
        <p:spPr>
          <a:xfrm>
            <a:off x="1152000" y="3960000"/>
            <a:ext cx="10080000" cy="792000"/>
          </a:xfrm>
          <a:prstGeom prst="rect">
            <a:avLst/>
          </a:prstGeom>
          <a:noFill/>
        </p:spPr>
        <p:txBody>
          <a:bodyPr wrap="square">
            <a:spAutoFit/>
          </a:bodyPr>
          <a:lstStyle/>
          <a:p>
            <a:pPr algn="l">
              <a:defRPr sz="1000" b="0">
                <a:solidFill>
                  <a:srgbClr val="666666"/>
                </a:solidFill>
                <a:latin typeface="Inter"/>
              </a:defRPr>
            </a:pPr>
            <a:r>
              <a:t>Fixe les glissières fixes (achetées) sur les carrelets rails B19-B22. Fixe les glissières coulissantes sur les côtés du tiroir. Teste le coulissement avant de tout serrer.</a:t>
            </a:r>
          </a:p>
        </p:txBody>
      </p:sp>
      <p:sp>
        <p:nvSpPr>
          <p:cNvPr id="14" name="Rectangle 13"/>
          <p:cNvSpPr/>
          <p:nvPr/>
        </p:nvSpPr>
        <p:spPr>
          <a:xfrm>
            <a:off x="1152000" y="4824000"/>
            <a:ext cx="10080000" cy="635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40000" y="4968000"/>
            <a:ext cx="432000" cy="432000"/>
          </a:xfrm>
          <a:prstGeom prst="ellipse">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latin typeface="Inter"/>
              </a:defRPr>
            </a:pPr>
            <a:r>
              <a:t>4</a:t>
            </a:r>
          </a:p>
        </p:txBody>
      </p:sp>
      <p:sp>
        <p:nvSpPr>
          <p:cNvPr id="16" name="TextBox 15"/>
          <p:cNvSpPr txBox="1"/>
          <p:nvPr/>
        </p:nvSpPr>
        <p:spPr>
          <a:xfrm>
            <a:off x="1152000" y="4896000"/>
            <a:ext cx="10080000" cy="360000"/>
          </a:xfrm>
          <a:prstGeom prst="rect">
            <a:avLst/>
          </a:prstGeom>
          <a:noFill/>
        </p:spPr>
        <p:txBody>
          <a:bodyPr wrap="square">
            <a:spAutoFit/>
          </a:bodyPr>
          <a:lstStyle/>
          <a:p>
            <a:pPr algn="l">
              <a:defRPr sz="1300" b="1">
                <a:solidFill>
                  <a:srgbClr val="333333"/>
                </a:solidFill>
                <a:latin typeface="Inter"/>
              </a:defRPr>
            </a:pPr>
            <a:r>
              <a:t>Insérer le tiroir</a:t>
            </a:r>
          </a:p>
        </p:txBody>
      </p:sp>
      <p:sp>
        <p:nvSpPr>
          <p:cNvPr id="17" name="TextBox 16"/>
          <p:cNvSpPr txBox="1"/>
          <p:nvPr/>
        </p:nvSpPr>
        <p:spPr>
          <a:xfrm>
            <a:off x="1152000" y="5328000"/>
            <a:ext cx="10080000" cy="792000"/>
          </a:xfrm>
          <a:prstGeom prst="rect">
            <a:avLst/>
          </a:prstGeom>
          <a:noFill/>
        </p:spPr>
        <p:txBody>
          <a:bodyPr wrap="square">
            <a:spAutoFit/>
          </a:bodyPr>
          <a:lstStyle/>
          <a:p>
            <a:pPr algn="l">
              <a:defRPr sz="1000" b="0">
                <a:solidFill>
                  <a:srgbClr val="666666"/>
                </a:solidFill>
                <a:latin typeface="Inter"/>
              </a:defRPr>
            </a:pPr>
            <a:r>
              <a:t>Glisse le tiroir assemblé sur les rails. Il doit coulisser librement. Règle la butée si nécessaire.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540000" y="360000"/>
            <a:ext cx="1800000" cy="432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0000" y="360000"/>
            <a:ext cx="1800000" cy="432000"/>
          </a:xfrm>
          <a:prstGeom prst="rect">
            <a:avLst/>
          </a:prstGeom>
          <a:noFill/>
        </p:spPr>
        <p:txBody>
          <a:bodyPr wrap="square">
            <a:spAutoFit/>
          </a:bodyPr>
          <a:lstStyle/>
          <a:p>
            <a:pPr algn="ctr">
              <a:defRPr sz="1100" b="1">
                <a:solidFill>
                  <a:srgbClr val="FFFFFF"/>
                </a:solidFill>
                <a:latin typeface="Inter"/>
              </a:defRPr>
            </a:pPr>
            <a:r>
              <a:t>BLOC 5/5</a:t>
            </a:r>
          </a:p>
        </p:txBody>
      </p:sp>
      <p:sp>
        <p:nvSpPr>
          <p:cNvPr id="4" name="TextBox 3"/>
          <p:cNvSpPr txBox="1"/>
          <p:nvPr/>
        </p:nvSpPr>
        <p:spPr>
          <a:xfrm>
            <a:off x="540000" y="1080000"/>
            <a:ext cx="7200000" cy="900000"/>
          </a:xfrm>
          <a:prstGeom prst="rect">
            <a:avLst/>
          </a:prstGeom>
          <a:noFill/>
        </p:spPr>
        <p:txBody>
          <a:bodyPr wrap="square">
            <a:spAutoFit/>
          </a:bodyPr>
          <a:lstStyle/>
          <a:p>
            <a:pPr algn="l">
              <a:defRPr sz="3200" b="1">
                <a:solidFill>
                  <a:srgbClr val="2B5EA7"/>
                </a:solidFill>
                <a:latin typeface="Inter"/>
              </a:defRPr>
            </a:pPr>
            <a:r>
              <a:t>Peigne — surface de couchage</a:t>
            </a:r>
          </a:p>
        </p:txBody>
      </p:sp>
      <p:sp>
        <p:nvSpPr>
          <p:cNvPr id="5" name="TextBox 4"/>
          <p:cNvSpPr txBox="1"/>
          <p:nvPr/>
        </p:nvSpPr>
        <p:spPr>
          <a:xfrm>
            <a:off x="540000" y="1980000"/>
            <a:ext cx="7200000" cy="540000"/>
          </a:xfrm>
          <a:prstGeom prst="rect">
            <a:avLst/>
          </a:prstGeom>
          <a:noFill/>
        </p:spPr>
        <p:txBody>
          <a:bodyPr wrap="square">
            <a:spAutoFit/>
          </a:bodyPr>
          <a:lstStyle/>
          <a:p>
            <a:pPr algn="l">
              <a:defRPr sz="1400" b="0">
                <a:solidFill>
                  <a:srgbClr val="666666"/>
                </a:solidFill>
                <a:latin typeface="Inter"/>
              </a:defRPr>
            </a:pPr>
            <a:r>
              <a:t>Le système lit peigne : 1 planche fixe + 2 peignes mobiles dépliables</a:t>
            </a:r>
          </a:p>
        </p:txBody>
      </p:sp>
      <p:sp>
        <p:nvSpPr>
          <p:cNvPr id="6" name="Rounded Rectangle 5"/>
          <p:cNvSpPr/>
          <p:nvPr/>
        </p:nvSpPr>
        <p:spPr>
          <a:xfrm>
            <a:off x="540000" y="3240000"/>
            <a:ext cx="2520000" cy="12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0000" y="3384000"/>
            <a:ext cx="2520000" cy="360000"/>
          </a:xfrm>
          <a:prstGeom prst="rect">
            <a:avLst/>
          </a:prstGeom>
          <a:noFill/>
        </p:spPr>
        <p:txBody>
          <a:bodyPr wrap="square">
            <a:spAutoFit/>
          </a:bodyPr>
          <a:lstStyle/>
          <a:p>
            <a:pPr algn="ctr">
              <a:defRPr sz="900" b="0">
                <a:solidFill>
                  <a:srgbClr val="666666"/>
                </a:solidFill>
                <a:latin typeface="Inter"/>
              </a:defRPr>
            </a:pPr>
            <a:r>
              <a:t>Encombrement</a:t>
            </a:r>
          </a:p>
        </p:txBody>
      </p:sp>
      <p:sp>
        <p:nvSpPr>
          <p:cNvPr id="8" name="TextBox 7"/>
          <p:cNvSpPr txBox="1"/>
          <p:nvPr/>
        </p:nvSpPr>
        <p:spPr>
          <a:xfrm>
            <a:off x="540000" y="3743999"/>
            <a:ext cx="2520000" cy="540000"/>
          </a:xfrm>
          <a:prstGeom prst="rect">
            <a:avLst/>
          </a:prstGeom>
          <a:noFill/>
        </p:spPr>
        <p:txBody>
          <a:bodyPr wrap="square">
            <a:spAutoFit/>
          </a:bodyPr>
          <a:lstStyle/>
          <a:p>
            <a:pPr algn="ctr">
              <a:defRPr sz="1600" b="1">
                <a:solidFill>
                  <a:srgbClr val="333333"/>
                </a:solidFill>
                <a:latin typeface="Inter"/>
              </a:defRPr>
            </a:pPr>
            <a:r>
              <a:t>190 × 78 × 3 cm (déplié : 190 × 152 cm)</a:t>
            </a:r>
          </a:p>
        </p:txBody>
      </p:sp>
      <p:sp>
        <p:nvSpPr>
          <p:cNvPr id="9" name="Rounded Rectangle 8"/>
          <p:cNvSpPr/>
          <p:nvPr/>
        </p:nvSpPr>
        <p:spPr>
          <a:xfrm>
            <a:off x="3240000" y="3240000"/>
            <a:ext cx="2520000" cy="12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40000" y="3384000"/>
            <a:ext cx="2520000" cy="360000"/>
          </a:xfrm>
          <a:prstGeom prst="rect">
            <a:avLst/>
          </a:prstGeom>
          <a:noFill/>
        </p:spPr>
        <p:txBody>
          <a:bodyPr wrap="square">
            <a:spAutoFit/>
          </a:bodyPr>
          <a:lstStyle/>
          <a:p>
            <a:pPr algn="ctr">
              <a:defRPr sz="900" b="0">
                <a:solidFill>
                  <a:srgbClr val="666666"/>
                </a:solidFill>
                <a:latin typeface="Inter"/>
              </a:defRPr>
            </a:pPr>
            <a:r>
              <a:t>Matière</a:t>
            </a:r>
          </a:p>
        </p:txBody>
      </p:sp>
      <p:sp>
        <p:nvSpPr>
          <p:cNvPr id="11" name="TextBox 10"/>
          <p:cNvSpPr txBox="1"/>
          <p:nvPr/>
        </p:nvSpPr>
        <p:spPr>
          <a:xfrm>
            <a:off x="3240000" y="3743999"/>
            <a:ext cx="2520000" cy="540000"/>
          </a:xfrm>
          <a:prstGeom prst="rect">
            <a:avLst/>
          </a:prstGeom>
          <a:noFill/>
        </p:spPr>
        <p:txBody>
          <a:bodyPr wrap="square">
            <a:spAutoFit/>
          </a:bodyPr>
          <a:lstStyle/>
          <a:p>
            <a:pPr algn="ctr">
              <a:defRPr sz="1600" b="1">
                <a:solidFill>
                  <a:srgbClr val="333333"/>
                </a:solidFill>
                <a:latin typeface="Inter"/>
              </a:defRPr>
            </a:pPr>
            <a:r>
              <a:t>CP peuplier 15 mm</a:t>
            </a:r>
          </a:p>
        </p:txBody>
      </p:sp>
      <p:sp>
        <p:nvSpPr>
          <p:cNvPr id="12" name="Rounded Rectangle 11"/>
          <p:cNvSpPr/>
          <p:nvPr/>
        </p:nvSpPr>
        <p:spPr>
          <a:xfrm>
            <a:off x="5940000" y="3240000"/>
            <a:ext cx="2520000" cy="12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0000" y="3384000"/>
            <a:ext cx="2520000" cy="360000"/>
          </a:xfrm>
          <a:prstGeom prst="rect">
            <a:avLst/>
          </a:prstGeom>
          <a:noFill/>
        </p:spPr>
        <p:txBody>
          <a:bodyPr wrap="square">
            <a:spAutoFit/>
          </a:bodyPr>
          <a:lstStyle/>
          <a:p>
            <a:pPr algn="ctr">
              <a:defRPr sz="900" b="0">
                <a:solidFill>
                  <a:srgbClr val="666666"/>
                </a:solidFill>
                <a:latin typeface="Inter"/>
              </a:defRPr>
            </a:pPr>
            <a:r>
              <a:t>Panneaux à découper</a:t>
            </a:r>
          </a:p>
        </p:txBody>
      </p:sp>
      <p:sp>
        <p:nvSpPr>
          <p:cNvPr id="14" name="TextBox 13"/>
          <p:cNvSpPr txBox="1"/>
          <p:nvPr/>
        </p:nvSpPr>
        <p:spPr>
          <a:xfrm>
            <a:off x="5940000" y="3743999"/>
            <a:ext cx="2520000" cy="540000"/>
          </a:xfrm>
          <a:prstGeom prst="rect">
            <a:avLst/>
          </a:prstGeom>
          <a:noFill/>
        </p:spPr>
        <p:txBody>
          <a:bodyPr wrap="square">
            <a:spAutoFit/>
          </a:bodyPr>
          <a:lstStyle/>
          <a:p>
            <a:pPr algn="ctr">
              <a:defRPr sz="1600" b="1">
                <a:solidFill>
                  <a:srgbClr val="333333"/>
                </a:solidFill>
                <a:latin typeface="Inter"/>
              </a:defRPr>
            </a:pPr>
            <a:r>
              <a:t>6</a:t>
            </a:r>
          </a:p>
        </p:txBody>
      </p:sp>
      <p:sp>
        <p:nvSpPr>
          <p:cNvPr id="15" name="Rounded Rectangle 14"/>
          <p:cNvSpPr/>
          <p:nvPr/>
        </p:nvSpPr>
        <p:spPr>
          <a:xfrm>
            <a:off x="8640000" y="3240000"/>
            <a:ext cx="2520000" cy="12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0000" y="3384000"/>
            <a:ext cx="2520000" cy="360000"/>
          </a:xfrm>
          <a:prstGeom prst="rect">
            <a:avLst/>
          </a:prstGeom>
          <a:noFill/>
        </p:spPr>
        <p:txBody>
          <a:bodyPr wrap="square">
            <a:spAutoFit/>
          </a:bodyPr>
          <a:lstStyle/>
          <a:p>
            <a:pPr algn="ctr">
              <a:defRPr sz="900" b="0">
                <a:solidFill>
                  <a:srgbClr val="666666"/>
                </a:solidFill>
                <a:latin typeface="Inter"/>
              </a:defRPr>
            </a:pPr>
            <a:r>
              <a:t>Carrelets 15 × 15 mm</a:t>
            </a:r>
          </a:p>
        </p:txBody>
      </p:sp>
      <p:sp>
        <p:nvSpPr>
          <p:cNvPr id="17" name="TextBox 16"/>
          <p:cNvSpPr txBox="1"/>
          <p:nvPr/>
        </p:nvSpPr>
        <p:spPr>
          <a:xfrm>
            <a:off x="8640000" y="3743999"/>
            <a:ext cx="2520000" cy="540000"/>
          </a:xfrm>
          <a:prstGeom prst="rect">
            <a:avLst/>
          </a:prstGeom>
          <a:noFill/>
        </p:spPr>
        <p:txBody>
          <a:bodyPr wrap="square">
            <a:spAutoFit/>
          </a:bodyPr>
          <a:lstStyle/>
          <a:p>
            <a:pPr algn="ctr">
              <a:defRPr sz="1600" b="1">
                <a:solidFill>
                  <a:srgbClr val="333333"/>
                </a:solidFill>
                <a:latin typeface="Inter"/>
              </a:defRPr>
            </a:pPr>
            <a:r>
              <a:t>0</a:t>
            </a:r>
          </a:p>
        </p:txBody>
      </p:sp>
      <p:sp>
        <p:nvSpPr>
          <p:cNvPr id="18" name="TextBox 17"/>
          <p:cNvSpPr txBox="1"/>
          <p:nvPr/>
        </p:nvSpPr>
        <p:spPr>
          <a:xfrm>
            <a:off x="540000" y="6300000"/>
            <a:ext cx="10800000" cy="360000"/>
          </a:xfrm>
          <a:prstGeom prst="rect">
            <a:avLst/>
          </a:prstGeom>
          <a:noFill/>
        </p:spPr>
        <p:txBody>
          <a:bodyPr wrap="square">
            <a:spAutoFit/>
          </a:bodyPr>
          <a:lstStyle/>
          <a:p>
            <a:pPr algn="ctr">
              <a:defRPr sz="800" b="0">
                <a:solidFill>
                  <a:srgbClr val="AAAAAA"/>
                </a:solidFill>
                <a:latin typeface="Inter"/>
              </a:defRPr>
            </a:pPr>
            <a:r>
              <a:t>Guide VBA Construction — Bloc Lit Peigne — vanzonexplorer.com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288000"/>
            <a:ext cx="7200000" cy="540000"/>
          </a:xfrm>
          <a:prstGeom prst="rect">
            <a:avLst/>
          </a:prstGeom>
          <a:noFill/>
        </p:spPr>
        <p:txBody>
          <a:bodyPr wrap="square">
            <a:spAutoFit/>
          </a:bodyPr>
          <a:lstStyle/>
          <a:p>
            <a:pPr algn="l">
              <a:defRPr sz="2200" b="1">
                <a:solidFill>
                  <a:srgbClr val="2B5EA7"/>
                </a:solidFill>
                <a:latin typeface="Inter"/>
              </a:defRPr>
            </a:pPr>
            <a:r>
              <a:t>Liste de débit — Peigne (lit)</a:t>
            </a:r>
          </a:p>
        </p:txBody>
      </p:sp>
      <p:graphicFrame>
        <p:nvGraphicFramePr>
          <p:cNvPr id="3" name="Table 2"/>
          <p:cNvGraphicFramePr>
            <a:graphicFrameLocks noGrp="1"/>
          </p:cNvGraphicFramePr>
          <p:nvPr/>
        </p:nvGraphicFramePr>
        <p:xfrm>
          <a:off x="540000" y="900000"/>
          <a:ext cx="10800000" cy="2592000"/>
        </p:xfrm>
        <a:graphic>
          <a:graphicData uri="http://schemas.openxmlformats.org/drawingml/2006/table">
            <a:tbl>
              <a:tblPr firstRow="1" bandRow="1">
                <a:tableStyleId>{5C22544A-7EE6-4342-B048-85BDC9FD1C3A}</a:tableStyleId>
              </a:tblPr>
              <a:tblGrid>
                <a:gridCol w="1080000"/>
                <a:gridCol w="5040000"/>
                <a:gridCol w="2880000"/>
                <a:gridCol w="1800000"/>
              </a:tblGrid>
              <a:tr h="288000">
                <a:tc>
                  <a:txBody>
                    <a:bodyPr/>
                    <a:lstStyle/>
                    <a:p>
                      <a:pPr algn="ctr">
                        <a:defRPr sz="1000" b="1">
                          <a:solidFill>
                            <a:srgbClr val="FFFFFF"/>
                          </a:solidFill>
                          <a:latin typeface="Inter"/>
                        </a:defRPr>
                      </a:pPr>
                      <a:r>
                        <a:t>Rép.</a:t>
                      </a:r>
                    </a:p>
                  </a:txBody>
                  <a:tcPr>
                    <a:solidFill>
                      <a:srgbClr val="2B5EA7"/>
                    </a:solidFill>
                  </a:tcPr>
                </a:tc>
                <a:tc>
                  <a:txBody>
                    <a:bodyPr/>
                    <a:lstStyle/>
                    <a:p>
                      <a:pPr algn="ctr">
                        <a:defRPr sz="1000" b="1">
                          <a:solidFill>
                            <a:srgbClr val="FFFFFF"/>
                          </a:solidFill>
                          <a:latin typeface="Inter"/>
                        </a:defRPr>
                      </a:pPr>
                      <a:r>
                        <a:t>Panneau (CP 15 mm)</a:t>
                      </a:r>
                    </a:p>
                  </a:txBody>
                  <a:tcPr>
                    <a:solidFill>
                      <a:srgbClr val="2B5EA7"/>
                    </a:solidFill>
                  </a:tcPr>
                </a:tc>
                <a:tc>
                  <a:txBody>
                    <a:bodyPr/>
                    <a:lstStyle/>
                    <a:p>
                      <a:pPr algn="ctr">
                        <a:defRPr sz="1000" b="1">
                          <a:solidFill>
                            <a:srgbClr val="FFFFFF"/>
                          </a:solidFill>
                          <a:latin typeface="Inter"/>
                        </a:defRPr>
                      </a:pPr>
                      <a:r>
                        <a:t>Dimensions</a:t>
                      </a:r>
                    </a:p>
                  </a:txBody>
                  <a:tcPr>
                    <a:solidFill>
                      <a:srgbClr val="2B5EA7"/>
                    </a:solidFill>
                  </a:tcPr>
                </a:tc>
                <a:tc>
                  <a:txBody>
                    <a:bodyPr/>
                    <a:lstStyle/>
                    <a:p>
                      <a:pPr algn="ctr">
                        <a:defRPr sz="1000" b="1">
                          <a:solidFill>
                            <a:srgbClr val="FFFFFF"/>
                          </a:solidFill>
                          <a:latin typeface="Inter"/>
                        </a:defRPr>
                      </a:pPr>
                      <a:r>
                        <a:t>Qté</a:t>
                      </a:r>
                    </a:p>
                  </a:txBody>
                  <a:tcPr>
                    <a:solidFill>
                      <a:srgbClr val="2B5EA7"/>
                    </a:solidFill>
                  </a:tcPr>
                </a:tc>
              </a:tr>
              <a:tr h="288000">
                <a:tc>
                  <a:txBody>
                    <a:bodyPr/>
                    <a:lstStyle/>
                    <a:p>
                      <a:pPr algn="ctr">
                        <a:defRPr sz="900">
                          <a:solidFill>
                            <a:srgbClr val="333333"/>
                          </a:solidFill>
                          <a:latin typeface="Inter"/>
                        </a:defRPr>
                      </a:pPr>
                      <a:r>
                        <a:t>E1</a:t>
                      </a:r>
                    </a:p>
                  </a:txBody>
                  <a:tcPr>
                    <a:solidFill>
                      <a:srgbClr val="FFFFFF"/>
                    </a:solidFill>
                  </a:tcPr>
                </a:tc>
                <a:tc>
                  <a:txBody>
                    <a:bodyPr/>
                    <a:lstStyle/>
                    <a:p>
                      <a:pPr algn="ctr">
                        <a:defRPr sz="900">
                          <a:solidFill>
                            <a:srgbClr val="333333"/>
                          </a:solidFill>
                          <a:latin typeface="Inter"/>
                        </a:defRPr>
                      </a:pPr>
                      <a:r>
                        <a:t>Planche du dessus lit</a:t>
                      </a:r>
                    </a:p>
                  </a:txBody>
                  <a:tcPr>
                    <a:solidFill>
                      <a:srgbClr val="FFFFFF"/>
                    </a:solidFill>
                  </a:tcPr>
                </a:tc>
                <a:tc>
                  <a:txBody>
                    <a:bodyPr/>
                    <a:lstStyle/>
                    <a:p>
                      <a:pPr algn="ctr">
                        <a:defRPr sz="900">
                          <a:solidFill>
                            <a:srgbClr val="333333"/>
                          </a:solidFill>
                          <a:latin typeface="Inter"/>
                        </a:defRPr>
                      </a:pPr>
                      <a:r>
                        <a:t>187 × 77,5 cm</a:t>
                      </a:r>
                    </a:p>
                  </a:txBody>
                  <a:tcPr>
                    <a:solidFill>
                      <a:srgbClr val="FFFFFF"/>
                    </a:solidFill>
                  </a:tcPr>
                </a:tc>
                <a:tc>
                  <a:txBody>
                    <a:bodyPr/>
                    <a:lstStyle/>
                    <a:p>
                      <a:pPr algn="ctr">
                        <a:defRPr sz="900">
                          <a:solidFill>
                            <a:srgbClr val="333333"/>
                          </a:solidFill>
                          <a:latin typeface="Inter"/>
                        </a:defRPr>
                      </a:pPr>
                      <a:r>
                        <a:t>1</a:t>
                      </a:r>
                    </a:p>
                  </a:txBody>
                  <a:tcPr>
                    <a:solidFill>
                      <a:srgbClr val="FFFFFF"/>
                    </a:solidFill>
                  </a:tcPr>
                </a:tc>
              </a:tr>
              <a:tr h="288000">
                <a:tc>
                  <a:txBody>
                    <a:bodyPr/>
                    <a:lstStyle/>
                    <a:p>
                      <a:pPr algn="ctr">
                        <a:defRPr sz="900">
                          <a:solidFill>
                            <a:srgbClr val="333333"/>
                          </a:solidFill>
                          <a:latin typeface="Inter"/>
                        </a:defRPr>
                      </a:pPr>
                      <a:r>
                        <a:t>E2</a:t>
                      </a:r>
                    </a:p>
                  </a:txBody>
                  <a:tcPr>
                    <a:solidFill>
                      <a:srgbClr val="F5F5F5"/>
                    </a:solidFill>
                  </a:tcPr>
                </a:tc>
                <a:tc>
                  <a:txBody>
                    <a:bodyPr/>
                    <a:lstStyle/>
                    <a:p>
                      <a:pPr algn="ctr">
                        <a:defRPr sz="900">
                          <a:solidFill>
                            <a:srgbClr val="333333"/>
                          </a:solidFill>
                          <a:latin typeface="Inter"/>
                        </a:defRPr>
                      </a:pPr>
                      <a:r>
                        <a:t>Lit peigne fixée</a:t>
                      </a:r>
                    </a:p>
                  </a:txBody>
                  <a:tcPr>
                    <a:solidFill>
                      <a:srgbClr val="F5F5F5"/>
                    </a:solidFill>
                  </a:tcPr>
                </a:tc>
                <a:tc>
                  <a:txBody>
                    <a:bodyPr/>
                    <a:lstStyle/>
                    <a:p>
                      <a:pPr algn="ctr">
                        <a:defRPr sz="900">
                          <a:solidFill>
                            <a:srgbClr val="333333"/>
                          </a:solidFill>
                          <a:latin typeface="Inter"/>
                        </a:defRPr>
                      </a:pPr>
                      <a:r>
                        <a:t>190 × 74 cm</a:t>
                      </a:r>
                    </a:p>
                  </a:txBody>
                  <a:tcPr>
                    <a:solidFill>
                      <a:srgbClr val="F5F5F5"/>
                    </a:solidFill>
                  </a:tcPr>
                </a:tc>
                <a:tc>
                  <a:txBody>
                    <a:bodyPr/>
                    <a:lstStyle/>
                    <a:p>
                      <a:pPr algn="ctr">
                        <a:defRPr sz="900">
                          <a:solidFill>
                            <a:srgbClr val="333333"/>
                          </a:solidFill>
                          <a:latin typeface="Inter"/>
                        </a:defRPr>
                      </a:pPr>
                      <a:r>
                        <a:t>1</a:t>
                      </a:r>
                    </a:p>
                  </a:txBody>
                  <a:tcPr>
                    <a:solidFill>
                      <a:srgbClr val="F5F5F5"/>
                    </a:solidFill>
                  </a:tcPr>
                </a:tc>
              </a:tr>
              <a:tr h="288000">
                <a:tc>
                  <a:txBody>
                    <a:bodyPr/>
                    <a:lstStyle/>
                    <a:p>
                      <a:pPr algn="ctr">
                        <a:defRPr sz="900">
                          <a:solidFill>
                            <a:srgbClr val="333333"/>
                          </a:solidFill>
                          <a:latin typeface="Inter"/>
                        </a:defRPr>
                      </a:pPr>
                      <a:r>
                        <a:t>E3</a:t>
                      </a:r>
                    </a:p>
                  </a:txBody>
                  <a:tcPr>
                    <a:solidFill>
                      <a:srgbClr val="FFFFFF"/>
                    </a:solidFill>
                  </a:tcPr>
                </a:tc>
                <a:tc>
                  <a:txBody>
                    <a:bodyPr/>
                    <a:lstStyle/>
                    <a:p>
                      <a:pPr algn="ctr">
                        <a:defRPr sz="900">
                          <a:solidFill>
                            <a:srgbClr val="333333"/>
                          </a:solidFill>
                          <a:latin typeface="Inter"/>
                        </a:defRPr>
                      </a:pPr>
                      <a:r>
                        <a:t>Peigne mobile partie droite</a:t>
                      </a:r>
                    </a:p>
                  </a:txBody>
                  <a:tcPr>
                    <a:solidFill>
                      <a:srgbClr val="FFFFFF"/>
                    </a:solidFill>
                  </a:tcPr>
                </a:tc>
                <a:tc>
                  <a:txBody>
                    <a:bodyPr/>
                    <a:lstStyle/>
                    <a:p>
                      <a:pPr algn="ctr">
                        <a:defRPr sz="900">
                          <a:solidFill>
                            <a:srgbClr val="333333"/>
                          </a:solidFill>
                          <a:latin typeface="Inter"/>
                        </a:defRPr>
                      </a:pPr>
                      <a:r>
                        <a:t>95 × 74 cm</a:t>
                      </a:r>
                    </a:p>
                  </a:txBody>
                  <a:tcPr>
                    <a:solidFill>
                      <a:srgbClr val="FFFFFF"/>
                    </a:solidFill>
                  </a:tcPr>
                </a:tc>
                <a:tc>
                  <a:txBody>
                    <a:bodyPr/>
                    <a:lstStyle/>
                    <a:p>
                      <a:pPr algn="ctr">
                        <a:defRPr sz="900">
                          <a:solidFill>
                            <a:srgbClr val="333333"/>
                          </a:solidFill>
                          <a:latin typeface="Inter"/>
                        </a:defRPr>
                      </a:pPr>
                      <a:r>
                        <a:t>1</a:t>
                      </a:r>
                    </a:p>
                  </a:txBody>
                  <a:tcPr>
                    <a:solidFill>
                      <a:srgbClr val="FFFFFF"/>
                    </a:solidFill>
                  </a:tcPr>
                </a:tc>
              </a:tr>
              <a:tr h="288000">
                <a:tc>
                  <a:txBody>
                    <a:bodyPr/>
                    <a:lstStyle/>
                    <a:p>
                      <a:pPr algn="ctr">
                        <a:defRPr sz="900">
                          <a:solidFill>
                            <a:srgbClr val="333333"/>
                          </a:solidFill>
                          <a:latin typeface="Inter"/>
                        </a:defRPr>
                      </a:pPr>
                      <a:r>
                        <a:t>E4</a:t>
                      </a:r>
                    </a:p>
                  </a:txBody>
                  <a:tcPr>
                    <a:solidFill>
                      <a:srgbClr val="F5F5F5"/>
                    </a:solidFill>
                  </a:tcPr>
                </a:tc>
                <a:tc>
                  <a:txBody>
                    <a:bodyPr/>
                    <a:lstStyle/>
                    <a:p>
                      <a:pPr algn="ctr">
                        <a:defRPr sz="900">
                          <a:solidFill>
                            <a:srgbClr val="333333"/>
                          </a:solidFill>
                          <a:latin typeface="Inter"/>
                        </a:defRPr>
                      </a:pPr>
                      <a:r>
                        <a:t>Peigne mobile partie gauche</a:t>
                      </a:r>
                    </a:p>
                  </a:txBody>
                  <a:tcPr>
                    <a:solidFill>
                      <a:srgbClr val="F5F5F5"/>
                    </a:solidFill>
                  </a:tcPr>
                </a:tc>
                <a:tc>
                  <a:txBody>
                    <a:bodyPr/>
                    <a:lstStyle/>
                    <a:p>
                      <a:pPr algn="ctr">
                        <a:defRPr sz="900">
                          <a:solidFill>
                            <a:srgbClr val="333333"/>
                          </a:solidFill>
                          <a:latin typeface="Inter"/>
                        </a:defRPr>
                      </a:pPr>
                      <a:r>
                        <a:t>95 × 74 cm</a:t>
                      </a:r>
                    </a:p>
                  </a:txBody>
                  <a:tcPr>
                    <a:solidFill>
                      <a:srgbClr val="F5F5F5"/>
                    </a:solidFill>
                  </a:tcPr>
                </a:tc>
                <a:tc>
                  <a:txBody>
                    <a:bodyPr/>
                    <a:lstStyle/>
                    <a:p>
                      <a:pPr algn="ctr">
                        <a:defRPr sz="900">
                          <a:solidFill>
                            <a:srgbClr val="333333"/>
                          </a:solidFill>
                          <a:latin typeface="Inter"/>
                        </a:defRPr>
                      </a:pPr>
                      <a:r>
                        <a:t>1</a:t>
                      </a:r>
                    </a:p>
                  </a:txBody>
                  <a:tcPr>
                    <a:solidFill>
                      <a:srgbClr val="F5F5F5"/>
                    </a:solidFill>
                  </a:tcPr>
                </a:tc>
              </a:tr>
              <a:tr h="288000">
                <a:tc>
                  <a:txBody>
                    <a:bodyPr/>
                    <a:lstStyle/>
                    <a:p>
                      <a:pPr algn="ctr">
                        <a:defRPr sz="900">
                          <a:solidFill>
                            <a:srgbClr val="333333"/>
                          </a:solidFill>
                          <a:latin typeface="Inter"/>
                        </a:defRPr>
                      </a:pPr>
                      <a:r>
                        <a:t>E5</a:t>
                      </a:r>
                    </a:p>
                  </a:txBody>
                  <a:tcPr>
                    <a:solidFill>
                      <a:srgbClr val="FFFFFF"/>
                    </a:solidFill>
                  </a:tcPr>
                </a:tc>
                <a:tc>
                  <a:txBody>
                    <a:bodyPr/>
                    <a:lstStyle/>
                    <a:p>
                      <a:pPr algn="ctr">
                        <a:defRPr sz="900">
                          <a:solidFill>
                            <a:srgbClr val="333333"/>
                          </a:solidFill>
                          <a:latin typeface="Inter"/>
                        </a:defRPr>
                      </a:pPr>
                      <a:r>
                        <a:t>Pied lit peigne partie droite</a:t>
                      </a:r>
                    </a:p>
                  </a:txBody>
                  <a:tcPr>
                    <a:solidFill>
                      <a:srgbClr val="FFFFFF"/>
                    </a:solidFill>
                  </a:tcPr>
                </a:tc>
                <a:tc>
                  <a:txBody>
                    <a:bodyPr/>
                    <a:lstStyle/>
                    <a:p>
                      <a:pPr algn="ctr">
                        <a:defRPr sz="900">
                          <a:solidFill>
                            <a:srgbClr val="333333"/>
                          </a:solidFill>
                          <a:latin typeface="Inter"/>
                        </a:defRPr>
                      </a:pPr>
                      <a:r>
                        <a:t>95 × 38 cm</a:t>
                      </a:r>
                    </a:p>
                  </a:txBody>
                  <a:tcPr>
                    <a:solidFill>
                      <a:srgbClr val="FFFFFF"/>
                    </a:solidFill>
                  </a:tcPr>
                </a:tc>
                <a:tc>
                  <a:txBody>
                    <a:bodyPr/>
                    <a:lstStyle/>
                    <a:p>
                      <a:pPr algn="ctr">
                        <a:defRPr sz="900">
                          <a:solidFill>
                            <a:srgbClr val="333333"/>
                          </a:solidFill>
                          <a:latin typeface="Inter"/>
                        </a:defRPr>
                      </a:pPr>
                      <a:r>
                        <a:t>1</a:t>
                      </a:r>
                    </a:p>
                  </a:txBody>
                  <a:tcPr>
                    <a:solidFill>
                      <a:srgbClr val="FFFFFF"/>
                    </a:solidFill>
                  </a:tcPr>
                </a:tc>
              </a:tr>
              <a:tr h="288000">
                <a:tc>
                  <a:txBody>
                    <a:bodyPr/>
                    <a:lstStyle/>
                    <a:p>
                      <a:pPr algn="ctr">
                        <a:defRPr sz="900">
                          <a:solidFill>
                            <a:srgbClr val="333333"/>
                          </a:solidFill>
                          <a:latin typeface="Inter"/>
                        </a:defRPr>
                      </a:pPr>
                      <a:r>
                        <a:t>E6</a:t>
                      </a:r>
                    </a:p>
                  </a:txBody>
                  <a:tcPr>
                    <a:solidFill>
                      <a:srgbClr val="F5F5F5"/>
                    </a:solidFill>
                  </a:tcPr>
                </a:tc>
                <a:tc>
                  <a:txBody>
                    <a:bodyPr/>
                    <a:lstStyle/>
                    <a:p>
                      <a:pPr algn="ctr">
                        <a:defRPr sz="900">
                          <a:solidFill>
                            <a:srgbClr val="333333"/>
                          </a:solidFill>
                          <a:latin typeface="Inter"/>
                        </a:defRPr>
                      </a:pPr>
                      <a:r>
                        <a:t>Pied lit peigne partie gauche</a:t>
                      </a:r>
                    </a:p>
                  </a:txBody>
                  <a:tcPr>
                    <a:solidFill>
                      <a:srgbClr val="F5F5F5"/>
                    </a:solidFill>
                  </a:tcPr>
                </a:tc>
                <a:tc>
                  <a:txBody>
                    <a:bodyPr/>
                    <a:lstStyle/>
                    <a:p>
                      <a:pPr algn="ctr">
                        <a:defRPr sz="900">
                          <a:solidFill>
                            <a:srgbClr val="333333"/>
                          </a:solidFill>
                          <a:latin typeface="Inter"/>
                        </a:defRPr>
                      </a:pPr>
                      <a:r>
                        <a:t>95 × 38 cm</a:t>
                      </a:r>
                    </a:p>
                  </a:txBody>
                  <a:tcPr>
                    <a:solidFill>
                      <a:srgbClr val="F5F5F5"/>
                    </a:solidFill>
                  </a:tcPr>
                </a:tc>
                <a:tc>
                  <a:txBody>
                    <a:bodyPr/>
                    <a:lstStyle/>
                    <a:p>
                      <a:pPr algn="ctr">
                        <a:defRPr sz="900">
                          <a:solidFill>
                            <a:srgbClr val="333333"/>
                          </a:solidFill>
                          <a:latin typeface="Inter"/>
                        </a:defRPr>
                      </a:pPr>
                      <a:r>
                        <a:t>1</a:t>
                      </a:r>
                    </a:p>
                  </a:txBody>
                  <a:tcPr>
                    <a:solidFill>
                      <a:srgbClr val="F5F5F5"/>
                    </a:solidFill>
                  </a:tcPr>
                </a:tc>
              </a:tr>
              <a:tr h="288000">
                <a:tc>
                  <a:txBody>
                    <a:bodyPr/>
                    <a:lstStyle/>
                    <a:p>
                      <a:pPr algn="ctr">
                        <a:defRPr sz="900">
                          <a:solidFill>
                            <a:srgbClr val="333333"/>
                          </a:solidFill>
                          <a:latin typeface="Inter"/>
                        </a:defRPr>
                      </a:pPr>
                      <a:r>
                        <a:t>E7</a:t>
                      </a:r>
                    </a:p>
                  </a:txBody>
                  <a:tcPr>
                    <a:solidFill>
                      <a:srgbClr val="FFFFFF"/>
                    </a:solidFill>
                  </a:tcPr>
                </a:tc>
                <a:tc>
                  <a:txBody>
                    <a:bodyPr/>
                    <a:lstStyle/>
                    <a:p>
                      <a:pPr algn="ctr">
                        <a:defRPr sz="900">
                          <a:solidFill>
                            <a:srgbClr val="333333"/>
                          </a:solidFill>
                          <a:latin typeface="Inter"/>
                        </a:defRPr>
                      </a:pPr>
                      <a:r>
                        <a:t>Triangle pied droit</a:t>
                      </a:r>
                    </a:p>
                  </a:txBody>
                  <a:tcPr>
                    <a:solidFill>
                      <a:srgbClr val="FFFFFF"/>
                    </a:solidFill>
                  </a:tcPr>
                </a:tc>
                <a:tc>
                  <a:txBody>
                    <a:bodyPr/>
                    <a:lstStyle/>
                    <a:p>
                      <a:pPr algn="ctr">
                        <a:defRPr sz="900">
                          <a:solidFill>
                            <a:srgbClr val="333333"/>
                          </a:solidFill>
                          <a:latin typeface="Inter"/>
                        </a:defRPr>
                      </a:pPr>
                      <a:r>
                        <a:t>10 × 10 cm</a:t>
                      </a:r>
                    </a:p>
                  </a:txBody>
                  <a:tcPr>
                    <a:solidFill>
                      <a:srgbClr val="FFFFFF"/>
                    </a:solidFill>
                  </a:tcPr>
                </a:tc>
                <a:tc>
                  <a:txBody>
                    <a:bodyPr/>
                    <a:lstStyle/>
                    <a:p>
                      <a:pPr algn="ctr">
                        <a:defRPr sz="900">
                          <a:solidFill>
                            <a:srgbClr val="333333"/>
                          </a:solidFill>
                          <a:latin typeface="Inter"/>
                        </a:defRPr>
                      </a:pPr>
                      <a:r>
                        <a:t>1</a:t>
                      </a:r>
                    </a:p>
                  </a:txBody>
                  <a:tcPr>
                    <a:solidFill>
                      <a:srgbClr val="FFFFFF"/>
                    </a:solidFill>
                  </a:tcPr>
                </a:tc>
              </a:tr>
              <a:tr h="288000">
                <a:tc>
                  <a:txBody>
                    <a:bodyPr/>
                    <a:lstStyle/>
                    <a:p>
                      <a:pPr algn="ctr">
                        <a:defRPr sz="900">
                          <a:solidFill>
                            <a:srgbClr val="333333"/>
                          </a:solidFill>
                          <a:latin typeface="Inter"/>
                        </a:defRPr>
                      </a:pPr>
                      <a:r>
                        <a:t>E8</a:t>
                      </a:r>
                    </a:p>
                  </a:txBody>
                  <a:tcPr>
                    <a:solidFill>
                      <a:srgbClr val="F5F5F5"/>
                    </a:solidFill>
                  </a:tcPr>
                </a:tc>
                <a:tc>
                  <a:txBody>
                    <a:bodyPr/>
                    <a:lstStyle/>
                    <a:p>
                      <a:pPr algn="ctr">
                        <a:defRPr sz="900">
                          <a:solidFill>
                            <a:srgbClr val="333333"/>
                          </a:solidFill>
                          <a:latin typeface="Inter"/>
                        </a:defRPr>
                      </a:pPr>
                      <a:r>
                        <a:t>Triangle pied gauche</a:t>
                      </a:r>
                    </a:p>
                  </a:txBody>
                  <a:tcPr>
                    <a:solidFill>
                      <a:srgbClr val="F5F5F5"/>
                    </a:solidFill>
                  </a:tcPr>
                </a:tc>
                <a:tc>
                  <a:txBody>
                    <a:bodyPr/>
                    <a:lstStyle/>
                    <a:p>
                      <a:pPr algn="ctr">
                        <a:defRPr sz="900">
                          <a:solidFill>
                            <a:srgbClr val="333333"/>
                          </a:solidFill>
                          <a:latin typeface="Inter"/>
                        </a:defRPr>
                      </a:pPr>
                      <a:r>
                        <a:t>10 × 10 cm</a:t>
                      </a:r>
                    </a:p>
                  </a:txBody>
                  <a:tcPr>
                    <a:solidFill>
                      <a:srgbClr val="F5F5F5"/>
                    </a:solidFill>
                  </a:tcPr>
                </a:tc>
                <a:tc>
                  <a:txBody>
                    <a:bodyPr/>
                    <a:lstStyle/>
                    <a:p>
                      <a:pPr algn="ctr">
                        <a:defRPr sz="900">
                          <a:solidFill>
                            <a:srgbClr val="333333"/>
                          </a:solidFill>
                          <a:latin typeface="Inter"/>
                        </a:defRPr>
                      </a:pPr>
                      <a:r>
                        <a:t>1</a:t>
                      </a:r>
                    </a:p>
                  </a:txBody>
                  <a:tcPr>
                    <a:solidFill>
                      <a:srgbClr val="F5F5F5"/>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180000"/>
            <a:ext cx="9000000" cy="432000"/>
          </a:xfrm>
          <a:prstGeom prst="rect">
            <a:avLst/>
          </a:prstGeom>
          <a:noFill/>
        </p:spPr>
        <p:txBody>
          <a:bodyPr wrap="square">
            <a:spAutoFit/>
          </a:bodyPr>
          <a:lstStyle/>
          <a:p>
            <a:pPr algn="l">
              <a:defRPr sz="1800" b="1">
                <a:solidFill>
                  <a:srgbClr val="2B5EA7"/>
                </a:solidFill>
                <a:latin typeface="Inter"/>
              </a:defRPr>
            </a:pPr>
            <a:r>
              <a:t>Pièces à découper — Peigne (lit) (1/2)</a:t>
            </a:r>
          </a:p>
        </p:txBody>
      </p:sp>
      <p:sp>
        <p:nvSpPr>
          <p:cNvPr id="3" name="Rounded Rectangle 2"/>
          <p:cNvSpPr/>
          <p:nvPr/>
        </p:nvSpPr>
        <p:spPr>
          <a:xfrm>
            <a:off x="7920000" y="108000"/>
            <a:ext cx="3780000" cy="2160000"/>
          </a:xfrm>
          <a:prstGeom prst="roundRect">
            <a:avLst>
              <a:gd name="adj" fmla="val 5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920000" y="900000"/>
            <a:ext cx="3780000" cy="540000"/>
          </a:xfrm>
          <a:prstGeom prst="rect">
            <a:avLst/>
          </a:prstGeom>
          <a:noFill/>
        </p:spPr>
        <p:txBody>
          <a:bodyPr wrap="square">
            <a:spAutoFit/>
          </a:bodyPr>
          <a:lstStyle/>
          <a:p>
            <a:pPr algn="ctr">
              <a:defRPr sz="900" b="0">
                <a:solidFill>
                  <a:srgbClr val="666666"/>
                </a:solidFill>
                <a:latin typeface="Inter"/>
              </a:defRPr>
            </a:pPr>
            <a:r>
              <a:t>Coller ici le screenshot</a:t>
            </a:r>
            <a:br/>
            <a:r>
              <a:t>de la vue éclatée</a:t>
            </a:r>
          </a:p>
        </p:txBody>
      </p:sp>
      <p:sp>
        <p:nvSpPr>
          <p:cNvPr id="5" name="Rounded Rectangle 4"/>
          <p:cNvSpPr/>
          <p:nvPr/>
        </p:nvSpPr>
        <p:spPr>
          <a:xfrm>
            <a:off x="540000" y="792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8000" y="972000"/>
            <a:ext cx="648000" cy="540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000" y="1080000"/>
            <a:ext cx="648000" cy="360000"/>
          </a:xfrm>
          <a:prstGeom prst="rect">
            <a:avLst/>
          </a:prstGeom>
          <a:noFill/>
        </p:spPr>
        <p:txBody>
          <a:bodyPr wrap="square">
            <a:spAutoFit/>
          </a:bodyPr>
          <a:lstStyle/>
          <a:p>
            <a:pPr algn="ctr">
              <a:defRPr sz="1200" b="1">
                <a:solidFill>
                  <a:srgbClr val="FFFFFF"/>
                </a:solidFill>
                <a:latin typeface="Inter"/>
              </a:defRPr>
            </a:pPr>
            <a:r>
              <a:t>E1</a:t>
            </a:r>
          </a:p>
        </p:txBody>
      </p:sp>
      <p:sp>
        <p:nvSpPr>
          <p:cNvPr id="8" name="TextBox 7"/>
          <p:cNvSpPr txBox="1"/>
          <p:nvPr/>
        </p:nvSpPr>
        <p:spPr>
          <a:xfrm>
            <a:off x="1440000" y="900000"/>
            <a:ext cx="2520000" cy="360000"/>
          </a:xfrm>
          <a:prstGeom prst="rect">
            <a:avLst/>
          </a:prstGeom>
          <a:noFill/>
        </p:spPr>
        <p:txBody>
          <a:bodyPr wrap="square">
            <a:spAutoFit/>
          </a:bodyPr>
          <a:lstStyle/>
          <a:p>
            <a:pPr algn="l">
              <a:defRPr sz="1000" b="1">
                <a:solidFill>
                  <a:srgbClr val="333333"/>
                </a:solidFill>
                <a:latin typeface="Inter"/>
              </a:defRPr>
            </a:pPr>
            <a:r>
              <a:t>Planche du dessus lit</a:t>
            </a:r>
          </a:p>
        </p:txBody>
      </p:sp>
      <p:sp>
        <p:nvSpPr>
          <p:cNvPr id="9" name="TextBox 8"/>
          <p:cNvSpPr txBox="1"/>
          <p:nvPr/>
        </p:nvSpPr>
        <p:spPr>
          <a:xfrm>
            <a:off x="1440000" y="1224000"/>
            <a:ext cx="2520000" cy="360000"/>
          </a:xfrm>
          <a:prstGeom prst="rect">
            <a:avLst/>
          </a:prstGeom>
          <a:noFill/>
        </p:spPr>
        <p:txBody>
          <a:bodyPr wrap="square">
            <a:spAutoFit/>
          </a:bodyPr>
          <a:lstStyle/>
          <a:p>
            <a:pPr algn="l">
              <a:defRPr sz="800" b="0">
                <a:solidFill>
                  <a:srgbClr val="666666"/>
                </a:solidFill>
                <a:latin typeface="Inter"/>
              </a:defRPr>
            </a:pPr>
            <a:r>
              <a:t>187 × 77,5 cm</a:t>
            </a:r>
          </a:p>
        </p:txBody>
      </p:sp>
      <p:sp>
        <p:nvSpPr>
          <p:cNvPr id="10" name="Rounded Rectangle 9"/>
          <p:cNvSpPr/>
          <p:nvPr/>
        </p:nvSpPr>
        <p:spPr>
          <a:xfrm>
            <a:off x="6120000" y="792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28000" y="972000"/>
            <a:ext cx="648000" cy="540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28000" y="1080000"/>
            <a:ext cx="648000" cy="360000"/>
          </a:xfrm>
          <a:prstGeom prst="rect">
            <a:avLst/>
          </a:prstGeom>
          <a:noFill/>
        </p:spPr>
        <p:txBody>
          <a:bodyPr wrap="square">
            <a:spAutoFit/>
          </a:bodyPr>
          <a:lstStyle/>
          <a:p>
            <a:pPr algn="ctr">
              <a:defRPr sz="1200" b="1">
                <a:solidFill>
                  <a:srgbClr val="FFFFFF"/>
                </a:solidFill>
                <a:latin typeface="Inter"/>
              </a:defRPr>
            </a:pPr>
            <a:r>
              <a:t>E2</a:t>
            </a:r>
          </a:p>
        </p:txBody>
      </p:sp>
      <p:sp>
        <p:nvSpPr>
          <p:cNvPr id="13" name="TextBox 12"/>
          <p:cNvSpPr txBox="1"/>
          <p:nvPr/>
        </p:nvSpPr>
        <p:spPr>
          <a:xfrm>
            <a:off x="7020000" y="900000"/>
            <a:ext cx="2520000" cy="360000"/>
          </a:xfrm>
          <a:prstGeom prst="rect">
            <a:avLst/>
          </a:prstGeom>
          <a:noFill/>
        </p:spPr>
        <p:txBody>
          <a:bodyPr wrap="square">
            <a:spAutoFit/>
          </a:bodyPr>
          <a:lstStyle/>
          <a:p>
            <a:pPr algn="l">
              <a:defRPr sz="1000" b="1">
                <a:solidFill>
                  <a:srgbClr val="333333"/>
                </a:solidFill>
                <a:latin typeface="Inter"/>
              </a:defRPr>
            </a:pPr>
            <a:r>
              <a:t>Lit peigne fixée</a:t>
            </a:r>
          </a:p>
        </p:txBody>
      </p:sp>
      <p:sp>
        <p:nvSpPr>
          <p:cNvPr id="14" name="TextBox 13"/>
          <p:cNvSpPr txBox="1"/>
          <p:nvPr/>
        </p:nvSpPr>
        <p:spPr>
          <a:xfrm>
            <a:off x="7020000" y="1224000"/>
            <a:ext cx="2520000" cy="360000"/>
          </a:xfrm>
          <a:prstGeom prst="rect">
            <a:avLst/>
          </a:prstGeom>
          <a:noFill/>
        </p:spPr>
        <p:txBody>
          <a:bodyPr wrap="square">
            <a:spAutoFit/>
          </a:bodyPr>
          <a:lstStyle/>
          <a:p>
            <a:pPr algn="l">
              <a:defRPr sz="800" b="0">
                <a:solidFill>
                  <a:srgbClr val="666666"/>
                </a:solidFill>
                <a:latin typeface="Inter"/>
              </a:defRPr>
            </a:pPr>
            <a:r>
              <a:t>190 × 74 cm  ·  Se pose sur le dessus</a:t>
            </a:r>
          </a:p>
        </p:txBody>
      </p:sp>
      <p:sp>
        <p:nvSpPr>
          <p:cNvPr id="15" name="Rounded Rectangle 14"/>
          <p:cNvSpPr/>
          <p:nvPr/>
        </p:nvSpPr>
        <p:spPr>
          <a:xfrm>
            <a:off x="540000" y="1800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8000" y="1980000"/>
            <a:ext cx="648000" cy="540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8000" y="2088000"/>
            <a:ext cx="648000" cy="360000"/>
          </a:xfrm>
          <a:prstGeom prst="rect">
            <a:avLst/>
          </a:prstGeom>
          <a:noFill/>
        </p:spPr>
        <p:txBody>
          <a:bodyPr wrap="square">
            <a:spAutoFit/>
          </a:bodyPr>
          <a:lstStyle/>
          <a:p>
            <a:pPr algn="ctr">
              <a:defRPr sz="1200" b="1">
                <a:solidFill>
                  <a:srgbClr val="FFFFFF"/>
                </a:solidFill>
                <a:latin typeface="Inter"/>
              </a:defRPr>
            </a:pPr>
            <a:r>
              <a:t>E3</a:t>
            </a:r>
          </a:p>
        </p:txBody>
      </p:sp>
      <p:sp>
        <p:nvSpPr>
          <p:cNvPr id="18" name="TextBox 17"/>
          <p:cNvSpPr txBox="1"/>
          <p:nvPr/>
        </p:nvSpPr>
        <p:spPr>
          <a:xfrm>
            <a:off x="1440000" y="1908000"/>
            <a:ext cx="2520000" cy="360000"/>
          </a:xfrm>
          <a:prstGeom prst="rect">
            <a:avLst/>
          </a:prstGeom>
          <a:noFill/>
        </p:spPr>
        <p:txBody>
          <a:bodyPr wrap="square">
            <a:spAutoFit/>
          </a:bodyPr>
          <a:lstStyle/>
          <a:p>
            <a:pPr algn="l">
              <a:defRPr sz="1000" b="1">
                <a:solidFill>
                  <a:srgbClr val="333333"/>
                </a:solidFill>
                <a:latin typeface="Inter"/>
              </a:defRPr>
            </a:pPr>
            <a:r>
              <a:t>Peigne mobile partie droite</a:t>
            </a:r>
          </a:p>
        </p:txBody>
      </p:sp>
      <p:sp>
        <p:nvSpPr>
          <p:cNvPr id="19" name="TextBox 18"/>
          <p:cNvSpPr txBox="1"/>
          <p:nvPr/>
        </p:nvSpPr>
        <p:spPr>
          <a:xfrm>
            <a:off x="1440000" y="2232000"/>
            <a:ext cx="2520000" cy="360000"/>
          </a:xfrm>
          <a:prstGeom prst="rect">
            <a:avLst/>
          </a:prstGeom>
          <a:noFill/>
        </p:spPr>
        <p:txBody>
          <a:bodyPr wrap="square">
            <a:spAutoFit/>
          </a:bodyPr>
          <a:lstStyle/>
          <a:p>
            <a:pPr algn="l">
              <a:defRPr sz="800" b="0">
                <a:solidFill>
                  <a:srgbClr val="666666"/>
                </a:solidFill>
                <a:latin typeface="Inter"/>
              </a:defRPr>
            </a:pPr>
            <a:r>
              <a:t>95 × 74 cm  ·  Forme avec dents de peigne</a:t>
            </a:r>
          </a:p>
        </p:txBody>
      </p:sp>
      <p:sp>
        <p:nvSpPr>
          <p:cNvPr id="20" name="Rounded Rectangle 19"/>
          <p:cNvSpPr/>
          <p:nvPr/>
        </p:nvSpPr>
        <p:spPr>
          <a:xfrm>
            <a:off x="6120000" y="1800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28000" y="1980000"/>
            <a:ext cx="648000" cy="540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28000" y="2088000"/>
            <a:ext cx="648000" cy="360000"/>
          </a:xfrm>
          <a:prstGeom prst="rect">
            <a:avLst/>
          </a:prstGeom>
          <a:noFill/>
        </p:spPr>
        <p:txBody>
          <a:bodyPr wrap="square">
            <a:spAutoFit/>
          </a:bodyPr>
          <a:lstStyle/>
          <a:p>
            <a:pPr algn="ctr">
              <a:defRPr sz="1200" b="1">
                <a:solidFill>
                  <a:srgbClr val="FFFFFF"/>
                </a:solidFill>
                <a:latin typeface="Inter"/>
              </a:defRPr>
            </a:pPr>
            <a:r>
              <a:t>E4</a:t>
            </a:r>
          </a:p>
        </p:txBody>
      </p:sp>
      <p:sp>
        <p:nvSpPr>
          <p:cNvPr id="23" name="TextBox 22"/>
          <p:cNvSpPr txBox="1"/>
          <p:nvPr/>
        </p:nvSpPr>
        <p:spPr>
          <a:xfrm>
            <a:off x="7020000" y="1908000"/>
            <a:ext cx="2520000" cy="360000"/>
          </a:xfrm>
          <a:prstGeom prst="rect">
            <a:avLst/>
          </a:prstGeom>
          <a:noFill/>
        </p:spPr>
        <p:txBody>
          <a:bodyPr wrap="square">
            <a:spAutoFit/>
          </a:bodyPr>
          <a:lstStyle/>
          <a:p>
            <a:pPr algn="l">
              <a:defRPr sz="1000" b="1">
                <a:solidFill>
                  <a:srgbClr val="333333"/>
                </a:solidFill>
                <a:latin typeface="Inter"/>
              </a:defRPr>
            </a:pPr>
            <a:r>
              <a:t>Peigne mobile partie gauche</a:t>
            </a:r>
          </a:p>
        </p:txBody>
      </p:sp>
      <p:sp>
        <p:nvSpPr>
          <p:cNvPr id="24" name="TextBox 23"/>
          <p:cNvSpPr txBox="1"/>
          <p:nvPr/>
        </p:nvSpPr>
        <p:spPr>
          <a:xfrm>
            <a:off x="7020000" y="2232000"/>
            <a:ext cx="2520000" cy="360000"/>
          </a:xfrm>
          <a:prstGeom prst="rect">
            <a:avLst/>
          </a:prstGeom>
          <a:noFill/>
        </p:spPr>
        <p:txBody>
          <a:bodyPr wrap="square">
            <a:spAutoFit/>
          </a:bodyPr>
          <a:lstStyle/>
          <a:p>
            <a:pPr algn="l">
              <a:defRPr sz="800" b="0">
                <a:solidFill>
                  <a:srgbClr val="666666"/>
                </a:solidFill>
                <a:latin typeface="Inter"/>
              </a:defRPr>
            </a:pPr>
            <a:r>
              <a:t>95 × 74 cm  ·  Forme avec dents de peigne</a:t>
            </a:r>
          </a:p>
        </p:txBody>
      </p:sp>
      <p:sp>
        <p:nvSpPr>
          <p:cNvPr id="25" name="Rounded Rectangle 24"/>
          <p:cNvSpPr/>
          <p:nvPr/>
        </p:nvSpPr>
        <p:spPr>
          <a:xfrm>
            <a:off x="540000" y="2808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48000" y="2988000"/>
            <a:ext cx="648000" cy="540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8000" y="3096000"/>
            <a:ext cx="648000" cy="360000"/>
          </a:xfrm>
          <a:prstGeom prst="rect">
            <a:avLst/>
          </a:prstGeom>
          <a:noFill/>
        </p:spPr>
        <p:txBody>
          <a:bodyPr wrap="square">
            <a:spAutoFit/>
          </a:bodyPr>
          <a:lstStyle/>
          <a:p>
            <a:pPr algn="ctr">
              <a:defRPr sz="1200" b="1">
                <a:solidFill>
                  <a:srgbClr val="FFFFFF"/>
                </a:solidFill>
                <a:latin typeface="Inter"/>
              </a:defRPr>
            </a:pPr>
            <a:r>
              <a:t>E5</a:t>
            </a:r>
          </a:p>
        </p:txBody>
      </p:sp>
      <p:sp>
        <p:nvSpPr>
          <p:cNvPr id="28" name="TextBox 27"/>
          <p:cNvSpPr txBox="1"/>
          <p:nvPr/>
        </p:nvSpPr>
        <p:spPr>
          <a:xfrm>
            <a:off x="1440000" y="2916000"/>
            <a:ext cx="2520000" cy="360000"/>
          </a:xfrm>
          <a:prstGeom prst="rect">
            <a:avLst/>
          </a:prstGeom>
          <a:noFill/>
        </p:spPr>
        <p:txBody>
          <a:bodyPr wrap="square">
            <a:spAutoFit/>
          </a:bodyPr>
          <a:lstStyle/>
          <a:p>
            <a:pPr algn="l">
              <a:defRPr sz="1000" b="1">
                <a:solidFill>
                  <a:srgbClr val="333333"/>
                </a:solidFill>
                <a:latin typeface="Inter"/>
              </a:defRPr>
            </a:pPr>
            <a:r>
              <a:t>Pied lit peigne partie droite</a:t>
            </a:r>
          </a:p>
        </p:txBody>
      </p:sp>
      <p:sp>
        <p:nvSpPr>
          <p:cNvPr id="29" name="TextBox 28"/>
          <p:cNvSpPr txBox="1"/>
          <p:nvPr/>
        </p:nvSpPr>
        <p:spPr>
          <a:xfrm>
            <a:off x="1440000" y="3240000"/>
            <a:ext cx="2520000" cy="360000"/>
          </a:xfrm>
          <a:prstGeom prst="rect">
            <a:avLst/>
          </a:prstGeom>
          <a:noFill/>
        </p:spPr>
        <p:txBody>
          <a:bodyPr wrap="square">
            <a:spAutoFit/>
          </a:bodyPr>
          <a:lstStyle/>
          <a:p>
            <a:pPr algn="l">
              <a:defRPr sz="800" b="0">
                <a:solidFill>
                  <a:srgbClr val="666666"/>
                </a:solidFill>
                <a:latin typeface="Inter"/>
              </a:defRPr>
            </a:pPr>
            <a:r>
              <a:t>95 × 38 cm</a:t>
            </a:r>
          </a:p>
        </p:txBody>
      </p:sp>
      <p:sp>
        <p:nvSpPr>
          <p:cNvPr id="30" name="Rounded Rectangle 29"/>
          <p:cNvSpPr/>
          <p:nvPr/>
        </p:nvSpPr>
        <p:spPr>
          <a:xfrm>
            <a:off x="6120000" y="2808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28000" y="2988000"/>
            <a:ext cx="648000" cy="540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28000" y="3096000"/>
            <a:ext cx="648000" cy="360000"/>
          </a:xfrm>
          <a:prstGeom prst="rect">
            <a:avLst/>
          </a:prstGeom>
          <a:noFill/>
        </p:spPr>
        <p:txBody>
          <a:bodyPr wrap="square">
            <a:spAutoFit/>
          </a:bodyPr>
          <a:lstStyle/>
          <a:p>
            <a:pPr algn="ctr">
              <a:defRPr sz="1200" b="1">
                <a:solidFill>
                  <a:srgbClr val="FFFFFF"/>
                </a:solidFill>
                <a:latin typeface="Inter"/>
              </a:defRPr>
            </a:pPr>
            <a:r>
              <a:t>E6</a:t>
            </a:r>
          </a:p>
        </p:txBody>
      </p:sp>
      <p:sp>
        <p:nvSpPr>
          <p:cNvPr id="33" name="TextBox 32"/>
          <p:cNvSpPr txBox="1"/>
          <p:nvPr/>
        </p:nvSpPr>
        <p:spPr>
          <a:xfrm>
            <a:off x="7020000" y="2916000"/>
            <a:ext cx="2520000" cy="360000"/>
          </a:xfrm>
          <a:prstGeom prst="rect">
            <a:avLst/>
          </a:prstGeom>
          <a:noFill/>
        </p:spPr>
        <p:txBody>
          <a:bodyPr wrap="square">
            <a:spAutoFit/>
          </a:bodyPr>
          <a:lstStyle/>
          <a:p>
            <a:pPr algn="l">
              <a:defRPr sz="1000" b="1">
                <a:solidFill>
                  <a:srgbClr val="333333"/>
                </a:solidFill>
                <a:latin typeface="Inter"/>
              </a:defRPr>
            </a:pPr>
            <a:r>
              <a:t>Pied lit peigne partie gauche</a:t>
            </a:r>
          </a:p>
        </p:txBody>
      </p:sp>
      <p:sp>
        <p:nvSpPr>
          <p:cNvPr id="34" name="TextBox 33"/>
          <p:cNvSpPr txBox="1"/>
          <p:nvPr/>
        </p:nvSpPr>
        <p:spPr>
          <a:xfrm>
            <a:off x="7020000" y="3240000"/>
            <a:ext cx="2520000" cy="360000"/>
          </a:xfrm>
          <a:prstGeom prst="rect">
            <a:avLst/>
          </a:prstGeom>
          <a:noFill/>
        </p:spPr>
        <p:txBody>
          <a:bodyPr wrap="square">
            <a:spAutoFit/>
          </a:bodyPr>
          <a:lstStyle/>
          <a:p>
            <a:pPr algn="l">
              <a:defRPr sz="800" b="0">
                <a:solidFill>
                  <a:srgbClr val="666666"/>
                </a:solidFill>
                <a:latin typeface="Inter"/>
              </a:defRPr>
            </a:pPr>
            <a:r>
              <a:t>95 × 38 cm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180000"/>
            <a:ext cx="9000000" cy="432000"/>
          </a:xfrm>
          <a:prstGeom prst="rect">
            <a:avLst/>
          </a:prstGeom>
          <a:noFill/>
        </p:spPr>
        <p:txBody>
          <a:bodyPr wrap="square">
            <a:spAutoFit/>
          </a:bodyPr>
          <a:lstStyle/>
          <a:p>
            <a:pPr algn="l">
              <a:defRPr sz="1800" b="1">
                <a:solidFill>
                  <a:srgbClr val="2B5EA7"/>
                </a:solidFill>
                <a:latin typeface="Inter"/>
              </a:defRPr>
            </a:pPr>
            <a:r>
              <a:t>Pièces à découper — Peigne (lit) (2/2)</a:t>
            </a:r>
          </a:p>
        </p:txBody>
      </p:sp>
      <p:sp>
        <p:nvSpPr>
          <p:cNvPr id="3" name="Rounded Rectangle 2"/>
          <p:cNvSpPr/>
          <p:nvPr/>
        </p:nvSpPr>
        <p:spPr>
          <a:xfrm>
            <a:off x="540000" y="792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48000" y="972000"/>
            <a:ext cx="648000" cy="540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8000" y="1080000"/>
            <a:ext cx="648000" cy="360000"/>
          </a:xfrm>
          <a:prstGeom prst="rect">
            <a:avLst/>
          </a:prstGeom>
          <a:noFill/>
        </p:spPr>
        <p:txBody>
          <a:bodyPr wrap="square">
            <a:spAutoFit/>
          </a:bodyPr>
          <a:lstStyle/>
          <a:p>
            <a:pPr algn="ctr">
              <a:defRPr sz="1200" b="1">
                <a:solidFill>
                  <a:srgbClr val="FFFFFF"/>
                </a:solidFill>
                <a:latin typeface="Inter"/>
              </a:defRPr>
            </a:pPr>
            <a:r>
              <a:t>E7</a:t>
            </a:r>
          </a:p>
        </p:txBody>
      </p:sp>
      <p:sp>
        <p:nvSpPr>
          <p:cNvPr id="6" name="TextBox 5"/>
          <p:cNvSpPr txBox="1"/>
          <p:nvPr/>
        </p:nvSpPr>
        <p:spPr>
          <a:xfrm>
            <a:off x="1440000" y="900000"/>
            <a:ext cx="2520000" cy="360000"/>
          </a:xfrm>
          <a:prstGeom prst="rect">
            <a:avLst/>
          </a:prstGeom>
          <a:noFill/>
        </p:spPr>
        <p:txBody>
          <a:bodyPr wrap="square">
            <a:spAutoFit/>
          </a:bodyPr>
          <a:lstStyle/>
          <a:p>
            <a:pPr algn="l">
              <a:defRPr sz="1000" b="1">
                <a:solidFill>
                  <a:srgbClr val="333333"/>
                </a:solidFill>
                <a:latin typeface="Inter"/>
              </a:defRPr>
            </a:pPr>
            <a:r>
              <a:t>Triangle pied droit</a:t>
            </a:r>
          </a:p>
        </p:txBody>
      </p:sp>
      <p:sp>
        <p:nvSpPr>
          <p:cNvPr id="7" name="TextBox 6"/>
          <p:cNvSpPr txBox="1"/>
          <p:nvPr/>
        </p:nvSpPr>
        <p:spPr>
          <a:xfrm>
            <a:off x="1440000" y="1224000"/>
            <a:ext cx="2520000" cy="360000"/>
          </a:xfrm>
          <a:prstGeom prst="rect">
            <a:avLst/>
          </a:prstGeom>
          <a:noFill/>
        </p:spPr>
        <p:txBody>
          <a:bodyPr wrap="square">
            <a:spAutoFit/>
          </a:bodyPr>
          <a:lstStyle/>
          <a:p>
            <a:pPr algn="l">
              <a:defRPr sz="800" b="0">
                <a:solidFill>
                  <a:srgbClr val="666666"/>
                </a:solidFill>
                <a:latin typeface="Inter"/>
              </a:defRPr>
            </a:pPr>
            <a:r>
              <a:t>10 × 10 cm  ·  Renfort</a:t>
            </a:r>
          </a:p>
        </p:txBody>
      </p:sp>
      <p:sp>
        <p:nvSpPr>
          <p:cNvPr id="8" name="Rounded Rectangle 7"/>
          <p:cNvSpPr/>
          <p:nvPr/>
        </p:nvSpPr>
        <p:spPr>
          <a:xfrm>
            <a:off x="6120000" y="792000"/>
            <a:ext cx="5400000" cy="900000"/>
          </a:xfrm>
          <a:prstGeom prst="roundRect">
            <a:avLst>
              <a:gd name="adj" fmla="val 5000"/>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28000" y="972000"/>
            <a:ext cx="648000" cy="540000"/>
          </a:xfrm>
          <a:prstGeom prst="roundRect">
            <a:avLst>
              <a:gd name="adj" fmla="val 5000"/>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28000" y="1080000"/>
            <a:ext cx="648000" cy="360000"/>
          </a:xfrm>
          <a:prstGeom prst="rect">
            <a:avLst/>
          </a:prstGeom>
          <a:noFill/>
        </p:spPr>
        <p:txBody>
          <a:bodyPr wrap="square">
            <a:spAutoFit/>
          </a:bodyPr>
          <a:lstStyle/>
          <a:p>
            <a:pPr algn="ctr">
              <a:defRPr sz="1200" b="1">
                <a:solidFill>
                  <a:srgbClr val="FFFFFF"/>
                </a:solidFill>
                <a:latin typeface="Inter"/>
              </a:defRPr>
            </a:pPr>
            <a:r>
              <a:t>E8</a:t>
            </a:r>
          </a:p>
        </p:txBody>
      </p:sp>
      <p:sp>
        <p:nvSpPr>
          <p:cNvPr id="11" name="TextBox 10"/>
          <p:cNvSpPr txBox="1"/>
          <p:nvPr/>
        </p:nvSpPr>
        <p:spPr>
          <a:xfrm>
            <a:off x="7020000" y="900000"/>
            <a:ext cx="2520000" cy="360000"/>
          </a:xfrm>
          <a:prstGeom prst="rect">
            <a:avLst/>
          </a:prstGeom>
          <a:noFill/>
        </p:spPr>
        <p:txBody>
          <a:bodyPr wrap="square">
            <a:spAutoFit/>
          </a:bodyPr>
          <a:lstStyle/>
          <a:p>
            <a:pPr algn="l">
              <a:defRPr sz="1000" b="1">
                <a:solidFill>
                  <a:srgbClr val="333333"/>
                </a:solidFill>
                <a:latin typeface="Inter"/>
              </a:defRPr>
            </a:pPr>
            <a:r>
              <a:t>Triangle pied gauche</a:t>
            </a:r>
          </a:p>
        </p:txBody>
      </p:sp>
      <p:sp>
        <p:nvSpPr>
          <p:cNvPr id="12" name="TextBox 11"/>
          <p:cNvSpPr txBox="1"/>
          <p:nvPr/>
        </p:nvSpPr>
        <p:spPr>
          <a:xfrm>
            <a:off x="7020000" y="1224000"/>
            <a:ext cx="2520000" cy="360000"/>
          </a:xfrm>
          <a:prstGeom prst="rect">
            <a:avLst/>
          </a:prstGeom>
          <a:noFill/>
        </p:spPr>
        <p:txBody>
          <a:bodyPr wrap="square">
            <a:spAutoFit/>
          </a:bodyPr>
          <a:lstStyle/>
          <a:p>
            <a:pPr algn="l">
              <a:defRPr sz="800" b="0">
                <a:solidFill>
                  <a:srgbClr val="666666"/>
                </a:solidFill>
                <a:latin typeface="Inter"/>
              </a:defRPr>
            </a:pPr>
            <a:r>
              <a:t>10 × 10 cm  ·  Renfort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180000"/>
            <a:ext cx="9000000" cy="540000"/>
          </a:xfrm>
          <a:prstGeom prst="rect">
            <a:avLst/>
          </a:prstGeom>
          <a:noFill/>
        </p:spPr>
        <p:txBody>
          <a:bodyPr wrap="square">
            <a:spAutoFit/>
          </a:bodyPr>
          <a:lstStyle/>
          <a:p>
            <a:pPr algn="l">
              <a:defRPr sz="1800" b="1">
                <a:solidFill>
                  <a:srgbClr val="2B5EA7"/>
                </a:solidFill>
                <a:latin typeface="Inter"/>
              </a:defRPr>
            </a:pPr>
            <a:r>
              <a:t>Étapes de montage — Peigne (lit) (1/2)</a:t>
            </a:r>
          </a:p>
        </p:txBody>
      </p:sp>
      <p:sp>
        <p:nvSpPr>
          <p:cNvPr id="3" name="Oval 2"/>
          <p:cNvSpPr/>
          <p:nvPr/>
        </p:nvSpPr>
        <p:spPr>
          <a:xfrm>
            <a:off x="540000" y="864000"/>
            <a:ext cx="432000" cy="432000"/>
          </a:xfrm>
          <a:prstGeom prst="ellipse">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latin typeface="Inter"/>
              </a:defRPr>
            </a:pPr>
            <a:r>
              <a:t>1</a:t>
            </a:r>
          </a:p>
        </p:txBody>
      </p:sp>
      <p:sp>
        <p:nvSpPr>
          <p:cNvPr id="4" name="TextBox 3"/>
          <p:cNvSpPr txBox="1"/>
          <p:nvPr/>
        </p:nvSpPr>
        <p:spPr>
          <a:xfrm>
            <a:off x="1152000" y="792000"/>
            <a:ext cx="10080000" cy="360000"/>
          </a:xfrm>
          <a:prstGeom prst="rect">
            <a:avLst/>
          </a:prstGeom>
          <a:noFill/>
        </p:spPr>
        <p:txBody>
          <a:bodyPr wrap="square">
            <a:spAutoFit/>
          </a:bodyPr>
          <a:lstStyle/>
          <a:p>
            <a:pPr algn="l">
              <a:defRPr sz="1300" b="1">
                <a:solidFill>
                  <a:srgbClr val="333333"/>
                </a:solidFill>
                <a:latin typeface="Inter"/>
              </a:defRPr>
            </a:pPr>
            <a:r>
              <a:t>Assembler les pieds + triangles [E5-E8]</a:t>
            </a:r>
          </a:p>
        </p:txBody>
      </p:sp>
      <p:sp>
        <p:nvSpPr>
          <p:cNvPr id="5" name="TextBox 4"/>
          <p:cNvSpPr txBox="1"/>
          <p:nvPr/>
        </p:nvSpPr>
        <p:spPr>
          <a:xfrm>
            <a:off x="1152000" y="1224000"/>
            <a:ext cx="10080000" cy="792000"/>
          </a:xfrm>
          <a:prstGeom prst="rect">
            <a:avLst/>
          </a:prstGeom>
          <a:noFill/>
        </p:spPr>
        <p:txBody>
          <a:bodyPr wrap="square">
            <a:spAutoFit/>
          </a:bodyPr>
          <a:lstStyle/>
          <a:p>
            <a:pPr algn="l">
              <a:defRPr sz="1000" b="0">
                <a:solidFill>
                  <a:srgbClr val="666666"/>
                </a:solidFill>
                <a:latin typeface="Inter"/>
              </a:defRPr>
            </a:pPr>
            <a:r>
              <a:t>Colle et visse les triangles de renfort (E7, E8 — 10×10 cm) sur les pieds (E5, E6). Le triangle se fixe en haut du pied, côté intérieur. 2 vis 3,5×25 mm + colle à bois.</a:t>
            </a:r>
          </a:p>
        </p:txBody>
      </p:sp>
      <p:sp>
        <p:nvSpPr>
          <p:cNvPr id="6" name="Rectangle 5"/>
          <p:cNvSpPr/>
          <p:nvPr/>
        </p:nvSpPr>
        <p:spPr>
          <a:xfrm>
            <a:off x="1152000" y="2088000"/>
            <a:ext cx="10080000" cy="635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40000" y="2232000"/>
            <a:ext cx="432000" cy="432000"/>
          </a:xfrm>
          <a:prstGeom prst="ellipse">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latin typeface="Inter"/>
              </a:defRPr>
            </a:pPr>
            <a:r>
              <a:t>2</a:t>
            </a:r>
          </a:p>
        </p:txBody>
      </p:sp>
      <p:sp>
        <p:nvSpPr>
          <p:cNvPr id="8" name="TextBox 7"/>
          <p:cNvSpPr txBox="1"/>
          <p:nvPr/>
        </p:nvSpPr>
        <p:spPr>
          <a:xfrm>
            <a:off x="1152000" y="2160000"/>
            <a:ext cx="10080000" cy="360000"/>
          </a:xfrm>
          <a:prstGeom prst="rect">
            <a:avLst/>
          </a:prstGeom>
          <a:noFill/>
        </p:spPr>
        <p:txBody>
          <a:bodyPr wrap="square">
            <a:spAutoFit/>
          </a:bodyPr>
          <a:lstStyle/>
          <a:p>
            <a:pPr algn="l">
              <a:defRPr sz="1300" b="1">
                <a:solidFill>
                  <a:srgbClr val="333333"/>
                </a:solidFill>
                <a:latin typeface="Inter"/>
              </a:defRPr>
            </a:pPr>
            <a:r>
              <a:t>Fixer les pieds aux peignes mobiles [E3, E4]</a:t>
            </a:r>
          </a:p>
        </p:txBody>
      </p:sp>
      <p:sp>
        <p:nvSpPr>
          <p:cNvPr id="9" name="TextBox 8"/>
          <p:cNvSpPr txBox="1"/>
          <p:nvPr/>
        </p:nvSpPr>
        <p:spPr>
          <a:xfrm>
            <a:off x="1152000" y="2592000"/>
            <a:ext cx="10080000" cy="792000"/>
          </a:xfrm>
          <a:prstGeom prst="rect">
            <a:avLst/>
          </a:prstGeom>
          <a:noFill/>
        </p:spPr>
        <p:txBody>
          <a:bodyPr wrap="square">
            <a:spAutoFit/>
          </a:bodyPr>
          <a:lstStyle/>
          <a:p>
            <a:pPr algn="l">
              <a:defRPr sz="1000" b="0">
                <a:solidFill>
                  <a:srgbClr val="666666"/>
                </a:solidFill>
                <a:latin typeface="Inter"/>
              </a:defRPr>
            </a:pPr>
            <a:r>
              <a:t>Visse chaque pied (E5 sur E3, E6 sur E4) perpendiculairement au peigne mobile. Le pied se fixe sur le bord long du peigne. 6 vis 3,5×30 mm par pied. Les dents du peigne doivent pointer vers le haut.</a:t>
            </a:r>
          </a:p>
        </p:txBody>
      </p:sp>
      <p:sp>
        <p:nvSpPr>
          <p:cNvPr id="10" name="Rectangle 9"/>
          <p:cNvSpPr/>
          <p:nvPr/>
        </p:nvSpPr>
        <p:spPr>
          <a:xfrm>
            <a:off x="1152000" y="3456000"/>
            <a:ext cx="10080000" cy="635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40000" y="3600000"/>
            <a:ext cx="432000" cy="432000"/>
          </a:xfrm>
          <a:prstGeom prst="ellipse">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latin typeface="Inter"/>
              </a:defRPr>
            </a:pPr>
            <a:r>
              <a:t>3</a:t>
            </a:r>
          </a:p>
        </p:txBody>
      </p:sp>
      <p:sp>
        <p:nvSpPr>
          <p:cNvPr id="12" name="TextBox 11"/>
          <p:cNvSpPr txBox="1"/>
          <p:nvPr/>
        </p:nvSpPr>
        <p:spPr>
          <a:xfrm>
            <a:off x="1152000" y="3528000"/>
            <a:ext cx="10080000" cy="360000"/>
          </a:xfrm>
          <a:prstGeom prst="rect">
            <a:avLst/>
          </a:prstGeom>
          <a:noFill/>
        </p:spPr>
        <p:txBody>
          <a:bodyPr wrap="square">
            <a:spAutoFit/>
          </a:bodyPr>
          <a:lstStyle/>
          <a:p>
            <a:pPr algn="l">
              <a:defRPr sz="1300" b="1">
                <a:solidFill>
                  <a:srgbClr val="333333"/>
                </a:solidFill>
                <a:latin typeface="Inter"/>
              </a:defRPr>
            </a:pPr>
            <a:r>
              <a:t>Poser la planche du dessus [E1]</a:t>
            </a:r>
          </a:p>
        </p:txBody>
      </p:sp>
      <p:sp>
        <p:nvSpPr>
          <p:cNvPr id="13" name="TextBox 12"/>
          <p:cNvSpPr txBox="1"/>
          <p:nvPr/>
        </p:nvSpPr>
        <p:spPr>
          <a:xfrm>
            <a:off x="1152000" y="3960000"/>
            <a:ext cx="10080000" cy="792000"/>
          </a:xfrm>
          <a:prstGeom prst="rect">
            <a:avLst/>
          </a:prstGeom>
          <a:noFill/>
        </p:spPr>
        <p:txBody>
          <a:bodyPr wrap="square">
            <a:spAutoFit/>
          </a:bodyPr>
          <a:lstStyle/>
          <a:p>
            <a:pPr algn="l">
              <a:defRPr sz="1000" b="0">
                <a:solidFill>
                  <a:srgbClr val="666666"/>
                </a:solidFill>
                <a:latin typeface="Inter"/>
              </a:defRPr>
            </a:pPr>
            <a:r>
              <a:t>Place la planche du dessus lit [E1] (187 × 77,5 cm) sur le caisson. Elle repose sur les carrelets haut du bloc 2. Visse dans les carrelets — 6 vis 3,5×30 mm.</a:t>
            </a:r>
          </a:p>
        </p:txBody>
      </p:sp>
      <p:sp>
        <p:nvSpPr>
          <p:cNvPr id="14" name="Rectangle 13"/>
          <p:cNvSpPr/>
          <p:nvPr/>
        </p:nvSpPr>
        <p:spPr>
          <a:xfrm>
            <a:off x="1152000" y="4824000"/>
            <a:ext cx="10080000" cy="635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40000" y="4968000"/>
            <a:ext cx="432000" cy="432000"/>
          </a:xfrm>
          <a:prstGeom prst="ellipse">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latin typeface="Inter"/>
              </a:defRPr>
            </a:pPr>
            <a:r>
              <a:t>4</a:t>
            </a:r>
          </a:p>
        </p:txBody>
      </p:sp>
      <p:sp>
        <p:nvSpPr>
          <p:cNvPr id="16" name="TextBox 15"/>
          <p:cNvSpPr txBox="1"/>
          <p:nvPr/>
        </p:nvSpPr>
        <p:spPr>
          <a:xfrm>
            <a:off x="1152000" y="4896000"/>
            <a:ext cx="10080000" cy="360000"/>
          </a:xfrm>
          <a:prstGeom prst="rect">
            <a:avLst/>
          </a:prstGeom>
          <a:noFill/>
        </p:spPr>
        <p:txBody>
          <a:bodyPr wrap="square">
            <a:spAutoFit/>
          </a:bodyPr>
          <a:lstStyle/>
          <a:p>
            <a:pPr algn="l">
              <a:defRPr sz="1300" b="1">
                <a:solidFill>
                  <a:srgbClr val="333333"/>
                </a:solidFill>
                <a:latin typeface="Inter"/>
              </a:defRPr>
            </a:pPr>
            <a:r>
              <a:t>Poser le peigne fixe [E2]</a:t>
            </a:r>
          </a:p>
        </p:txBody>
      </p:sp>
      <p:sp>
        <p:nvSpPr>
          <p:cNvPr id="17" name="TextBox 16"/>
          <p:cNvSpPr txBox="1"/>
          <p:nvPr/>
        </p:nvSpPr>
        <p:spPr>
          <a:xfrm>
            <a:off x="1152000" y="5328000"/>
            <a:ext cx="10080000" cy="792000"/>
          </a:xfrm>
          <a:prstGeom prst="rect">
            <a:avLst/>
          </a:prstGeom>
          <a:noFill/>
        </p:spPr>
        <p:txBody>
          <a:bodyPr wrap="square">
            <a:spAutoFit/>
          </a:bodyPr>
          <a:lstStyle/>
          <a:p>
            <a:pPr algn="l">
              <a:defRPr sz="1000" b="0">
                <a:solidFill>
                  <a:srgbClr val="666666"/>
                </a:solidFill>
                <a:latin typeface="Inter"/>
              </a:defRPr>
            </a:pPr>
            <a:r>
              <a:t>Le lit peigne fixée [E2] (190 × 74 cm) se pose PAR-DESSUS la planche du dessus, dents vers le haut. Visse sur les bords — 4 vis 3,5×30 mm. Les dents s'intercalent avec celles des peignes mobiles.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180000"/>
            <a:ext cx="9000000" cy="540000"/>
          </a:xfrm>
          <a:prstGeom prst="rect">
            <a:avLst/>
          </a:prstGeom>
          <a:noFill/>
        </p:spPr>
        <p:txBody>
          <a:bodyPr wrap="square">
            <a:spAutoFit/>
          </a:bodyPr>
          <a:lstStyle/>
          <a:p>
            <a:pPr algn="l">
              <a:defRPr sz="1800" b="1">
                <a:solidFill>
                  <a:srgbClr val="2B5EA7"/>
                </a:solidFill>
                <a:latin typeface="Inter"/>
              </a:defRPr>
            </a:pPr>
            <a:r>
              <a:t>Étapes de montage — Peigne (lit) (2/2)</a:t>
            </a:r>
          </a:p>
        </p:txBody>
      </p:sp>
      <p:sp>
        <p:nvSpPr>
          <p:cNvPr id="3" name="Oval 2"/>
          <p:cNvSpPr/>
          <p:nvPr/>
        </p:nvSpPr>
        <p:spPr>
          <a:xfrm>
            <a:off x="540000" y="864000"/>
            <a:ext cx="432000" cy="432000"/>
          </a:xfrm>
          <a:prstGeom prst="ellipse">
            <a:avLst/>
          </a:prstGeom>
          <a:solidFill>
            <a:srgbClr val="2B5EA7"/>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spcBef>
                <a:spcPts val="0"/>
              </a:spcBef>
              <a:spcAft>
                <a:spcPts val="0"/>
              </a:spcAft>
              <a:defRPr sz="1400" b="1">
                <a:solidFill>
                  <a:srgbClr val="FFFFFF"/>
                </a:solidFill>
                <a:latin typeface="Inter"/>
              </a:defRPr>
            </a:pPr>
            <a:r>
              <a:t>5</a:t>
            </a:r>
          </a:p>
        </p:txBody>
      </p:sp>
      <p:sp>
        <p:nvSpPr>
          <p:cNvPr id="4" name="TextBox 3"/>
          <p:cNvSpPr txBox="1"/>
          <p:nvPr/>
        </p:nvSpPr>
        <p:spPr>
          <a:xfrm>
            <a:off x="1152000" y="792000"/>
            <a:ext cx="10080000" cy="360000"/>
          </a:xfrm>
          <a:prstGeom prst="rect">
            <a:avLst/>
          </a:prstGeom>
          <a:noFill/>
        </p:spPr>
        <p:txBody>
          <a:bodyPr wrap="square">
            <a:spAutoFit/>
          </a:bodyPr>
          <a:lstStyle/>
          <a:p>
            <a:pPr algn="l">
              <a:defRPr sz="1300" b="1">
                <a:solidFill>
                  <a:srgbClr val="333333"/>
                </a:solidFill>
                <a:latin typeface="Inter"/>
              </a:defRPr>
            </a:pPr>
            <a:r>
              <a:t>Installer les peignes mobiles</a:t>
            </a:r>
          </a:p>
        </p:txBody>
      </p:sp>
      <p:sp>
        <p:nvSpPr>
          <p:cNvPr id="5" name="TextBox 4"/>
          <p:cNvSpPr txBox="1"/>
          <p:nvPr/>
        </p:nvSpPr>
        <p:spPr>
          <a:xfrm>
            <a:off x="1152000" y="1224000"/>
            <a:ext cx="10080000" cy="792000"/>
          </a:xfrm>
          <a:prstGeom prst="rect">
            <a:avLst/>
          </a:prstGeom>
          <a:noFill/>
        </p:spPr>
        <p:txBody>
          <a:bodyPr wrap="square">
            <a:spAutoFit/>
          </a:bodyPr>
          <a:lstStyle/>
          <a:p>
            <a:pPr algn="l">
              <a:defRPr sz="1000" b="0">
                <a:solidFill>
                  <a:srgbClr val="666666"/>
                </a:solidFill>
                <a:latin typeface="Inter"/>
              </a:defRPr>
            </a:pPr>
            <a:r>
              <a:t>Les 2 peignes mobiles (E3 droite, E4 gauche) viennent se replier sur le peigne fixe. Quand déplié, les dents du mobile s'emboîtent dans celles du fixe pour former une surface plane. Teste le dépliage avant de fixer définitivement les pieds.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0000" y="288000"/>
            <a:ext cx="7200000" cy="540000"/>
          </a:xfrm>
          <a:prstGeom prst="rect">
            <a:avLst/>
          </a:prstGeom>
          <a:noFill/>
        </p:spPr>
        <p:txBody>
          <a:bodyPr wrap="square">
            <a:spAutoFit/>
          </a:bodyPr>
          <a:lstStyle/>
          <a:p>
            <a:pPr algn="l">
              <a:defRPr sz="1800" b="1">
                <a:solidFill>
                  <a:srgbClr val="2B5EA7"/>
                </a:solidFill>
                <a:latin typeface="Inter"/>
              </a:defRPr>
            </a:pPr>
            <a:r>
              <a:t>Accessoires à acheter</a:t>
            </a:r>
          </a:p>
        </p:txBody>
      </p:sp>
      <p:sp>
        <p:nvSpPr>
          <p:cNvPr id="3" name="TextBox 2"/>
          <p:cNvSpPr txBox="1"/>
          <p:nvPr/>
        </p:nvSpPr>
        <p:spPr>
          <a:xfrm>
            <a:off x="540000" y="900000"/>
            <a:ext cx="5400000" cy="2160000"/>
          </a:xfrm>
          <a:prstGeom prst="rect">
            <a:avLst/>
          </a:prstGeom>
          <a:noFill/>
        </p:spPr>
        <p:txBody>
          <a:bodyPr wrap="square">
            <a:spAutoFit/>
          </a:bodyPr>
          <a:lstStyle/>
          <a:p>
            <a:pPr algn="l">
              <a:defRPr sz="1000" b="0">
                <a:solidFill>
                  <a:srgbClr val="333333"/>
                </a:solidFill>
                <a:latin typeface="Inter"/>
              </a:defRPr>
            </a:pPr>
            <a:r>
              <a:t>• 2 paires de glissières coulissantes (100 cm)</a:t>
            </a:r>
            <a:br/>
            <a:r>
              <a:t>• 2 supports table extérieur</a:t>
            </a:r>
            <a:br/>
            <a:r>
              <a:t>• 1 table extérieur (90 × 40 cm) — ou planche découpée</a:t>
            </a:r>
            <a:br/>
            <a:r>
              <a:t>• 1 Boxio gaz + 1 Boxio robinet</a:t>
            </a:r>
            <a:br/>
            <a:r>
              <a:t>• Vis à bois 3,5 × 30 mm (×80) + 4 × 40 mm (×30) + 3,5 × 25 mm (×60)</a:t>
            </a:r>
          </a:p>
        </p:txBody>
      </p:sp>
      <p:sp>
        <p:nvSpPr>
          <p:cNvPr id="4" name="Rounded Rectangle 3"/>
          <p:cNvSpPr/>
          <p:nvPr/>
        </p:nvSpPr>
        <p:spPr>
          <a:xfrm>
            <a:off x="6120000" y="720000"/>
            <a:ext cx="5400000" cy="3600000"/>
          </a:xfrm>
          <a:prstGeom prst="roundRect">
            <a:avLst>
              <a:gd name="adj" fmla="val 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0000" y="827999"/>
            <a:ext cx="5040000" cy="360000"/>
          </a:xfrm>
          <a:prstGeom prst="rect">
            <a:avLst/>
          </a:prstGeom>
          <a:noFill/>
        </p:spPr>
        <p:txBody>
          <a:bodyPr wrap="square">
            <a:spAutoFit/>
          </a:bodyPr>
          <a:lstStyle/>
          <a:p>
            <a:pPr algn="l">
              <a:defRPr sz="1400" b="1">
                <a:solidFill>
                  <a:srgbClr val="333333"/>
                </a:solidFill>
                <a:latin typeface="Inter"/>
              </a:defRPr>
            </a:pPr>
            <a:r>
              <a:t>Checklist finale ✅</a:t>
            </a:r>
          </a:p>
        </p:txBody>
      </p:sp>
      <p:sp>
        <p:nvSpPr>
          <p:cNvPr id="6" name="TextBox 5"/>
          <p:cNvSpPr txBox="1"/>
          <p:nvPr/>
        </p:nvSpPr>
        <p:spPr>
          <a:xfrm>
            <a:off x="6300000" y="1368000"/>
            <a:ext cx="5040000" cy="2880000"/>
          </a:xfrm>
          <a:prstGeom prst="rect">
            <a:avLst/>
          </a:prstGeom>
          <a:noFill/>
        </p:spPr>
        <p:txBody>
          <a:bodyPr wrap="square">
            <a:spAutoFit/>
          </a:bodyPr>
          <a:lstStyle/>
          <a:p>
            <a:pPr algn="l">
              <a:defRPr sz="1000" b="0">
                <a:solidFill>
                  <a:srgbClr val="333333"/>
                </a:solidFill>
                <a:latin typeface="Inter"/>
              </a:defRPr>
            </a:pPr>
            <a:r>
              <a:t>□  Équerrage vérifié (diagonales égales)</a:t>
            </a:r>
            <a:br/>
            <a:r>
              <a:t>□  Toutes les vis sont serrées</a:t>
            </a:r>
            <a:br/>
            <a:r>
              <a:t>□  Le tiroir coulisse sans forcer</a:t>
            </a:r>
            <a:br/>
            <a:r>
              <a:t>□  Les peignes mobiles se déploient correctement</a:t>
            </a:r>
            <a:br/>
            <a:r>
              <a:t>□  Les dents s'emboîtent sans jeu excessif</a:t>
            </a:r>
            <a:br/>
            <a:r>
              <a:t>□  La surface de couchage est plane</a:t>
            </a:r>
            <a:br/>
            <a:r>
              <a:t>□  Le meuble est stable et ne bouge pas</a:t>
            </a:r>
            <a:br/>
            <a:r>
              <a:t>□  Fixation au van vérifiée (équerres M6)</a:t>
            </a:r>
          </a:p>
        </p:txBody>
      </p:sp>
      <p:sp>
        <p:nvSpPr>
          <p:cNvPr id="7" name="Rounded Rectangle 6"/>
          <p:cNvSpPr/>
          <p:nvPr/>
        </p:nvSpPr>
        <p:spPr>
          <a:xfrm>
            <a:off x="540000" y="4680000"/>
            <a:ext cx="10800000" cy="900000"/>
          </a:xfrm>
          <a:prstGeom prst="roundRect">
            <a:avLst>
              <a:gd name="adj" fmla="val 5000"/>
            </a:avLst>
          </a:prstGeom>
          <a:solidFill>
            <a:srgbClr val="FFF8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0000" y="4788000"/>
            <a:ext cx="10440000" cy="720000"/>
          </a:xfrm>
          <a:prstGeom prst="rect">
            <a:avLst/>
          </a:prstGeom>
          <a:noFill/>
        </p:spPr>
        <p:txBody>
          <a:bodyPr wrap="square">
            <a:spAutoFit/>
          </a:bodyPr>
          <a:lstStyle/>
          <a:p>
            <a:pPr algn="l">
              <a:defRPr sz="1000" b="0">
                <a:solidFill>
                  <a:srgbClr val="333333"/>
                </a:solidFill>
                <a:latin typeface="Inter"/>
              </a:defRPr>
            </a:pPr>
            <a:r>
              <a:t>⚠️  Fixation au van : Ce meuble doit être solidement fixé au plancher et aux parois avec des équerres métalliques et boulons M6. Ne jamais laisser un meuble libre en roulant.</a:t>
            </a:r>
          </a:p>
        </p:txBody>
      </p:sp>
      <p:sp>
        <p:nvSpPr>
          <p:cNvPr id="9" name="TextBox 8"/>
          <p:cNvSpPr txBox="1"/>
          <p:nvPr/>
        </p:nvSpPr>
        <p:spPr>
          <a:xfrm>
            <a:off x="540000" y="6300000"/>
            <a:ext cx="10800000" cy="360000"/>
          </a:xfrm>
          <a:prstGeom prst="rect">
            <a:avLst/>
          </a:prstGeom>
          <a:noFill/>
        </p:spPr>
        <p:txBody>
          <a:bodyPr wrap="square">
            <a:spAutoFit/>
          </a:bodyPr>
          <a:lstStyle/>
          <a:p>
            <a:pPr algn="ctr">
              <a:defRPr sz="800" b="0">
                <a:solidFill>
                  <a:srgbClr val="AAAAAA"/>
                </a:solidFill>
                <a:latin typeface="Inter"/>
              </a:defRPr>
            </a:pPr>
            <a:r>
              <a:t>Guide VBA Construction — Bloc Lit Peigne — vanzonexplorer.com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